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fb29117-aed9-c85e-3580-ad137393118a}">
          <p14:sldIdLst>
            <p14:sldId id="256"/>
            <p14:sldId id="257"/>
          </p14:sldIdLst>
        </p14:section>
        <p14:section name="How it works" id="{373a2c3f-ad9e-1b2b-34dd-de8eb02419af}">
          <p14:sldIdLst>
            <p14:sldId id="258"/>
            <p14:sldId id="259"/>
            <p14:sldId id="260"/>
            <p14:sldId id="261"/>
            <p14:sldId id="262"/>
          </p14:sldIdLst>
        </p14:section>
        <p14:section name="Results" id="{3ca1ed45-e460-e08d-7a96-0d63c692c51b}">
          <p14:sldIdLst>
            <p14:sldId id="263"/>
            <p14:sldId id="264"/>
            <p14:sldId id="265"/>
            <p14:sldId id="266"/>
            <p14:sldId id="267"/>
          </p14:sldIdLst>
        </p14:section>
        <p14:section name="Rigour" id="{77008e01-acc6-e17d-b498-6f19d4e03ca2}">
          <p14:sldIdLst>
            <p14:sldId id="268"/>
            <p14:sldId id="269"/>
          </p14:sldIdLst>
        </p14:section>
        <p14:section name="The tool" id="{ad7de9a6-cb94-2bbb-39e6-5f04603a729f}">
          <p14:sldIdLst>
            <p14:sldId id="270"/>
            <p14:sldId id="271"/>
          </p14:sldIdLst>
        </p14:section>
        <p14:section name="Wrap-up" id="{29cd99c3-b31b-04da-05e4-638283d79b2c}">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2514E"/>
                </a:solidFill>
                <a:latin typeface="+mn-lt"/>
              </a:defRPr>
            </a:pPr>
            <a:r>
              <a:rPr sz="1400" b="0" i="0" u="none" strike="noStrike">
                <a:solidFill>
                  <a:srgbClr val="52514E"/>
                </a:solidFill>
                <a:latin typeface="+mn-lt"/>
              </a:rPr>
              <a:t>Maximum drawdown, % (same period, same costs)</a:t>
            </a:r>
          </a:p>
        </c:rich>
      </c:tx>
      <c:layout/>
      <c:overlay val="0"/>
    </c:title>
    <c:autoTitleDeleted val="0"/>
    <c:plotArea>
      <c:layout/>
      <c:barChart>
        <c:barDir val="bar"/>
        <c:grouping val="clustered"/>
        <c:varyColors val="0"/>
        <c:ser>
          <c:idx val="0"/>
          <c:order val="0"/>
          <c:tx>
            <c:strRef>
              <c:f>Sheet1!$B$1</c:f>
              <c:strCache>
                <c:ptCount val="1"/>
                <c:pt idx="0">
                  <c:v>Max drawdown</c:v>
                </c:pt>
              </c:strCache>
            </c:strRef>
          </c:tx>
          <c:spPr>
            <a:solidFill>
              <a:srgbClr val="EB6834"/>
            </a:solidFill>
            <a:effectLst/>
          </c:spPr>
          <c:invertIfNegative val="0"/>
          <c:dLbls>
            <c:numFmt formatCode="0.0&quot;%&quot;"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B9B8B2"/>
              </a:solidFill>
              <a:effectLst/>
            </c:spPr>
          </c:dPt>
          <c:dPt>
            <c:idx val="2"/>
            <c:invertIfNegative val="0"/>
            <c:bubble3D val="0"/>
            <c:spPr>
              <a:solidFill>
                <a:srgbClr val="B9B8B2"/>
              </a:solidFill>
              <a:effectLst/>
            </c:spPr>
          </c:dPt>
          <c:dPt>
            <c:idx val="3"/>
            <c:invertIfNegative val="0"/>
            <c:bubble3D val="0"/>
            <c:spPr>
              <a:solidFill>
                <a:srgbClr val="B9B8B2"/>
              </a:solidFill>
              <a:effectLst/>
            </c:spPr>
          </c:dPt>
          <c:dPt>
            <c:idx val="4"/>
            <c:invertIfNegative val="0"/>
            <c:bubble3D val="0"/>
            <c:spPr>
              <a:solidFill>
                <a:srgbClr val="B9B8B2"/>
              </a:solidFill>
              <a:effectLst/>
            </c:spPr>
          </c:dPt>
          <c:dPt>
            <c:idx val="5"/>
            <c:invertIfNegative val="0"/>
            <c:bubble3D val="0"/>
            <c:spPr>
              <a:solidFill>
                <a:srgbClr val="2A78D6"/>
              </a:solidFill>
              <a:effectLst/>
            </c:spPr>
          </c:dPt>
          <c:cat>
            <c:multiLvlStrRef>
              <c:f>Sheet1!$A$2:$A$7</c:f>
              <c:multiLvlStrCache>
                <c:ptCount val="6"/>
                <c:lvl>
                  <c:pt idx="0">
                    <c:v>S&amp;P 500</c:v>
                  </c:pt>
                  <c:pt idx="1">
                    <c:v>MSCI World</c:v>
                  </c:pt>
                  <c:pt idx="2">
                    <c:v>80/20</c:v>
                  </c:pt>
                  <c:pt idx="3">
                    <c:v>60/40</c:v>
                  </c:pt>
                  <c:pt idx="4">
                    <c:v>Vol target 12%</c:v>
                  </c:pt>
                  <c:pt idx="5">
                    <c:v>VolStrat</c:v>
                  </c:pt>
                </c:lvl>
              </c:multiLvlStrCache>
            </c:multiLvlStrRef>
          </c:cat>
          <c:val>
            <c:numRef>
              <c:f>Sheet1!$B$2:$B$7</c:f>
              <c:numCache>
                <c:formatCode>General</c:formatCode>
                <c:ptCount val="6"/>
                <c:pt idx="0">
                  <c:v>55.2</c:v>
                </c:pt>
                <c:pt idx="1">
                  <c:v>57.8</c:v>
                </c:pt>
                <c:pt idx="2">
                  <c:v>46</c:v>
                </c:pt>
                <c:pt idx="3">
                  <c:v>35.4</c:v>
                </c:pt>
                <c:pt idx="4">
                  <c:v>29</c:v>
                </c:pt>
                <c:pt idx="5">
                  <c:v>23.8</c:v>
                </c:pt>
              </c:numCache>
            </c:numRef>
          </c:val>
        </c:ser>
        <c:dLbls>
          <c:numFmt formatCode="0.0&quot;%&quot;"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2514E"/>
                </a:solidFill>
                <a:latin typeface="+mn-lt"/>
              </a:defRPr>
            </a:pPr>
            <a:r>
              <a:rPr sz="1300" b="0" i="0" u="none" strike="noStrike">
                <a:solidFill>
                  <a:srgbClr val="52514E"/>
                </a:solidFill>
                <a:latin typeface="+mn-lt"/>
              </a:rPr>
              <a:t>Share of trading days in each regime, 2007 – 2026</a:t>
            </a:r>
          </a:p>
        </c:rich>
      </c:tx>
      <c:layout/>
      <c:overlay val="0"/>
    </c:title>
    <c:autoTitleDeleted val="0"/>
    <c:plotArea>
      <c:layout/>
      <c:barChart>
        <c:barDir val="bar"/>
        <c:grouping val="percentStacked"/>
        <c:varyColors val="0"/>
        <c:ser>
          <c:idx val="0"/>
          <c:order val="0"/>
          <c:tx>
            <c:strRef>
              <c:f>Sheet1!$B$1</c:f>
              <c:strCache>
                <c:ptCount val="1"/>
                <c:pt idx="0">
                  <c:v>Crisis</c:v>
                </c:pt>
              </c:strCache>
            </c:strRef>
          </c:tx>
          <c:spPr>
            <a:solidFill>
              <a:srgbClr val="D03B3B"/>
            </a:solidFill>
            <a:effectLst/>
          </c:spPr>
          <c:invertIfNegative val="0"/>
          <c:dLbls>
            <c:numFmt formatCode="0&quot;%&quot;" sourceLinked="0"/>
            <c:txPr>
              <a:bodyPr/>
              <a:lstStyle/>
              <a:p>
                <a:pPr>
                  <a:defRPr b="0" i="0" strike="noStrike" sz="1200" u="none">
                    <a:solidFill>
                      <a:srgbClr val="0B0B0B"/>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Share of days</c:v>
                  </c:pt>
                </c:lvl>
              </c:multiLvlStrCache>
            </c:multiLvlStrRef>
          </c:cat>
          <c:val>
            <c:numRef>
              <c:f>Sheet1!$B$2:$B$2</c:f>
              <c:numCache>
                <c:formatCode>General</c:formatCode>
                <c:ptCount val="1"/>
                <c:pt idx="0">
                  <c:v>4.9</c:v>
                </c:pt>
              </c:numCache>
            </c:numRef>
          </c:val>
        </c:ser>
        <c:ser>
          <c:idx val="1"/>
          <c:order val="1"/>
          <c:tx>
            <c:strRef>
              <c:f>Sheet1!$C$1</c:f>
              <c:strCache>
                <c:ptCount val="1"/>
                <c:pt idx="0">
                  <c:v>Risk-Off</c:v>
                </c:pt>
              </c:strCache>
            </c:strRef>
          </c:tx>
          <c:spPr>
            <a:solidFill>
              <a:srgbClr val="EC9A8F"/>
            </a:solidFill>
            <a:effectLst/>
          </c:spPr>
          <c:invertIfNegative val="0"/>
          <c:dLbls>
            <c:numFmt formatCode="0&quot;%&quot;" sourceLinked="0"/>
            <c:txPr>
              <a:bodyPr/>
              <a:lstStyle/>
              <a:p>
                <a:pPr>
                  <a:defRPr b="0" i="0" strike="noStrike" sz="1200" u="none">
                    <a:solidFill>
                      <a:srgbClr val="0B0B0B"/>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Share of days</c:v>
                  </c:pt>
                </c:lvl>
              </c:multiLvlStrCache>
            </c:multiLvlStrRef>
          </c:cat>
          <c:val>
            <c:numRef>
              <c:f>Sheet1!$C$2:$C$2</c:f>
              <c:numCache>
                <c:formatCode>General</c:formatCode>
                <c:ptCount val="1"/>
                <c:pt idx="0">
                  <c:v>17.5</c:v>
                </c:pt>
              </c:numCache>
            </c:numRef>
          </c:val>
        </c:ser>
        <c:ser>
          <c:idx val="2"/>
          <c:order val="2"/>
          <c:tx>
            <c:strRef>
              <c:f>Sheet1!$D$1</c:f>
              <c:strCache>
                <c:ptCount val="1"/>
                <c:pt idx="0">
                  <c:v>Neutral</c:v>
                </c:pt>
              </c:strCache>
            </c:strRef>
          </c:tx>
          <c:spPr>
            <a:solidFill>
              <a:srgbClr val="B9B8B2"/>
            </a:solidFill>
            <a:effectLst/>
          </c:spPr>
          <c:invertIfNegative val="0"/>
          <c:dLbls>
            <c:numFmt formatCode="0&quot;%&quot;" sourceLinked="0"/>
            <c:txPr>
              <a:bodyPr/>
              <a:lstStyle/>
              <a:p>
                <a:pPr>
                  <a:defRPr b="0" i="0" strike="noStrike" sz="1200" u="none">
                    <a:solidFill>
                      <a:srgbClr val="0B0B0B"/>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Share of days</c:v>
                  </c:pt>
                </c:lvl>
              </c:multiLvlStrCache>
            </c:multiLvlStrRef>
          </c:cat>
          <c:val>
            <c:numRef>
              <c:f>Sheet1!$D$2:$D$2</c:f>
              <c:numCache>
                <c:formatCode>General</c:formatCode>
                <c:ptCount val="1"/>
                <c:pt idx="0">
                  <c:v>43</c:v>
                </c:pt>
              </c:numCache>
            </c:numRef>
          </c:val>
        </c:ser>
        <c:ser>
          <c:idx val="3"/>
          <c:order val="3"/>
          <c:tx>
            <c:strRef>
              <c:f>Sheet1!$E$1</c:f>
              <c:strCache>
                <c:ptCount val="1"/>
                <c:pt idx="0">
                  <c:v>Risk-On</c:v>
                </c:pt>
              </c:strCache>
            </c:strRef>
          </c:tx>
          <c:spPr>
            <a:solidFill>
              <a:srgbClr val="86B6EF"/>
            </a:solidFill>
            <a:effectLst/>
          </c:spPr>
          <c:invertIfNegative val="0"/>
          <c:dLbls>
            <c:numFmt formatCode="0&quot;%&quot;" sourceLinked="0"/>
            <c:txPr>
              <a:bodyPr/>
              <a:lstStyle/>
              <a:p>
                <a:pPr>
                  <a:defRPr b="0" i="0" strike="noStrike" sz="1200" u="none">
                    <a:solidFill>
                      <a:srgbClr val="0B0B0B"/>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Share of days</c:v>
                  </c:pt>
                </c:lvl>
              </c:multiLvlStrCache>
            </c:multiLvlStrRef>
          </c:cat>
          <c:val>
            <c:numRef>
              <c:f>Sheet1!$E$2:$E$2</c:f>
              <c:numCache>
                <c:formatCode>General</c:formatCode>
                <c:ptCount val="1"/>
                <c:pt idx="0">
                  <c:v>32.7</c:v>
                </c:pt>
              </c:numCache>
            </c:numRef>
          </c:val>
        </c:ser>
        <c:ser>
          <c:idx val="4"/>
          <c:order val="4"/>
          <c:tx>
            <c:strRef>
              <c:f>Sheet1!$F$1</c:f>
              <c:strCache>
                <c:ptCount val="1"/>
                <c:pt idx="0">
                  <c:v>Strong Risk-On</c:v>
                </c:pt>
              </c:strCache>
            </c:strRef>
          </c:tx>
          <c:spPr>
            <a:solidFill>
              <a:srgbClr val="256ABF"/>
            </a:solidFill>
            <a:effectLst/>
          </c:spPr>
          <c:invertIfNegative val="0"/>
          <c:dLbls>
            <c:numFmt formatCode="0&quot;%&quot;" sourceLinked="0"/>
            <c:txPr>
              <a:bodyPr/>
              <a:lstStyle/>
              <a:p>
                <a:pPr>
                  <a:defRPr b="0" i="0" strike="noStrike" sz="1200" u="none">
                    <a:solidFill>
                      <a:srgbClr val="0B0B0B"/>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Share of days</c:v>
                  </c:pt>
                </c:lvl>
              </c:multiLvlStrCache>
            </c:multiLvlStrRef>
          </c:cat>
          <c:val>
            <c:numRef>
              <c:f>Sheet1!$F$2:$F$2</c:f>
              <c:numCache>
                <c:formatCode>General</c:formatCode>
                <c:ptCount val="1"/>
                <c:pt idx="0">
                  <c:v>1.9</c:v>
                </c:pt>
              </c:numCache>
            </c:numRef>
          </c:val>
        </c:ser>
        <c:dLbls>
          <c:numFmt formatCode="0&quot;%&quot;" sourceLinked="0"/>
          <c:txPr>
            <a:bodyPr/>
            <a:lstStyle/>
            <a:p>
              <a:pPr>
                <a:defRPr b="0" i="0" strike="noStrike" sz="1200" u="none">
                  <a:solidFill>
                    <a:srgbClr val="0B0B0B"/>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2514E"/>
                </a:solidFill>
                <a:latin typeface="+mn-lt"/>
              </a:defRPr>
            </a:pPr>
            <a:r>
              <a:rPr sz="1400" b="0" i="0" u="none" strike="noStrike">
                <a:solidFill>
                  <a:srgbClr val="52514E"/>
                </a:solidFill>
                <a:latin typeface="+mn-lt"/>
              </a:rPr>
              <a:t>Component scores (100 = risk-on)</a:t>
            </a:r>
          </a:p>
        </c:rich>
      </c:tx>
      <c:layout/>
      <c:overlay val="0"/>
    </c:title>
    <c:autoTitleDeleted val="0"/>
    <c:plotArea>
      <c:layout/>
      <c:barChart>
        <c:barDir val="bar"/>
        <c:grouping val="clustered"/>
        <c:varyColors val="0"/>
        <c:ser>
          <c:idx val="0"/>
          <c:order val="0"/>
          <c:tx>
            <c:strRef>
              <c:f>Sheet1!$B$1</c:f>
              <c:strCache>
                <c:ptCount val="1"/>
                <c:pt idx="0">
                  <c:v>Component score</c:v>
                </c:pt>
              </c:strCache>
            </c:strRef>
          </c:tx>
          <c:spPr>
            <a:solidFill>
              <a:srgbClr val="86B6EF"/>
            </a:solidFill>
            <a:effectLst/>
          </c:spPr>
          <c:invertIfNegative val="0"/>
          <c:dLbls>
            <c:numFmt formatCode="0.0"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dPt>
            <c:idx val="0"/>
            <c:invertIfNegative val="0"/>
            <c:bubble3D val="0"/>
            <c:spPr>
              <a:solidFill>
                <a:srgbClr val="86B6EF"/>
              </a:solidFill>
              <a:effectLst/>
            </c:spPr>
          </c:dPt>
          <c:dPt>
            <c:idx val="1"/>
            <c:invertIfNegative val="0"/>
            <c:bubble3D val="0"/>
            <c:spPr>
              <a:solidFill>
                <a:srgbClr val="B9B8B2"/>
              </a:solidFill>
              <a:effectLst/>
            </c:spPr>
          </c:dPt>
          <c:dPt>
            <c:idx val="2"/>
            <c:invertIfNegative val="0"/>
            <c:bubble3D val="0"/>
            <c:spPr>
              <a:solidFill>
                <a:srgbClr val="EC9A8F"/>
              </a:solidFill>
              <a:effectLst/>
            </c:spPr>
          </c:dPt>
          <c:dPt>
            <c:idx val="3"/>
            <c:invertIfNegative val="0"/>
            <c:bubble3D val="0"/>
            <c:spPr>
              <a:solidFill>
                <a:srgbClr val="EC9A8F"/>
              </a:solidFill>
              <a:effectLst/>
            </c:spPr>
          </c:dPt>
          <c:dPt>
            <c:idx val="4"/>
            <c:invertIfNegative val="0"/>
            <c:bubble3D val="0"/>
            <c:spPr>
              <a:solidFill>
                <a:srgbClr val="EC9A8F"/>
              </a:solidFill>
              <a:effectLst/>
            </c:spPr>
          </c:dPt>
          <c:dPt>
            <c:idx val="5"/>
            <c:invertIfNegative val="0"/>
            <c:bubble3D val="0"/>
            <c:spPr>
              <a:solidFill>
                <a:srgbClr val="D03B3B"/>
              </a:solidFill>
              <a:effectLst/>
            </c:spPr>
          </c:dPt>
          <c:dPt>
            <c:idx val="6"/>
            <c:invertIfNegative val="0"/>
            <c:bubble3D val="0"/>
            <c:spPr>
              <a:solidFill>
                <a:srgbClr val="D03B3B"/>
              </a:solidFill>
              <a:effectLst/>
            </c:spPr>
          </c:dPt>
          <c:dPt>
            <c:idx val="7"/>
            <c:invertIfNegative val="0"/>
            <c:bubble3D val="0"/>
            <c:spPr>
              <a:solidFill>
                <a:srgbClr val="D03B3B"/>
              </a:solidFill>
              <a:effectLst/>
            </c:spPr>
          </c:dPt>
          <c:dPt>
            <c:idx val="8"/>
            <c:invertIfNegative val="0"/>
            <c:bubble3D val="0"/>
            <c:spPr>
              <a:solidFill>
                <a:srgbClr val="D03B3B"/>
              </a:solidFill>
              <a:effectLst/>
            </c:spPr>
          </c:dPt>
          <c:cat>
            <c:multiLvlStrRef>
              <c:f>Sheet1!$A$2:$A$10</c:f>
              <c:multiLvlStrCache>
                <c:ptCount val="9"/>
                <c:lvl>
                  <c:pt idx="0">
                    <c:v>Variance risk premium</c:v>
                  </c:pt>
                  <c:pt idx="1">
                    <c:v>Equity put/call</c:v>
                  </c:pt>
                  <c:pt idx="2">
                    <c:v>VIX level</c:v>
                  </c:pt>
                  <c:pt idx="3">
                    <c:v>SKEW</c:v>
                  </c:pt>
                  <c:pt idx="4">
                    <c:v>Credit (HY vs IEF)</c:v>
                  </c:pt>
                  <c:pt idx="5">
                    <c:v>Trend (vs 200-day)</c:v>
                  </c:pt>
                  <c:pt idx="6">
                    <c:v>VIX / VIX3M</c:v>
                  </c:pt>
                  <c:pt idx="7">
                    <c:v>VVIX</c:v>
                  </c:pt>
                  <c:pt idx="8">
                    <c:v>VX futures slope</c:v>
                  </c:pt>
                </c:lvl>
              </c:multiLvlStrCache>
            </c:multiLvlStrRef>
          </c:cat>
          <c:val>
            <c:numRef>
              <c:f>Sheet1!$B$2:$B$10</c:f>
              <c:numCache>
                <c:formatCode>General</c:formatCode>
                <c:ptCount val="9"/>
                <c:pt idx="0">
                  <c:v>90.9</c:v>
                </c:pt>
                <c:pt idx="1">
                  <c:v>54.3</c:v>
                </c:pt>
                <c:pt idx="2">
                  <c:v>23.1</c:v>
                </c:pt>
                <c:pt idx="3">
                  <c:v>22.8</c:v>
                </c:pt>
                <c:pt idx="4">
                  <c:v>20.2</c:v>
                </c:pt>
                <c:pt idx="5">
                  <c:v>19.6</c:v>
                </c:pt>
                <c:pt idx="6">
                  <c:v>19.2</c:v>
                </c:pt>
                <c:pt idx="7">
                  <c:v>17.4</c:v>
                </c:pt>
                <c:pt idx="8">
                  <c:v>14.4</c:v>
                </c:pt>
              </c:numCache>
            </c:numRef>
          </c:val>
        </c:ser>
        <c:dLbls>
          <c:numFmt formatCode="0.0"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1E0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VolStrat (Growth)</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52514E"/>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Sheet1!$A$2:$A$240</c:f>
              <c:multiLvlStrCache>
                <c:ptCount val="239"/>
                <c:lvl>
                  <c:pt idx="0">
                    <c:v>2007</c:v>
                  </c:pt>
                  <c:pt idx="1">
                    <c:v>2007</c:v>
                  </c:pt>
                  <c:pt idx="2">
                    <c:v>2007</c:v>
                  </c:pt>
                  <c:pt idx="3">
                    <c:v>2007</c:v>
                  </c:pt>
                  <c:pt idx="4">
                    <c:v>2007</c:v>
                  </c:pt>
                  <c:pt idx="5">
                    <c:v>2007</c:v>
                  </c:pt>
                  <c:pt idx="6">
                    <c:v>2007</c:v>
                  </c:pt>
                  <c:pt idx="7">
                    <c:v>2007</c:v>
                  </c:pt>
                  <c:pt idx="8">
                    <c:v>2007</c:v>
                  </c:pt>
                  <c:pt idx="9">
                    <c:v>2007</c:v>
                  </c:pt>
                  <c:pt idx="10">
                    <c:v>2007</c:v>
                  </c:pt>
                  <c:pt idx="11">
                    <c:v>2007</c:v>
                  </c:pt>
                  <c:pt idx="12">
                    <c:v>2008</c:v>
                  </c:pt>
                  <c:pt idx="13">
                    <c:v>2008</c:v>
                  </c:pt>
                  <c:pt idx="14">
                    <c:v>2008</c:v>
                  </c:pt>
                  <c:pt idx="15">
                    <c:v>2008</c:v>
                  </c:pt>
                  <c:pt idx="16">
                    <c:v>2008</c:v>
                  </c:pt>
                  <c:pt idx="17">
                    <c:v>2008</c:v>
                  </c:pt>
                  <c:pt idx="18">
                    <c:v>2008</c:v>
                  </c:pt>
                  <c:pt idx="19">
                    <c:v>2008</c:v>
                  </c:pt>
                  <c:pt idx="20">
                    <c:v>2008</c:v>
                  </c:pt>
                  <c:pt idx="21">
                    <c:v>2008</c:v>
                  </c:pt>
                  <c:pt idx="22">
                    <c:v>2008</c:v>
                  </c:pt>
                  <c:pt idx="23">
                    <c:v>2008</c:v>
                  </c:pt>
                  <c:pt idx="24">
                    <c:v>2009</c:v>
                  </c:pt>
                  <c:pt idx="25">
                    <c:v>2009</c:v>
                  </c:pt>
                  <c:pt idx="26">
                    <c:v>2009</c:v>
                  </c:pt>
                  <c:pt idx="27">
                    <c:v>2009</c:v>
                  </c:pt>
                  <c:pt idx="28">
                    <c:v>2009</c:v>
                  </c:pt>
                  <c:pt idx="29">
                    <c:v>2009</c:v>
                  </c:pt>
                  <c:pt idx="30">
                    <c:v>2009</c:v>
                  </c:pt>
                  <c:pt idx="31">
                    <c:v>2009</c:v>
                  </c:pt>
                  <c:pt idx="32">
                    <c:v>2009</c:v>
                  </c:pt>
                  <c:pt idx="33">
                    <c:v>2009</c:v>
                  </c:pt>
                  <c:pt idx="34">
                    <c:v>2009</c:v>
                  </c:pt>
                  <c:pt idx="35">
                    <c:v>2009</c:v>
                  </c:pt>
                  <c:pt idx="36">
                    <c:v>2010</c:v>
                  </c:pt>
                  <c:pt idx="37">
                    <c:v>2010</c:v>
                  </c:pt>
                  <c:pt idx="38">
                    <c:v>2010</c:v>
                  </c:pt>
                  <c:pt idx="39">
                    <c:v>2010</c:v>
                  </c:pt>
                  <c:pt idx="40">
                    <c:v>2010</c:v>
                  </c:pt>
                  <c:pt idx="41">
                    <c:v>2010</c:v>
                  </c:pt>
                  <c:pt idx="42">
                    <c:v>2010</c:v>
                  </c:pt>
                  <c:pt idx="43">
                    <c:v>2010</c:v>
                  </c:pt>
                  <c:pt idx="44">
                    <c:v>2010</c:v>
                  </c:pt>
                  <c:pt idx="45">
                    <c:v>2010</c:v>
                  </c:pt>
                  <c:pt idx="46">
                    <c:v>2010</c:v>
                  </c:pt>
                  <c:pt idx="47">
                    <c:v>2010</c:v>
                  </c:pt>
                  <c:pt idx="48">
                    <c:v>2011</c:v>
                  </c:pt>
                  <c:pt idx="49">
                    <c:v>2011</c:v>
                  </c:pt>
                  <c:pt idx="50">
                    <c:v>2011</c:v>
                  </c:pt>
                  <c:pt idx="51">
                    <c:v>2011</c:v>
                  </c:pt>
                  <c:pt idx="52">
                    <c:v>2011</c:v>
                  </c:pt>
                  <c:pt idx="53">
                    <c:v>2011</c:v>
                  </c:pt>
                  <c:pt idx="54">
                    <c:v>2011</c:v>
                  </c:pt>
                  <c:pt idx="55">
                    <c:v>2011</c:v>
                  </c:pt>
                  <c:pt idx="56">
                    <c:v>2011</c:v>
                  </c:pt>
                  <c:pt idx="57">
                    <c:v>2011</c:v>
                  </c:pt>
                  <c:pt idx="58">
                    <c:v>2011</c:v>
                  </c:pt>
                  <c:pt idx="59">
                    <c:v>2011</c:v>
                  </c:pt>
                  <c:pt idx="60">
                    <c:v>2012</c:v>
                  </c:pt>
                  <c:pt idx="61">
                    <c:v>2012</c:v>
                  </c:pt>
                  <c:pt idx="62">
                    <c:v>2012</c:v>
                  </c:pt>
                  <c:pt idx="63">
                    <c:v>2012</c:v>
                  </c:pt>
                  <c:pt idx="64">
                    <c:v>2012</c:v>
                  </c:pt>
                  <c:pt idx="65">
                    <c:v>2012</c:v>
                  </c:pt>
                  <c:pt idx="66">
                    <c:v>2012</c:v>
                  </c:pt>
                  <c:pt idx="67">
                    <c:v>2012</c:v>
                  </c:pt>
                  <c:pt idx="68">
                    <c:v>2012</c:v>
                  </c:pt>
                  <c:pt idx="69">
                    <c:v>2012</c:v>
                  </c:pt>
                  <c:pt idx="70">
                    <c:v>2012</c:v>
                  </c:pt>
                  <c:pt idx="71">
                    <c:v>2012</c:v>
                  </c:pt>
                  <c:pt idx="72">
                    <c:v>2013</c:v>
                  </c:pt>
                  <c:pt idx="73">
                    <c:v>2013</c:v>
                  </c:pt>
                  <c:pt idx="74">
                    <c:v>2013</c:v>
                  </c:pt>
                  <c:pt idx="75">
                    <c:v>2013</c:v>
                  </c:pt>
                  <c:pt idx="76">
                    <c:v>2013</c:v>
                  </c:pt>
                  <c:pt idx="77">
                    <c:v>2013</c:v>
                  </c:pt>
                  <c:pt idx="78">
                    <c:v>2013</c:v>
                  </c:pt>
                  <c:pt idx="79">
                    <c:v>2013</c:v>
                  </c:pt>
                  <c:pt idx="80">
                    <c:v>2013</c:v>
                  </c:pt>
                  <c:pt idx="81">
                    <c:v>2013</c:v>
                  </c:pt>
                  <c:pt idx="82">
                    <c:v>2013</c:v>
                  </c:pt>
                  <c:pt idx="83">
                    <c:v>2013</c:v>
                  </c:pt>
                  <c:pt idx="84">
                    <c:v>2014</c:v>
                  </c:pt>
                  <c:pt idx="85">
                    <c:v>2014</c:v>
                  </c:pt>
                  <c:pt idx="86">
                    <c:v>2014</c:v>
                  </c:pt>
                  <c:pt idx="87">
                    <c:v>2014</c:v>
                  </c:pt>
                  <c:pt idx="88">
                    <c:v>2014</c:v>
                  </c:pt>
                  <c:pt idx="89">
                    <c:v>2014</c:v>
                  </c:pt>
                  <c:pt idx="90">
                    <c:v>2014</c:v>
                  </c:pt>
                  <c:pt idx="91">
                    <c:v>2014</c:v>
                  </c:pt>
                  <c:pt idx="92">
                    <c:v>2014</c:v>
                  </c:pt>
                  <c:pt idx="93">
                    <c:v>2014</c:v>
                  </c:pt>
                  <c:pt idx="94">
                    <c:v>2014</c:v>
                  </c:pt>
                  <c:pt idx="95">
                    <c:v>2014</c:v>
                  </c:pt>
                  <c:pt idx="96">
                    <c:v>2015</c:v>
                  </c:pt>
                  <c:pt idx="97">
                    <c:v>2015</c:v>
                  </c:pt>
                  <c:pt idx="98">
                    <c:v>2015</c:v>
                  </c:pt>
                  <c:pt idx="99">
                    <c:v>2015</c:v>
                  </c:pt>
                  <c:pt idx="100">
                    <c:v>2015</c:v>
                  </c:pt>
                  <c:pt idx="101">
                    <c:v>2015</c:v>
                  </c:pt>
                  <c:pt idx="102">
                    <c:v>2015</c:v>
                  </c:pt>
                  <c:pt idx="103">
                    <c:v>2015</c:v>
                  </c:pt>
                  <c:pt idx="104">
                    <c:v>2015</c:v>
                  </c:pt>
                  <c:pt idx="105">
                    <c:v>2015</c:v>
                  </c:pt>
                  <c:pt idx="106">
                    <c:v>2015</c:v>
                  </c:pt>
                  <c:pt idx="107">
                    <c:v>2015</c:v>
                  </c:pt>
                  <c:pt idx="108">
                    <c:v>2016</c:v>
                  </c:pt>
                  <c:pt idx="109">
                    <c:v>2016</c:v>
                  </c:pt>
                  <c:pt idx="110">
                    <c:v>2016</c:v>
                  </c:pt>
                  <c:pt idx="111">
                    <c:v>2016</c:v>
                  </c:pt>
                  <c:pt idx="112">
                    <c:v>2016</c:v>
                  </c:pt>
                  <c:pt idx="113">
                    <c:v>2016</c:v>
                  </c:pt>
                  <c:pt idx="114">
                    <c:v>2016</c:v>
                  </c:pt>
                  <c:pt idx="115">
                    <c:v>2016</c:v>
                  </c:pt>
                  <c:pt idx="116">
                    <c:v>2016</c:v>
                  </c:pt>
                  <c:pt idx="117">
                    <c:v>2016</c:v>
                  </c:pt>
                  <c:pt idx="118">
                    <c:v>2016</c:v>
                  </c:pt>
                  <c:pt idx="119">
                    <c:v>2016</c:v>
                  </c:pt>
                  <c:pt idx="120">
                    <c:v>2017</c:v>
                  </c:pt>
                  <c:pt idx="121">
                    <c:v>2017</c:v>
                  </c:pt>
                  <c:pt idx="122">
                    <c:v>2017</c:v>
                  </c:pt>
                  <c:pt idx="123">
                    <c:v>2017</c:v>
                  </c:pt>
                  <c:pt idx="124">
                    <c:v>2017</c:v>
                  </c:pt>
                  <c:pt idx="125">
                    <c:v>2017</c:v>
                  </c:pt>
                  <c:pt idx="126">
                    <c:v>2017</c:v>
                  </c:pt>
                  <c:pt idx="127">
                    <c:v>2017</c:v>
                  </c:pt>
                  <c:pt idx="128">
                    <c:v>2017</c:v>
                  </c:pt>
                  <c:pt idx="129">
                    <c:v>2017</c:v>
                  </c:pt>
                  <c:pt idx="130">
                    <c:v>2017</c:v>
                  </c:pt>
                  <c:pt idx="131">
                    <c:v>2017</c:v>
                  </c:pt>
                  <c:pt idx="132">
                    <c:v>2018</c:v>
                  </c:pt>
                  <c:pt idx="133">
                    <c:v>2018</c:v>
                  </c:pt>
                  <c:pt idx="134">
                    <c:v>2018</c:v>
                  </c:pt>
                  <c:pt idx="135">
                    <c:v>2018</c:v>
                  </c:pt>
                  <c:pt idx="136">
                    <c:v>2018</c:v>
                  </c:pt>
                  <c:pt idx="137">
                    <c:v>2018</c:v>
                  </c:pt>
                  <c:pt idx="138">
                    <c:v>2018</c:v>
                  </c:pt>
                  <c:pt idx="139">
                    <c:v>2018</c:v>
                  </c:pt>
                  <c:pt idx="140">
                    <c:v>2018</c:v>
                  </c:pt>
                  <c:pt idx="141">
                    <c:v>2018</c:v>
                  </c:pt>
                  <c:pt idx="142">
                    <c:v>2018</c:v>
                  </c:pt>
                  <c:pt idx="143">
                    <c:v>2018</c:v>
                  </c:pt>
                  <c:pt idx="144">
                    <c:v>2019</c:v>
                  </c:pt>
                  <c:pt idx="145">
                    <c:v>2019</c:v>
                  </c:pt>
                  <c:pt idx="146">
                    <c:v>2019</c:v>
                  </c:pt>
                  <c:pt idx="147">
                    <c:v>2019</c:v>
                  </c:pt>
                  <c:pt idx="148">
                    <c:v>2019</c:v>
                  </c:pt>
                  <c:pt idx="149">
                    <c:v>2019</c:v>
                  </c:pt>
                  <c:pt idx="150">
                    <c:v>2019</c:v>
                  </c:pt>
                  <c:pt idx="151">
                    <c:v>2019</c:v>
                  </c:pt>
                  <c:pt idx="152">
                    <c:v>2019</c:v>
                  </c:pt>
                  <c:pt idx="153">
                    <c:v>2019</c:v>
                  </c:pt>
                  <c:pt idx="154">
                    <c:v>2019</c:v>
                  </c:pt>
                  <c:pt idx="155">
                    <c:v>2019</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2021</c:v>
                  </c:pt>
                  <c:pt idx="169">
                    <c:v>2021</c:v>
                  </c:pt>
                  <c:pt idx="170">
                    <c:v>2021</c:v>
                  </c:pt>
                  <c:pt idx="171">
                    <c:v>2021</c:v>
                  </c:pt>
                  <c:pt idx="172">
                    <c:v>2021</c:v>
                  </c:pt>
                  <c:pt idx="173">
                    <c:v>2021</c:v>
                  </c:pt>
                  <c:pt idx="174">
                    <c:v>2021</c:v>
                  </c:pt>
                  <c:pt idx="175">
                    <c:v>2021</c:v>
                  </c:pt>
                  <c:pt idx="176">
                    <c:v>2021</c:v>
                  </c:pt>
                  <c:pt idx="177">
                    <c:v>2021</c:v>
                  </c:pt>
                  <c:pt idx="178">
                    <c:v>2021</c:v>
                  </c:pt>
                  <c:pt idx="179">
                    <c:v>2021</c:v>
                  </c:pt>
                  <c:pt idx="180">
                    <c:v>2022</c:v>
                  </c:pt>
                  <c:pt idx="181">
                    <c:v>2022</c:v>
                  </c:pt>
                  <c:pt idx="182">
                    <c:v>2022</c:v>
                  </c:pt>
                  <c:pt idx="183">
                    <c:v>2022</c:v>
                  </c:pt>
                  <c:pt idx="184">
                    <c:v>2022</c:v>
                  </c:pt>
                  <c:pt idx="185">
                    <c:v>2022</c:v>
                  </c:pt>
                  <c:pt idx="186">
                    <c:v>2022</c:v>
                  </c:pt>
                  <c:pt idx="187">
                    <c:v>2022</c:v>
                  </c:pt>
                  <c:pt idx="188">
                    <c:v>2022</c:v>
                  </c:pt>
                  <c:pt idx="189">
                    <c:v>2022</c:v>
                  </c:pt>
                  <c:pt idx="190">
                    <c:v>2022</c:v>
                  </c:pt>
                  <c:pt idx="191">
                    <c:v>2022</c:v>
                  </c:pt>
                  <c:pt idx="192">
                    <c:v>2023</c:v>
                  </c:pt>
                  <c:pt idx="193">
                    <c:v>2023</c:v>
                  </c:pt>
                  <c:pt idx="194">
                    <c:v>2023</c:v>
                  </c:pt>
                  <c:pt idx="195">
                    <c:v>2023</c:v>
                  </c:pt>
                  <c:pt idx="196">
                    <c:v>2023</c:v>
                  </c:pt>
                  <c:pt idx="197">
                    <c:v>2023</c:v>
                  </c:pt>
                  <c:pt idx="198">
                    <c:v>2023</c:v>
                  </c:pt>
                  <c:pt idx="199">
                    <c:v>2023</c:v>
                  </c:pt>
                  <c:pt idx="200">
                    <c:v>2023</c:v>
                  </c:pt>
                  <c:pt idx="201">
                    <c:v>2023</c:v>
                  </c:pt>
                  <c:pt idx="202">
                    <c:v>2023</c:v>
                  </c:pt>
                  <c:pt idx="203">
                    <c:v>2023</c:v>
                  </c:pt>
                  <c:pt idx="204">
                    <c:v>2024</c:v>
                  </c:pt>
                  <c:pt idx="205">
                    <c:v>2024</c:v>
                  </c:pt>
                  <c:pt idx="206">
                    <c:v>2024</c:v>
                  </c:pt>
                  <c:pt idx="207">
                    <c:v>2024</c:v>
                  </c:pt>
                  <c:pt idx="208">
                    <c:v>2024</c:v>
                  </c:pt>
                  <c:pt idx="209">
                    <c:v>2024</c:v>
                  </c:pt>
                  <c:pt idx="210">
                    <c:v>2024</c:v>
                  </c:pt>
                  <c:pt idx="211">
                    <c:v>2024</c:v>
                  </c:pt>
                  <c:pt idx="212">
                    <c:v>2024</c:v>
                  </c:pt>
                  <c:pt idx="213">
                    <c:v>2024</c:v>
                  </c:pt>
                  <c:pt idx="214">
                    <c:v>2024</c:v>
                  </c:pt>
                  <c:pt idx="215">
                    <c:v>2024</c:v>
                  </c:pt>
                  <c:pt idx="216">
                    <c:v>2025</c:v>
                  </c:pt>
                  <c:pt idx="217">
                    <c:v>2025</c:v>
                  </c:pt>
                  <c:pt idx="218">
                    <c:v>2025</c:v>
                  </c:pt>
                  <c:pt idx="219">
                    <c:v>2025</c:v>
                  </c:pt>
                  <c:pt idx="220">
                    <c:v>2025</c:v>
                  </c:pt>
                  <c:pt idx="221">
                    <c:v>2025</c:v>
                  </c:pt>
                  <c:pt idx="222">
                    <c:v>2025</c:v>
                  </c:pt>
                  <c:pt idx="223">
                    <c:v>2025</c:v>
                  </c:pt>
                  <c:pt idx="224">
                    <c:v>2025</c:v>
                  </c:pt>
                  <c:pt idx="225">
                    <c:v>2025</c:v>
                  </c:pt>
                  <c:pt idx="226">
                    <c:v>2025</c:v>
                  </c:pt>
                  <c:pt idx="227">
                    <c:v>2025</c:v>
                  </c:pt>
                  <c:pt idx="228">
                    <c:v>2026</c:v>
                  </c:pt>
                  <c:pt idx="229">
                    <c:v>2026</c:v>
                  </c:pt>
                  <c:pt idx="230">
                    <c:v>2026</c:v>
                  </c:pt>
                  <c:pt idx="231">
                    <c:v>2026</c:v>
                  </c:pt>
                  <c:pt idx="232">
                    <c:v>2026</c:v>
                  </c:pt>
                  <c:pt idx="233">
                    <c:v>2026</c:v>
                  </c:pt>
                  <c:pt idx="234">
                    <c:v>2026</c:v>
                  </c:pt>
                  <c:pt idx="235">
                    <c:v>2026</c:v>
                  </c:pt>
                  <c:pt idx="236">
                    <c:v>2026</c:v>
                  </c:pt>
                  <c:pt idx="237">
                    <c:v>2026</c:v>
                  </c:pt>
                  <c:pt idx="238">
                    <c:v>2026</c:v>
                  </c:pt>
                </c:lvl>
              </c:multiLvlStrCache>
            </c:multiLvlStrRef>
          </c:cat>
          <c:val>
            <c:numRef>
              <c:f>Sheet1!$B$2:$B$240</c:f>
              <c:numCache>
                <c:formatCode>General</c:formatCode>
                <c:ptCount val="239"/>
                <c:pt idx="0">
                  <c:v>1</c:v>
                </c:pt>
                <c:pt idx="1">
                  <c:v>1.03</c:v>
                </c:pt>
                <c:pt idx="2">
                  <c:v>0.99</c:v>
                </c:pt>
                <c:pt idx="3">
                  <c:v>0.99</c:v>
                </c:pt>
                <c:pt idx="4">
                  <c:v>1.03</c:v>
                </c:pt>
                <c:pt idx="5">
                  <c:v>1.06</c:v>
                </c:pt>
                <c:pt idx="6">
                  <c:v>1.04</c:v>
                </c:pt>
                <c:pt idx="7">
                  <c:v>1.02</c:v>
                </c:pt>
                <c:pt idx="8">
                  <c:v>1.03</c:v>
                </c:pt>
                <c:pt idx="9">
                  <c:v>1.04</c:v>
                </c:pt>
                <c:pt idx="10">
                  <c:v>1.03</c:v>
                </c:pt>
                <c:pt idx="11">
                  <c:v>0.99</c:v>
                </c:pt>
                <c:pt idx="12">
                  <c:v>1.02</c:v>
                </c:pt>
                <c:pt idx="13">
                  <c:v>1.04</c:v>
                </c:pt>
                <c:pt idx="14">
                  <c:v>1.01</c:v>
                </c:pt>
                <c:pt idx="15">
                  <c:v>0.99</c:v>
                </c:pt>
                <c:pt idx="16">
                  <c:v>1</c:v>
                </c:pt>
                <c:pt idx="17">
                  <c:v>0.98</c:v>
                </c:pt>
                <c:pt idx="18">
                  <c:v>0.91</c:v>
                </c:pt>
                <c:pt idx="19">
                  <c:v>0.9</c:v>
                </c:pt>
                <c:pt idx="20">
                  <c:v>0.9</c:v>
                </c:pt>
                <c:pt idx="21">
                  <c:v>0.9</c:v>
                </c:pt>
                <c:pt idx="22">
                  <c:v>0.9</c:v>
                </c:pt>
                <c:pt idx="23">
                  <c:v>0.9</c:v>
                </c:pt>
                <c:pt idx="24">
                  <c:v>0.95</c:v>
                </c:pt>
                <c:pt idx="25">
                  <c:v>0.91</c:v>
                </c:pt>
                <c:pt idx="26">
                  <c:v>0.88</c:v>
                </c:pt>
                <c:pt idx="27">
                  <c:v>0.9</c:v>
                </c:pt>
                <c:pt idx="28">
                  <c:v>0.88</c:v>
                </c:pt>
                <c:pt idx="29">
                  <c:v>0.93</c:v>
                </c:pt>
                <c:pt idx="30">
                  <c:v>0.91</c:v>
                </c:pt>
                <c:pt idx="31">
                  <c:v>1.01</c:v>
                </c:pt>
                <c:pt idx="32">
                  <c:v>1.01</c:v>
                </c:pt>
                <c:pt idx="33">
                  <c:v>1.03</c:v>
                </c:pt>
                <c:pt idx="34">
                  <c:v>1.04</c:v>
                </c:pt>
                <c:pt idx="35">
                  <c:v>1.12</c:v>
                </c:pt>
                <c:pt idx="36">
                  <c:v>1.16</c:v>
                </c:pt>
                <c:pt idx="37">
                  <c:v>1.08</c:v>
                </c:pt>
                <c:pt idx="38">
                  <c:v>1.08</c:v>
                </c:pt>
                <c:pt idx="39">
                  <c:v>1.17</c:v>
                </c:pt>
                <c:pt idx="40">
                  <c:v>1.22</c:v>
                </c:pt>
                <c:pt idx="41">
                  <c:v>1.11</c:v>
                </c:pt>
                <c:pt idx="42">
                  <c:v>1.08</c:v>
                </c:pt>
                <c:pt idx="43">
                  <c:v>1.16</c:v>
                </c:pt>
                <c:pt idx="44">
                  <c:v>1.11</c:v>
                </c:pt>
                <c:pt idx="45">
                  <c:v>1.2</c:v>
                </c:pt>
                <c:pt idx="46">
                  <c:v>1.25</c:v>
                </c:pt>
                <c:pt idx="47">
                  <c:v>1.28</c:v>
                </c:pt>
                <c:pt idx="48">
                  <c:v>1.37</c:v>
                </c:pt>
                <c:pt idx="49">
                  <c:v>1.43</c:v>
                </c:pt>
                <c:pt idx="50">
                  <c:v>1.43</c:v>
                </c:pt>
                <c:pt idx="51">
                  <c:v>1.43</c:v>
                </c:pt>
                <c:pt idx="52">
                  <c:v>1.47</c:v>
                </c:pt>
                <c:pt idx="53">
                  <c:v>1.42</c:v>
                </c:pt>
                <c:pt idx="54">
                  <c:v>1.44</c:v>
                </c:pt>
                <c:pt idx="55">
                  <c:v>1.4</c:v>
                </c:pt>
                <c:pt idx="56">
                  <c:v>1.41</c:v>
                </c:pt>
                <c:pt idx="57">
                  <c:v>1.35</c:v>
                </c:pt>
                <c:pt idx="58">
                  <c:v>1.37</c:v>
                </c:pt>
                <c:pt idx="59">
                  <c:v>1.38</c:v>
                </c:pt>
                <c:pt idx="60">
                  <c:v>1.38</c:v>
                </c:pt>
                <c:pt idx="61">
                  <c:v>1.43</c:v>
                </c:pt>
                <c:pt idx="62">
                  <c:v>1.5</c:v>
                </c:pt>
                <c:pt idx="63">
                  <c:v>1.57</c:v>
                </c:pt>
                <c:pt idx="64">
                  <c:v>1.53</c:v>
                </c:pt>
                <c:pt idx="65">
                  <c:v>1.43</c:v>
                </c:pt>
                <c:pt idx="66">
                  <c:v>1.46</c:v>
                </c:pt>
                <c:pt idx="67">
                  <c:v>1.47</c:v>
                </c:pt>
                <c:pt idx="68">
                  <c:v>1.49</c:v>
                </c:pt>
                <c:pt idx="69">
                  <c:v>1.55</c:v>
                </c:pt>
                <c:pt idx="70">
                  <c:v>1.53</c:v>
                </c:pt>
                <c:pt idx="71">
                  <c:v>1.52</c:v>
                </c:pt>
                <c:pt idx="72">
                  <c:v>1.57</c:v>
                </c:pt>
                <c:pt idx="73">
                  <c:v>1.63</c:v>
                </c:pt>
                <c:pt idx="74">
                  <c:v>1.63</c:v>
                </c:pt>
                <c:pt idx="75">
                  <c:v>1.67</c:v>
                </c:pt>
                <c:pt idx="76">
                  <c:v>1.7</c:v>
                </c:pt>
                <c:pt idx="77">
                  <c:v>1.75</c:v>
                </c:pt>
                <c:pt idx="78">
                  <c:v>1.68</c:v>
                </c:pt>
                <c:pt idx="79">
                  <c:v>1.77</c:v>
                </c:pt>
                <c:pt idx="80">
                  <c:v>1.68</c:v>
                </c:pt>
                <c:pt idx="81">
                  <c:v>1.72</c:v>
                </c:pt>
                <c:pt idx="82">
                  <c:v>1.75</c:v>
                </c:pt>
                <c:pt idx="83">
                  <c:v>1.81</c:v>
                </c:pt>
                <c:pt idx="84">
                  <c:v>1.82</c:v>
                </c:pt>
                <c:pt idx="85">
                  <c:v>1.73</c:v>
                </c:pt>
                <c:pt idx="86">
                  <c:v>1.79</c:v>
                </c:pt>
                <c:pt idx="87">
                  <c:v>1.81</c:v>
                </c:pt>
                <c:pt idx="88">
                  <c:v>1.79</c:v>
                </c:pt>
                <c:pt idx="89">
                  <c:v>1.83</c:v>
                </c:pt>
                <c:pt idx="90">
                  <c:v>1.89</c:v>
                </c:pt>
                <c:pt idx="91">
                  <c:v>1.86</c:v>
                </c:pt>
                <c:pt idx="92">
                  <c:v>1.88</c:v>
                </c:pt>
                <c:pt idx="93">
                  <c:v>1.87</c:v>
                </c:pt>
                <c:pt idx="94">
                  <c:v>1.97</c:v>
                </c:pt>
                <c:pt idx="95">
                  <c:v>2</c:v>
                </c:pt>
                <c:pt idx="96">
                  <c:v>1.95</c:v>
                </c:pt>
                <c:pt idx="97">
                  <c:v>1.98</c:v>
                </c:pt>
                <c:pt idx="98">
                  <c:v>1.97</c:v>
                </c:pt>
                <c:pt idx="99">
                  <c:v>1.93</c:v>
                </c:pt>
                <c:pt idx="100">
                  <c:v>1.97</c:v>
                </c:pt>
                <c:pt idx="101">
                  <c:v>1.97</c:v>
                </c:pt>
                <c:pt idx="102">
                  <c:v>1.94</c:v>
                </c:pt>
                <c:pt idx="103">
                  <c:v>1.91</c:v>
                </c:pt>
                <c:pt idx="104">
                  <c:v>1.88</c:v>
                </c:pt>
                <c:pt idx="105">
                  <c:v>1.87</c:v>
                </c:pt>
                <c:pt idx="106">
                  <c:v>1.85</c:v>
                </c:pt>
                <c:pt idx="107">
                  <c:v>1.82</c:v>
                </c:pt>
                <c:pt idx="108">
                  <c:v>1.81</c:v>
                </c:pt>
                <c:pt idx="109">
                  <c:v>1.82</c:v>
                </c:pt>
                <c:pt idx="110">
                  <c:v>1.82</c:v>
                </c:pt>
                <c:pt idx="111">
                  <c:v>1.87</c:v>
                </c:pt>
                <c:pt idx="112">
                  <c:v>1.87</c:v>
                </c:pt>
                <c:pt idx="113">
                  <c:v>1.9</c:v>
                </c:pt>
                <c:pt idx="114">
                  <c:v>1.84</c:v>
                </c:pt>
                <c:pt idx="115">
                  <c:v>1.91</c:v>
                </c:pt>
                <c:pt idx="116">
                  <c:v>1.9</c:v>
                </c:pt>
                <c:pt idx="117">
                  <c:v>1.9</c:v>
                </c:pt>
                <c:pt idx="118">
                  <c:v>1.85</c:v>
                </c:pt>
                <c:pt idx="119">
                  <c:v>1.82</c:v>
                </c:pt>
                <c:pt idx="120">
                  <c:v>1.89</c:v>
                </c:pt>
                <c:pt idx="121">
                  <c:v>1.92</c:v>
                </c:pt>
                <c:pt idx="122">
                  <c:v>2.06</c:v>
                </c:pt>
                <c:pt idx="123">
                  <c:v>2.02</c:v>
                </c:pt>
                <c:pt idx="124">
                  <c:v>2.05</c:v>
                </c:pt>
                <c:pt idx="125">
                  <c:v>2.08</c:v>
                </c:pt>
                <c:pt idx="126">
                  <c:v>2.08</c:v>
                </c:pt>
                <c:pt idx="127">
                  <c:v>2.13</c:v>
                </c:pt>
                <c:pt idx="128">
                  <c:v>2.13</c:v>
                </c:pt>
                <c:pt idx="129">
                  <c:v>2.17</c:v>
                </c:pt>
                <c:pt idx="130">
                  <c:v>2.23</c:v>
                </c:pt>
                <c:pt idx="131">
                  <c:v>2.3</c:v>
                </c:pt>
                <c:pt idx="132">
                  <c:v>2.36</c:v>
                </c:pt>
                <c:pt idx="133">
                  <c:v>2.5</c:v>
                </c:pt>
                <c:pt idx="134">
                  <c:v>2.37</c:v>
                </c:pt>
                <c:pt idx="135">
                  <c:v>2.44</c:v>
                </c:pt>
                <c:pt idx="136">
                  <c:v>2.42</c:v>
                </c:pt>
                <c:pt idx="137">
                  <c:v>2.41</c:v>
                </c:pt>
                <c:pt idx="138">
                  <c:v>2.41</c:v>
                </c:pt>
                <c:pt idx="139">
                  <c:v>2.47</c:v>
                </c:pt>
                <c:pt idx="140">
                  <c:v>2.53</c:v>
                </c:pt>
                <c:pt idx="141">
                  <c:v>2.55</c:v>
                </c:pt>
                <c:pt idx="142">
                  <c:v>2.34</c:v>
                </c:pt>
                <c:pt idx="143">
                  <c:v>2.4</c:v>
                </c:pt>
                <c:pt idx="144">
                  <c:v>2.4</c:v>
                </c:pt>
                <c:pt idx="145">
                  <c:v>2.52</c:v>
                </c:pt>
                <c:pt idx="146">
                  <c:v>2.58</c:v>
                </c:pt>
                <c:pt idx="147">
                  <c:v>2.64</c:v>
                </c:pt>
                <c:pt idx="148">
                  <c:v>2.67</c:v>
                </c:pt>
                <c:pt idx="149">
                  <c:v>2.65</c:v>
                </c:pt>
                <c:pt idx="150">
                  <c:v>2.7</c:v>
                </c:pt>
                <c:pt idx="151">
                  <c:v>2.72</c:v>
                </c:pt>
                <c:pt idx="152">
                  <c:v>2.68</c:v>
                </c:pt>
                <c:pt idx="153">
                  <c:v>2.67</c:v>
                </c:pt>
                <c:pt idx="154">
                  <c:v>2.68</c:v>
                </c:pt>
                <c:pt idx="155">
                  <c:v>2.73</c:v>
                </c:pt>
                <c:pt idx="156">
                  <c:v>2.89</c:v>
                </c:pt>
                <c:pt idx="157">
                  <c:v>2.89</c:v>
                </c:pt>
                <c:pt idx="158">
                  <c:v>2.79</c:v>
                </c:pt>
                <c:pt idx="159">
                  <c:v>2.88</c:v>
                </c:pt>
                <c:pt idx="160">
                  <c:v>2.84</c:v>
                </c:pt>
                <c:pt idx="161">
                  <c:v>3.03</c:v>
                </c:pt>
                <c:pt idx="162">
                  <c:v>2.94</c:v>
                </c:pt>
                <c:pt idx="163">
                  <c:v>3.09</c:v>
                </c:pt>
                <c:pt idx="164">
                  <c:v>3.37</c:v>
                </c:pt>
                <c:pt idx="165">
                  <c:v>3.21</c:v>
                </c:pt>
                <c:pt idx="166">
                  <c:v>3.15</c:v>
                </c:pt>
                <c:pt idx="167">
                  <c:v>3.44</c:v>
                </c:pt>
                <c:pt idx="168">
                  <c:v>3.49</c:v>
                </c:pt>
                <c:pt idx="169">
                  <c:v>3.57</c:v>
                </c:pt>
                <c:pt idx="170">
                  <c:v>3.73</c:v>
                </c:pt>
                <c:pt idx="171">
                  <c:v>3.88</c:v>
                </c:pt>
                <c:pt idx="172">
                  <c:v>4.09</c:v>
                </c:pt>
                <c:pt idx="173">
                  <c:v>4.11</c:v>
                </c:pt>
                <c:pt idx="174">
                  <c:v>4.26</c:v>
                </c:pt>
                <c:pt idx="175">
                  <c:v>4.32</c:v>
                </c:pt>
                <c:pt idx="176">
                  <c:v>4.44</c:v>
                </c:pt>
                <c:pt idx="177">
                  <c:v>4.23</c:v>
                </c:pt>
                <c:pt idx="178">
                  <c:v>4.45</c:v>
                </c:pt>
                <c:pt idx="179">
                  <c:v>4.36</c:v>
                </c:pt>
                <c:pt idx="180">
                  <c:v>4.56</c:v>
                </c:pt>
                <c:pt idx="181">
                  <c:v>4.23</c:v>
                </c:pt>
                <c:pt idx="182">
                  <c:v>4.31</c:v>
                </c:pt>
                <c:pt idx="183">
                  <c:v>4.27</c:v>
                </c:pt>
                <c:pt idx="184">
                  <c:v>3.9</c:v>
                </c:pt>
                <c:pt idx="185">
                  <c:v>3.96</c:v>
                </c:pt>
                <c:pt idx="186">
                  <c:v>3.93</c:v>
                </c:pt>
                <c:pt idx="187">
                  <c:v>3.99</c:v>
                </c:pt>
                <c:pt idx="188">
                  <c:v>3.82</c:v>
                </c:pt>
                <c:pt idx="189">
                  <c:v>3.67</c:v>
                </c:pt>
                <c:pt idx="190">
                  <c:v>3.59</c:v>
                </c:pt>
                <c:pt idx="191">
                  <c:v>3.8</c:v>
                </c:pt>
                <c:pt idx="192">
                  <c:v>3.6</c:v>
                </c:pt>
                <c:pt idx="193">
                  <c:v>3.85</c:v>
                </c:pt>
                <c:pt idx="194">
                  <c:v>3.69</c:v>
                </c:pt>
                <c:pt idx="195">
                  <c:v>3.82</c:v>
                </c:pt>
                <c:pt idx="196">
                  <c:v>3.85</c:v>
                </c:pt>
                <c:pt idx="197">
                  <c:v>3.9</c:v>
                </c:pt>
                <c:pt idx="198">
                  <c:v>4.11</c:v>
                </c:pt>
                <c:pt idx="199">
                  <c:v>4.25</c:v>
                </c:pt>
                <c:pt idx="200">
                  <c:v>4.18</c:v>
                </c:pt>
                <c:pt idx="201">
                  <c:v>3.92</c:v>
                </c:pt>
                <c:pt idx="202">
                  <c:v>3.89</c:v>
                </c:pt>
                <c:pt idx="203">
                  <c:v>4.2</c:v>
                </c:pt>
                <c:pt idx="204">
                  <c:v>4.37</c:v>
                </c:pt>
                <c:pt idx="205">
                  <c:v>4.52</c:v>
                </c:pt>
                <c:pt idx="206">
                  <c:v>4.67</c:v>
                </c:pt>
                <c:pt idx="207">
                  <c:v>4.75</c:v>
                </c:pt>
                <c:pt idx="208">
                  <c:v>4.51</c:v>
                </c:pt>
                <c:pt idx="209">
                  <c:v>4.71</c:v>
                </c:pt>
                <c:pt idx="210">
                  <c:v>4.92</c:v>
                </c:pt>
                <c:pt idx="211">
                  <c:v>4.88</c:v>
                </c:pt>
                <c:pt idx="212">
                  <c:v>4.91</c:v>
                </c:pt>
                <c:pt idx="213">
                  <c:v>4.98</c:v>
                </c:pt>
                <c:pt idx="214">
                  <c:v>4.96</c:v>
                </c:pt>
                <c:pt idx="215">
                  <c:v>5.2</c:v>
                </c:pt>
                <c:pt idx="216">
                  <c:v>5.03</c:v>
                </c:pt>
                <c:pt idx="217">
                  <c:v>5.13</c:v>
                </c:pt>
                <c:pt idx="218">
                  <c:v>5.06</c:v>
                </c:pt>
                <c:pt idx="219">
                  <c:v>5.14</c:v>
                </c:pt>
                <c:pt idx="220">
                  <c:v>5.12</c:v>
                </c:pt>
                <c:pt idx="221">
                  <c:v>5.36</c:v>
                </c:pt>
                <c:pt idx="222">
                  <c:v>5.57</c:v>
                </c:pt>
                <c:pt idx="223">
                  <c:v>5.57</c:v>
                </c:pt>
                <c:pt idx="224">
                  <c:v>5.77</c:v>
                </c:pt>
                <c:pt idx="225">
                  <c:v>6.11</c:v>
                </c:pt>
                <c:pt idx="226">
                  <c:v>6.19</c:v>
                </c:pt>
                <c:pt idx="227">
                  <c:v>6.07</c:v>
                </c:pt>
                <c:pt idx="228">
                  <c:v>6.04</c:v>
                </c:pt>
                <c:pt idx="229">
                  <c:v>6.13</c:v>
                </c:pt>
                <c:pt idx="230">
                  <c:v>6.25</c:v>
                </c:pt>
                <c:pt idx="231">
                  <c:v>5.99</c:v>
                </c:pt>
                <c:pt idx="232">
                  <c:v>5.98</c:v>
                </c:pt>
                <c:pt idx="233">
                  <c:v>6.28</c:v>
                </c:pt>
                <c:pt idx="234">
                  <c:v>6.13</c:v>
                </c:pt>
                <c:pt idx="235">
                  <c:v>6.19</c:v>
                </c:pt>
                <c:pt idx="236">
                  <c:v>6.18</c:v>
                </c:pt>
                <c:pt idx="237">
                  <c:v>6.19</c:v>
                </c:pt>
                <c:pt idx="238">
                  <c:v>6.22</c:v>
                </c:pt>
              </c:numCache>
            </c:numRef>
          </c:val>
          <c:smooth val="0"/>
        </c:ser>
        <c:ser>
          <c:idx val="1"/>
          <c:order val="1"/>
          <c:tx>
            <c:strRef>
              <c:f>Sheet1!$C$1</c:f>
              <c:strCache>
                <c:ptCount val="1"/>
                <c:pt idx="0">
                  <c:v>S&amp;P 500</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52514E"/>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Sheet1!$A$2:$A$240</c:f>
              <c:multiLvlStrCache>
                <c:ptCount val="239"/>
                <c:lvl>
                  <c:pt idx="0">
                    <c:v>2007</c:v>
                  </c:pt>
                  <c:pt idx="1">
                    <c:v>2007</c:v>
                  </c:pt>
                  <c:pt idx="2">
                    <c:v>2007</c:v>
                  </c:pt>
                  <c:pt idx="3">
                    <c:v>2007</c:v>
                  </c:pt>
                  <c:pt idx="4">
                    <c:v>2007</c:v>
                  </c:pt>
                  <c:pt idx="5">
                    <c:v>2007</c:v>
                  </c:pt>
                  <c:pt idx="6">
                    <c:v>2007</c:v>
                  </c:pt>
                  <c:pt idx="7">
                    <c:v>2007</c:v>
                  </c:pt>
                  <c:pt idx="8">
                    <c:v>2007</c:v>
                  </c:pt>
                  <c:pt idx="9">
                    <c:v>2007</c:v>
                  </c:pt>
                  <c:pt idx="10">
                    <c:v>2007</c:v>
                  </c:pt>
                  <c:pt idx="11">
                    <c:v>2007</c:v>
                  </c:pt>
                  <c:pt idx="12">
                    <c:v>2008</c:v>
                  </c:pt>
                  <c:pt idx="13">
                    <c:v>2008</c:v>
                  </c:pt>
                  <c:pt idx="14">
                    <c:v>2008</c:v>
                  </c:pt>
                  <c:pt idx="15">
                    <c:v>2008</c:v>
                  </c:pt>
                  <c:pt idx="16">
                    <c:v>2008</c:v>
                  </c:pt>
                  <c:pt idx="17">
                    <c:v>2008</c:v>
                  </c:pt>
                  <c:pt idx="18">
                    <c:v>2008</c:v>
                  </c:pt>
                  <c:pt idx="19">
                    <c:v>2008</c:v>
                  </c:pt>
                  <c:pt idx="20">
                    <c:v>2008</c:v>
                  </c:pt>
                  <c:pt idx="21">
                    <c:v>2008</c:v>
                  </c:pt>
                  <c:pt idx="22">
                    <c:v>2008</c:v>
                  </c:pt>
                  <c:pt idx="23">
                    <c:v>2008</c:v>
                  </c:pt>
                  <c:pt idx="24">
                    <c:v>2009</c:v>
                  </c:pt>
                  <c:pt idx="25">
                    <c:v>2009</c:v>
                  </c:pt>
                  <c:pt idx="26">
                    <c:v>2009</c:v>
                  </c:pt>
                  <c:pt idx="27">
                    <c:v>2009</c:v>
                  </c:pt>
                  <c:pt idx="28">
                    <c:v>2009</c:v>
                  </c:pt>
                  <c:pt idx="29">
                    <c:v>2009</c:v>
                  </c:pt>
                  <c:pt idx="30">
                    <c:v>2009</c:v>
                  </c:pt>
                  <c:pt idx="31">
                    <c:v>2009</c:v>
                  </c:pt>
                  <c:pt idx="32">
                    <c:v>2009</c:v>
                  </c:pt>
                  <c:pt idx="33">
                    <c:v>2009</c:v>
                  </c:pt>
                  <c:pt idx="34">
                    <c:v>2009</c:v>
                  </c:pt>
                  <c:pt idx="35">
                    <c:v>2009</c:v>
                  </c:pt>
                  <c:pt idx="36">
                    <c:v>2010</c:v>
                  </c:pt>
                  <c:pt idx="37">
                    <c:v>2010</c:v>
                  </c:pt>
                  <c:pt idx="38">
                    <c:v>2010</c:v>
                  </c:pt>
                  <c:pt idx="39">
                    <c:v>2010</c:v>
                  </c:pt>
                  <c:pt idx="40">
                    <c:v>2010</c:v>
                  </c:pt>
                  <c:pt idx="41">
                    <c:v>2010</c:v>
                  </c:pt>
                  <c:pt idx="42">
                    <c:v>2010</c:v>
                  </c:pt>
                  <c:pt idx="43">
                    <c:v>2010</c:v>
                  </c:pt>
                  <c:pt idx="44">
                    <c:v>2010</c:v>
                  </c:pt>
                  <c:pt idx="45">
                    <c:v>2010</c:v>
                  </c:pt>
                  <c:pt idx="46">
                    <c:v>2010</c:v>
                  </c:pt>
                  <c:pt idx="47">
                    <c:v>2010</c:v>
                  </c:pt>
                  <c:pt idx="48">
                    <c:v>2011</c:v>
                  </c:pt>
                  <c:pt idx="49">
                    <c:v>2011</c:v>
                  </c:pt>
                  <c:pt idx="50">
                    <c:v>2011</c:v>
                  </c:pt>
                  <c:pt idx="51">
                    <c:v>2011</c:v>
                  </c:pt>
                  <c:pt idx="52">
                    <c:v>2011</c:v>
                  </c:pt>
                  <c:pt idx="53">
                    <c:v>2011</c:v>
                  </c:pt>
                  <c:pt idx="54">
                    <c:v>2011</c:v>
                  </c:pt>
                  <c:pt idx="55">
                    <c:v>2011</c:v>
                  </c:pt>
                  <c:pt idx="56">
                    <c:v>2011</c:v>
                  </c:pt>
                  <c:pt idx="57">
                    <c:v>2011</c:v>
                  </c:pt>
                  <c:pt idx="58">
                    <c:v>2011</c:v>
                  </c:pt>
                  <c:pt idx="59">
                    <c:v>2011</c:v>
                  </c:pt>
                  <c:pt idx="60">
                    <c:v>2012</c:v>
                  </c:pt>
                  <c:pt idx="61">
                    <c:v>2012</c:v>
                  </c:pt>
                  <c:pt idx="62">
                    <c:v>2012</c:v>
                  </c:pt>
                  <c:pt idx="63">
                    <c:v>2012</c:v>
                  </c:pt>
                  <c:pt idx="64">
                    <c:v>2012</c:v>
                  </c:pt>
                  <c:pt idx="65">
                    <c:v>2012</c:v>
                  </c:pt>
                  <c:pt idx="66">
                    <c:v>2012</c:v>
                  </c:pt>
                  <c:pt idx="67">
                    <c:v>2012</c:v>
                  </c:pt>
                  <c:pt idx="68">
                    <c:v>2012</c:v>
                  </c:pt>
                  <c:pt idx="69">
                    <c:v>2012</c:v>
                  </c:pt>
                  <c:pt idx="70">
                    <c:v>2012</c:v>
                  </c:pt>
                  <c:pt idx="71">
                    <c:v>2012</c:v>
                  </c:pt>
                  <c:pt idx="72">
                    <c:v>2013</c:v>
                  </c:pt>
                  <c:pt idx="73">
                    <c:v>2013</c:v>
                  </c:pt>
                  <c:pt idx="74">
                    <c:v>2013</c:v>
                  </c:pt>
                  <c:pt idx="75">
                    <c:v>2013</c:v>
                  </c:pt>
                  <c:pt idx="76">
                    <c:v>2013</c:v>
                  </c:pt>
                  <c:pt idx="77">
                    <c:v>2013</c:v>
                  </c:pt>
                  <c:pt idx="78">
                    <c:v>2013</c:v>
                  </c:pt>
                  <c:pt idx="79">
                    <c:v>2013</c:v>
                  </c:pt>
                  <c:pt idx="80">
                    <c:v>2013</c:v>
                  </c:pt>
                  <c:pt idx="81">
                    <c:v>2013</c:v>
                  </c:pt>
                  <c:pt idx="82">
                    <c:v>2013</c:v>
                  </c:pt>
                  <c:pt idx="83">
                    <c:v>2013</c:v>
                  </c:pt>
                  <c:pt idx="84">
                    <c:v>2014</c:v>
                  </c:pt>
                  <c:pt idx="85">
                    <c:v>2014</c:v>
                  </c:pt>
                  <c:pt idx="86">
                    <c:v>2014</c:v>
                  </c:pt>
                  <c:pt idx="87">
                    <c:v>2014</c:v>
                  </c:pt>
                  <c:pt idx="88">
                    <c:v>2014</c:v>
                  </c:pt>
                  <c:pt idx="89">
                    <c:v>2014</c:v>
                  </c:pt>
                  <c:pt idx="90">
                    <c:v>2014</c:v>
                  </c:pt>
                  <c:pt idx="91">
                    <c:v>2014</c:v>
                  </c:pt>
                  <c:pt idx="92">
                    <c:v>2014</c:v>
                  </c:pt>
                  <c:pt idx="93">
                    <c:v>2014</c:v>
                  </c:pt>
                  <c:pt idx="94">
                    <c:v>2014</c:v>
                  </c:pt>
                  <c:pt idx="95">
                    <c:v>2014</c:v>
                  </c:pt>
                  <c:pt idx="96">
                    <c:v>2015</c:v>
                  </c:pt>
                  <c:pt idx="97">
                    <c:v>2015</c:v>
                  </c:pt>
                  <c:pt idx="98">
                    <c:v>2015</c:v>
                  </c:pt>
                  <c:pt idx="99">
                    <c:v>2015</c:v>
                  </c:pt>
                  <c:pt idx="100">
                    <c:v>2015</c:v>
                  </c:pt>
                  <c:pt idx="101">
                    <c:v>2015</c:v>
                  </c:pt>
                  <c:pt idx="102">
                    <c:v>2015</c:v>
                  </c:pt>
                  <c:pt idx="103">
                    <c:v>2015</c:v>
                  </c:pt>
                  <c:pt idx="104">
                    <c:v>2015</c:v>
                  </c:pt>
                  <c:pt idx="105">
                    <c:v>2015</c:v>
                  </c:pt>
                  <c:pt idx="106">
                    <c:v>2015</c:v>
                  </c:pt>
                  <c:pt idx="107">
                    <c:v>2015</c:v>
                  </c:pt>
                  <c:pt idx="108">
                    <c:v>2016</c:v>
                  </c:pt>
                  <c:pt idx="109">
                    <c:v>2016</c:v>
                  </c:pt>
                  <c:pt idx="110">
                    <c:v>2016</c:v>
                  </c:pt>
                  <c:pt idx="111">
                    <c:v>2016</c:v>
                  </c:pt>
                  <c:pt idx="112">
                    <c:v>2016</c:v>
                  </c:pt>
                  <c:pt idx="113">
                    <c:v>2016</c:v>
                  </c:pt>
                  <c:pt idx="114">
                    <c:v>2016</c:v>
                  </c:pt>
                  <c:pt idx="115">
                    <c:v>2016</c:v>
                  </c:pt>
                  <c:pt idx="116">
                    <c:v>2016</c:v>
                  </c:pt>
                  <c:pt idx="117">
                    <c:v>2016</c:v>
                  </c:pt>
                  <c:pt idx="118">
                    <c:v>2016</c:v>
                  </c:pt>
                  <c:pt idx="119">
                    <c:v>2016</c:v>
                  </c:pt>
                  <c:pt idx="120">
                    <c:v>2017</c:v>
                  </c:pt>
                  <c:pt idx="121">
                    <c:v>2017</c:v>
                  </c:pt>
                  <c:pt idx="122">
                    <c:v>2017</c:v>
                  </c:pt>
                  <c:pt idx="123">
                    <c:v>2017</c:v>
                  </c:pt>
                  <c:pt idx="124">
                    <c:v>2017</c:v>
                  </c:pt>
                  <c:pt idx="125">
                    <c:v>2017</c:v>
                  </c:pt>
                  <c:pt idx="126">
                    <c:v>2017</c:v>
                  </c:pt>
                  <c:pt idx="127">
                    <c:v>2017</c:v>
                  </c:pt>
                  <c:pt idx="128">
                    <c:v>2017</c:v>
                  </c:pt>
                  <c:pt idx="129">
                    <c:v>2017</c:v>
                  </c:pt>
                  <c:pt idx="130">
                    <c:v>2017</c:v>
                  </c:pt>
                  <c:pt idx="131">
                    <c:v>2017</c:v>
                  </c:pt>
                  <c:pt idx="132">
                    <c:v>2018</c:v>
                  </c:pt>
                  <c:pt idx="133">
                    <c:v>2018</c:v>
                  </c:pt>
                  <c:pt idx="134">
                    <c:v>2018</c:v>
                  </c:pt>
                  <c:pt idx="135">
                    <c:v>2018</c:v>
                  </c:pt>
                  <c:pt idx="136">
                    <c:v>2018</c:v>
                  </c:pt>
                  <c:pt idx="137">
                    <c:v>2018</c:v>
                  </c:pt>
                  <c:pt idx="138">
                    <c:v>2018</c:v>
                  </c:pt>
                  <c:pt idx="139">
                    <c:v>2018</c:v>
                  </c:pt>
                  <c:pt idx="140">
                    <c:v>2018</c:v>
                  </c:pt>
                  <c:pt idx="141">
                    <c:v>2018</c:v>
                  </c:pt>
                  <c:pt idx="142">
                    <c:v>2018</c:v>
                  </c:pt>
                  <c:pt idx="143">
                    <c:v>2018</c:v>
                  </c:pt>
                  <c:pt idx="144">
                    <c:v>2019</c:v>
                  </c:pt>
                  <c:pt idx="145">
                    <c:v>2019</c:v>
                  </c:pt>
                  <c:pt idx="146">
                    <c:v>2019</c:v>
                  </c:pt>
                  <c:pt idx="147">
                    <c:v>2019</c:v>
                  </c:pt>
                  <c:pt idx="148">
                    <c:v>2019</c:v>
                  </c:pt>
                  <c:pt idx="149">
                    <c:v>2019</c:v>
                  </c:pt>
                  <c:pt idx="150">
                    <c:v>2019</c:v>
                  </c:pt>
                  <c:pt idx="151">
                    <c:v>2019</c:v>
                  </c:pt>
                  <c:pt idx="152">
                    <c:v>2019</c:v>
                  </c:pt>
                  <c:pt idx="153">
                    <c:v>2019</c:v>
                  </c:pt>
                  <c:pt idx="154">
                    <c:v>2019</c:v>
                  </c:pt>
                  <c:pt idx="155">
                    <c:v>2019</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2021</c:v>
                  </c:pt>
                  <c:pt idx="169">
                    <c:v>2021</c:v>
                  </c:pt>
                  <c:pt idx="170">
                    <c:v>2021</c:v>
                  </c:pt>
                  <c:pt idx="171">
                    <c:v>2021</c:v>
                  </c:pt>
                  <c:pt idx="172">
                    <c:v>2021</c:v>
                  </c:pt>
                  <c:pt idx="173">
                    <c:v>2021</c:v>
                  </c:pt>
                  <c:pt idx="174">
                    <c:v>2021</c:v>
                  </c:pt>
                  <c:pt idx="175">
                    <c:v>2021</c:v>
                  </c:pt>
                  <c:pt idx="176">
                    <c:v>2021</c:v>
                  </c:pt>
                  <c:pt idx="177">
                    <c:v>2021</c:v>
                  </c:pt>
                  <c:pt idx="178">
                    <c:v>2021</c:v>
                  </c:pt>
                  <c:pt idx="179">
                    <c:v>2021</c:v>
                  </c:pt>
                  <c:pt idx="180">
                    <c:v>2022</c:v>
                  </c:pt>
                  <c:pt idx="181">
                    <c:v>2022</c:v>
                  </c:pt>
                  <c:pt idx="182">
                    <c:v>2022</c:v>
                  </c:pt>
                  <c:pt idx="183">
                    <c:v>2022</c:v>
                  </c:pt>
                  <c:pt idx="184">
                    <c:v>2022</c:v>
                  </c:pt>
                  <c:pt idx="185">
                    <c:v>2022</c:v>
                  </c:pt>
                  <c:pt idx="186">
                    <c:v>2022</c:v>
                  </c:pt>
                  <c:pt idx="187">
                    <c:v>2022</c:v>
                  </c:pt>
                  <c:pt idx="188">
                    <c:v>2022</c:v>
                  </c:pt>
                  <c:pt idx="189">
                    <c:v>2022</c:v>
                  </c:pt>
                  <c:pt idx="190">
                    <c:v>2022</c:v>
                  </c:pt>
                  <c:pt idx="191">
                    <c:v>2022</c:v>
                  </c:pt>
                  <c:pt idx="192">
                    <c:v>2023</c:v>
                  </c:pt>
                  <c:pt idx="193">
                    <c:v>2023</c:v>
                  </c:pt>
                  <c:pt idx="194">
                    <c:v>2023</c:v>
                  </c:pt>
                  <c:pt idx="195">
                    <c:v>2023</c:v>
                  </c:pt>
                  <c:pt idx="196">
                    <c:v>2023</c:v>
                  </c:pt>
                  <c:pt idx="197">
                    <c:v>2023</c:v>
                  </c:pt>
                  <c:pt idx="198">
                    <c:v>2023</c:v>
                  </c:pt>
                  <c:pt idx="199">
                    <c:v>2023</c:v>
                  </c:pt>
                  <c:pt idx="200">
                    <c:v>2023</c:v>
                  </c:pt>
                  <c:pt idx="201">
                    <c:v>2023</c:v>
                  </c:pt>
                  <c:pt idx="202">
                    <c:v>2023</c:v>
                  </c:pt>
                  <c:pt idx="203">
                    <c:v>2023</c:v>
                  </c:pt>
                  <c:pt idx="204">
                    <c:v>2024</c:v>
                  </c:pt>
                  <c:pt idx="205">
                    <c:v>2024</c:v>
                  </c:pt>
                  <c:pt idx="206">
                    <c:v>2024</c:v>
                  </c:pt>
                  <c:pt idx="207">
                    <c:v>2024</c:v>
                  </c:pt>
                  <c:pt idx="208">
                    <c:v>2024</c:v>
                  </c:pt>
                  <c:pt idx="209">
                    <c:v>2024</c:v>
                  </c:pt>
                  <c:pt idx="210">
                    <c:v>2024</c:v>
                  </c:pt>
                  <c:pt idx="211">
                    <c:v>2024</c:v>
                  </c:pt>
                  <c:pt idx="212">
                    <c:v>2024</c:v>
                  </c:pt>
                  <c:pt idx="213">
                    <c:v>2024</c:v>
                  </c:pt>
                  <c:pt idx="214">
                    <c:v>2024</c:v>
                  </c:pt>
                  <c:pt idx="215">
                    <c:v>2024</c:v>
                  </c:pt>
                  <c:pt idx="216">
                    <c:v>2025</c:v>
                  </c:pt>
                  <c:pt idx="217">
                    <c:v>2025</c:v>
                  </c:pt>
                  <c:pt idx="218">
                    <c:v>2025</c:v>
                  </c:pt>
                  <c:pt idx="219">
                    <c:v>2025</c:v>
                  </c:pt>
                  <c:pt idx="220">
                    <c:v>2025</c:v>
                  </c:pt>
                  <c:pt idx="221">
                    <c:v>2025</c:v>
                  </c:pt>
                  <c:pt idx="222">
                    <c:v>2025</c:v>
                  </c:pt>
                  <c:pt idx="223">
                    <c:v>2025</c:v>
                  </c:pt>
                  <c:pt idx="224">
                    <c:v>2025</c:v>
                  </c:pt>
                  <c:pt idx="225">
                    <c:v>2025</c:v>
                  </c:pt>
                  <c:pt idx="226">
                    <c:v>2025</c:v>
                  </c:pt>
                  <c:pt idx="227">
                    <c:v>2025</c:v>
                  </c:pt>
                  <c:pt idx="228">
                    <c:v>2026</c:v>
                  </c:pt>
                  <c:pt idx="229">
                    <c:v>2026</c:v>
                  </c:pt>
                  <c:pt idx="230">
                    <c:v>2026</c:v>
                  </c:pt>
                  <c:pt idx="231">
                    <c:v>2026</c:v>
                  </c:pt>
                  <c:pt idx="232">
                    <c:v>2026</c:v>
                  </c:pt>
                  <c:pt idx="233">
                    <c:v>2026</c:v>
                  </c:pt>
                  <c:pt idx="234">
                    <c:v>2026</c:v>
                  </c:pt>
                  <c:pt idx="235">
                    <c:v>2026</c:v>
                  </c:pt>
                  <c:pt idx="236">
                    <c:v>2026</c:v>
                  </c:pt>
                  <c:pt idx="237">
                    <c:v>2026</c:v>
                  </c:pt>
                  <c:pt idx="238">
                    <c:v>2026</c:v>
                  </c:pt>
                </c:lvl>
              </c:multiLvlStrCache>
            </c:multiLvlStrRef>
          </c:cat>
          <c:val>
            <c:numRef>
              <c:f>Sheet1!$C$2:$C$240</c:f>
              <c:numCache>
                <c:formatCode>General</c:formatCode>
                <c:ptCount val="239"/>
                <c:pt idx="0">
                  <c:v>1</c:v>
                </c:pt>
                <c:pt idx="1">
                  <c:v>1.02</c:v>
                </c:pt>
                <c:pt idx="2">
                  <c:v>0.99</c:v>
                </c:pt>
                <c:pt idx="3">
                  <c:v>1.01</c:v>
                </c:pt>
                <c:pt idx="4">
                  <c:v>1.06</c:v>
                </c:pt>
                <c:pt idx="5">
                  <c:v>1.09</c:v>
                </c:pt>
                <c:pt idx="6">
                  <c:v>1.08</c:v>
                </c:pt>
                <c:pt idx="7">
                  <c:v>1.04</c:v>
                </c:pt>
                <c:pt idx="8">
                  <c:v>1.06</c:v>
                </c:pt>
                <c:pt idx="9">
                  <c:v>1.11</c:v>
                </c:pt>
                <c:pt idx="10">
                  <c:v>1.08</c:v>
                </c:pt>
                <c:pt idx="11">
                  <c:v>1.06</c:v>
                </c:pt>
                <c:pt idx="12">
                  <c:v>1.04</c:v>
                </c:pt>
                <c:pt idx="13">
                  <c:v>1.01</c:v>
                </c:pt>
                <c:pt idx="14">
                  <c:v>0.96</c:v>
                </c:pt>
                <c:pt idx="15">
                  <c:v>0.99</c:v>
                </c:pt>
                <c:pt idx="16">
                  <c:v>1.02</c:v>
                </c:pt>
                <c:pt idx="17">
                  <c:v>1.01</c:v>
                </c:pt>
                <c:pt idx="18">
                  <c:v>0.93</c:v>
                </c:pt>
                <c:pt idx="19">
                  <c:v>0.92</c:v>
                </c:pt>
                <c:pt idx="20">
                  <c:v>0.93</c:v>
                </c:pt>
                <c:pt idx="21">
                  <c:v>0.85</c:v>
                </c:pt>
                <c:pt idx="22">
                  <c:v>0.71</c:v>
                </c:pt>
                <c:pt idx="23">
                  <c:v>0.6</c:v>
                </c:pt>
                <c:pt idx="24">
                  <c:v>0.69</c:v>
                </c:pt>
                <c:pt idx="25">
                  <c:v>0.61</c:v>
                </c:pt>
                <c:pt idx="26">
                  <c:v>0.52</c:v>
                </c:pt>
                <c:pt idx="27">
                  <c:v>0.6</c:v>
                </c:pt>
                <c:pt idx="28">
                  <c:v>0.65</c:v>
                </c:pt>
                <c:pt idx="29">
                  <c:v>0.7</c:v>
                </c:pt>
                <c:pt idx="30">
                  <c:v>0.69</c:v>
                </c:pt>
                <c:pt idx="31">
                  <c:v>0.75</c:v>
                </c:pt>
                <c:pt idx="32">
                  <c:v>0.75</c:v>
                </c:pt>
                <c:pt idx="33">
                  <c:v>0.77</c:v>
                </c:pt>
                <c:pt idx="34">
                  <c:v>0.78</c:v>
                </c:pt>
                <c:pt idx="35">
                  <c:v>0.84</c:v>
                </c:pt>
                <c:pt idx="36">
                  <c:v>0.86</c:v>
                </c:pt>
                <c:pt idx="37">
                  <c:v>0.82</c:v>
                </c:pt>
                <c:pt idx="38">
                  <c:v>0.84</c:v>
                </c:pt>
                <c:pt idx="39">
                  <c:v>0.89</c:v>
                </c:pt>
                <c:pt idx="40">
                  <c:v>0.91</c:v>
                </c:pt>
                <c:pt idx="41">
                  <c:v>0.82</c:v>
                </c:pt>
                <c:pt idx="42">
                  <c:v>0.78</c:v>
                </c:pt>
                <c:pt idx="43">
                  <c:v>0.86</c:v>
                </c:pt>
                <c:pt idx="44">
                  <c:v>0.83</c:v>
                </c:pt>
                <c:pt idx="45">
                  <c:v>0.88</c:v>
                </c:pt>
                <c:pt idx="46">
                  <c:v>0.91</c:v>
                </c:pt>
                <c:pt idx="47">
                  <c:v>0.93</c:v>
                </c:pt>
                <c:pt idx="48">
                  <c:v>0.98</c:v>
                </c:pt>
                <c:pt idx="49">
                  <c:v>1.01</c:v>
                </c:pt>
                <c:pt idx="50">
                  <c:v>1.01</c:v>
                </c:pt>
                <c:pt idx="51">
                  <c:v>1.03</c:v>
                </c:pt>
                <c:pt idx="52">
                  <c:v>1.05</c:v>
                </c:pt>
                <c:pt idx="53">
                  <c:v>1.02</c:v>
                </c:pt>
                <c:pt idx="54">
                  <c:v>1.04</c:v>
                </c:pt>
                <c:pt idx="55">
                  <c:v>1</c:v>
                </c:pt>
                <c:pt idx="56">
                  <c:v>0.94</c:v>
                </c:pt>
                <c:pt idx="57">
                  <c:v>0.86</c:v>
                </c:pt>
                <c:pt idx="58">
                  <c:v>0.95</c:v>
                </c:pt>
                <c:pt idx="59">
                  <c:v>0.98</c:v>
                </c:pt>
                <c:pt idx="60">
                  <c:v>1</c:v>
                </c:pt>
                <c:pt idx="61">
                  <c:v>1.04</c:v>
                </c:pt>
                <c:pt idx="62">
                  <c:v>1.08</c:v>
                </c:pt>
                <c:pt idx="63">
                  <c:v>1.12</c:v>
                </c:pt>
                <c:pt idx="64">
                  <c:v>1.11</c:v>
                </c:pt>
                <c:pt idx="65">
                  <c:v>1.01</c:v>
                </c:pt>
                <c:pt idx="66">
                  <c:v>1.08</c:v>
                </c:pt>
                <c:pt idx="67">
                  <c:v>1.09</c:v>
                </c:pt>
                <c:pt idx="68">
                  <c:v>1.12</c:v>
                </c:pt>
                <c:pt idx="69">
                  <c:v>1.15</c:v>
                </c:pt>
                <c:pt idx="70">
                  <c:v>1.14</c:v>
                </c:pt>
                <c:pt idx="71">
                  <c:v>1.13</c:v>
                </c:pt>
                <c:pt idx="72">
                  <c:v>1.17</c:v>
                </c:pt>
                <c:pt idx="73">
                  <c:v>1.21</c:v>
                </c:pt>
                <c:pt idx="74">
                  <c:v>1.22</c:v>
                </c:pt>
                <c:pt idx="75">
                  <c:v>1.26</c:v>
                </c:pt>
                <c:pt idx="76">
                  <c:v>1.28</c:v>
                </c:pt>
                <c:pt idx="77">
                  <c:v>1.33</c:v>
                </c:pt>
                <c:pt idx="78">
                  <c:v>1.31</c:v>
                </c:pt>
                <c:pt idx="79">
                  <c:v>1.38</c:v>
                </c:pt>
                <c:pt idx="80">
                  <c:v>1.33</c:v>
                </c:pt>
                <c:pt idx="81">
                  <c:v>1.38</c:v>
                </c:pt>
                <c:pt idx="82">
                  <c:v>1.44</c:v>
                </c:pt>
                <c:pt idx="83">
                  <c:v>1.47</c:v>
                </c:pt>
                <c:pt idx="84">
                  <c:v>1.5</c:v>
                </c:pt>
                <c:pt idx="85">
                  <c:v>1.43</c:v>
                </c:pt>
                <c:pt idx="86">
                  <c:v>1.52</c:v>
                </c:pt>
                <c:pt idx="87">
                  <c:v>1.55</c:v>
                </c:pt>
                <c:pt idx="88">
                  <c:v>1.55</c:v>
                </c:pt>
                <c:pt idx="89">
                  <c:v>1.59</c:v>
                </c:pt>
                <c:pt idx="90">
                  <c:v>1.63</c:v>
                </c:pt>
                <c:pt idx="91">
                  <c:v>1.59</c:v>
                </c:pt>
                <c:pt idx="92">
                  <c:v>1.66</c:v>
                </c:pt>
                <c:pt idx="93">
                  <c:v>1.61</c:v>
                </c:pt>
                <c:pt idx="94">
                  <c:v>1.68</c:v>
                </c:pt>
                <c:pt idx="95">
                  <c:v>1.71</c:v>
                </c:pt>
                <c:pt idx="96">
                  <c:v>1.72</c:v>
                </c:pt>
                <c:pt idx="97">
                  <c:v>1.69</c:v>
                </c:pt>
                <c:pt idx="98">
                  <c:v>1.77</c:v>
                </c:pt>
                <c:pt idx="99">
                  <c:v>1.73</c:v>
                </c:pt>
                <c:pt idx="100">
                  <c:v>1.77</c:v>
                </c:pt>
                <c:pt idx="101">
                  <c:v>1.78</c:v>
                </c:pt>
                <c:pt idx="102">
                  <c:v>1.75</c:v>
                </c:pt>
                <c:pt idx="103">
                  <c:v>1.77</c:v>
                </c:pt>
                <c:pt idx="104">
                  <c:v>1.62</c:v>
                </c:pt>
                <c:pt idx="105">
                  <c:v>1.63</c:v>
                </c:pt>
                <c:pt idx="106">
                  <c:v>1.78</c:v>
                </c:pt>
                <c:pt idx="107">
                  <c:v>1.79</c:v>
                </c:pt>
                <c:pt idx="108">
                  <c:v>1.71</c:v>
                </c:pt>
                <c:pt idx="109">
                  <c:v>1.65</c:v>
                </c:pt>
                <c:pt idx="110">
                  <c:v>1.69</c:v>
                </c:pt>
                <c:pt idx="111">
                  <c:v>1.77</c:v>
                </c:pt>
                <c:pt idx="112">
                  <c:v>1.78</c:v>
                </c:pt>
                <c:pt idx="113">
                  <c:v>1.8</c:v>
                </c:pt>
                <c:pt idx="114">
                  <c:v>1.81</c:v>
                </c:pt>
                <c:pt idx="115">
                  <c:v>1.87</c:v>
                </c:pt>
                <c:pt idx="116">
                  <c:v>1.87</c:v>
                </c:pt>
                <c:pt idx="117">
                  <c:v>1.87</c:v>
                </c:pt>
                <c:pt idx="118">
                  <c:v>1.83</c:v>
                </c:pt>
                <c:pt idx="119">
                  <c:v>1.9</c:v>
                </c:pt>
                <c:pt idx="120">
                  <c:v>1.96</c:v>
                </c:pt>
                <c:pt idx="121">
                  <c:v>1.98</c:v>
                </c:pt>
                <c:pt idx="122">
                  <c:v>2.09</c:v>
                </c:pt>
                <c:pt idx="123">
                  <c:v>2.06</c:v>
                </c:pt>
                <c:pt idx="124">
                  <c:v>2.09</c:v>
                </c:pt>
                <c:pt idx="125">
                  <c:v>2.13</c:v>
                </c:pt>
                <c:pt idx="126">
                  <c:v>2.13</c:v>
                </c:pt>
                <c:pt idx="127">
                  <c:v>2.17</c:v>
                </c:pt>
                <c:pt idx="128">
                  <c:v>2.18</c:v>
                </c:pt>
                <c:pt idx="129">
                  <c:v>2.23</c:v>
                </c:pt>
                <c:pt idx="130">
                  <c:v>2.27</c:v>
                </c:pt>
                <c:pt idx="131">
                  <c:v>2.34</c:v>
                </c:pt>
                <c:pt idx="132">
                  <c:v>2.39</c:v>
                </c:pt>
                <c:pt idx="133">
                  <c:v>2.5</c:v>
                </c:pt>
                <c:pt idx="134">
                  <c:v>2.38</c:v>
                </c:pt>
                <c:pt idx="135">
                  <c:v>2.3</c:v>
                </c:pt>
                <c:pt idx="136">
                  <c:v>2.36</c:v>
                </c:pt>
                <c:pt idx="137">
                  <c:v>2.44</c:v>
                </c:pt>
                <c:pt idx="138">
                  <c:v>2.43</c:v>
                </c:pt>
                <c:pt idx="139">
                  <c:v>2.52</c:v>
                </c:pt>
                <c:pt idx="140">
                  <c:v>2.6</c:v>
                </c:pt>
                <c:pt idx="141">
                  <c:v>2.62</c:v>
                </c:pt>
                <c:pt idx="142">
                  <c:v>2.46</c:v>
                </c:pt>
                <c:pt idx="143">
                  <c:v>2.51</c:v>
                </c:pt>
                <c:pt idx="144">
                  <c:v>2.26</c:v>
                </c:pt>
                <c:pt idx="145">
                  <c:v>2.44</c:v>
                </c:pt>
                <c:pt idx="146">
                  <c:v>2.54</c:v>
                </c:pt>
                <c:pt idx="147">
                  <c:v>2.6</c:v>
                </c:pt>
                <c:pt idx="148">
                  <c:v>2.65</c:v>
                </c:pt>
                <c:pt idx="149">
                  <c:v>2.5</c:v>
                </c:pt>
                <c:pt idx="150">
                  <c:v>2.7</c:v>
                </c:pt>
                <c:pt idx="151">
                  <c:v>2.69</c:v>
                </c:pt>
                <c:pt idx="152">
                  <c:v>2.66</c:v>
                </c:pt>
                <c:pt idx="153">
                  <c:v>2.69</c:v>
                </c:pt>
                <c:pt idx="154">
                  <c:v>2.81</c:v>
                </c:pt>
                <c:pt idx="155">
                  <c:v>2.86</c:v>
                </c:pt>
                <c:pt idx="156">
                  <c:v>3</c:v>
                </c:pt>
                <c:pt idx="157">
                  <c:v>2.99</c:v>
                </c:pt>
                <c:pt idx="158">
                  <c:v>2.85</c:v>
                </c:pt>
                <c:pt idx="159">
                  <c:v>2.28</c:v>
                </c:pt>
                <c:pt idx="160">
                  <c:v>2.62</c:v>
                </c:pt>
                <c:pt idx="161">
                  <c:v>2.83</c:v>
                </c:pt>
                <c:pt idx="162">
                  <c:v>2.89</c:v>
                </c:pt>
                <c:pt idx="163">
                  <c:v>3.06</c:v>
                </c:pt>
                <c:pt idx="164">
                  <c:v>3.28</c:v>
                </c:pt>
                <c:pt idx="165">
                  <c:v>3.15</c:v>
                </c:pt>
                <c:pt idx="166">
                  <c:v>3.09</c:v>
                </c:pt>
                <c:pt idx="167">
                  <c:v>3.42</c:v>
                </c:pt>
                <c:pt idx="168">
                  <c:v>3.46</c:v>
                </c:pt>
                <c:pt idx="169">
                  <c:v>3.53</c:v>
                </c:pt>
                <c:pt idx="170">
                  <c:v>3.66</c:v>
                </c:pt>
                <c:pt idx="171">
                  <c:v>3.77</c:v>
                </c:pt>
                <c:pt idx="172">
                  <c:v>3.94</c:v>
                </c:pt>
                <c:pt idx="173">
                  <c:v>3.95</c:v>
                </c:pt>
                <c:pt idx="174">
                  <c:v>4.07</c:v>
                </c:pt>
                <c:pt idx="175">
                  <c:v>4.14</c:v>
                </c:pt>
                <c:pt idx="176">
                  <c:v>4.27</c:v>
                </c:pt>
                <c:pt idx="177">
                  <c:v>4.12</c:v>
                </c:pt>
                <c:pt idx="178">
                  <c:v>4.36</c:v>
                </c:pt>
                <c:pt idx="179">
                  <c:v>4.27</c:v>
                </c:pt>
                <c:pt idx="180">
                  <c:v>4.55</c:v>
                </c:pt>
                <c:pt idx="181">
                  <c:v>4.31</c:v>
                </c:pt>
                <c:pt idx="182">
                  <c:v>4.09</c:v>
                </c:pt>
                <c:pt idx="183">
                  <c:v>4.32</c:v>
                </c:pt>
                <c:pt idx="184">
                  <c:v>3.96</c:v>
                </c:pt>
                <c:pt idx="185">
                  <c:v>3.91</c:v>
                </c:pt>
                <c:pt idx="186">
                  <c:v>3.66</c:v>
                </c:pt>
                <c:pt idx="187">
                  <c:v>3.94</c:v>
                </c:pt>
                <c:pt idx="188">
                  <c:v>3.8</c:v>
                </c:pt>
                <c:pt idx="189">
                  <c:v>3.53</c:v>
                </c:pt>
                <c:pt idx="190">
                  <c:v>3.7</c:v>
                </c:pt>
                <c:pt idx="191">
                  <c:v>3.92</c:v>
                </c:pt>
                <c:pt idx="192">
                  <c:v>3.68</c:v>
                </c:pt>
                <c:pt idx="193">
                  <c:v>3.97</c:v>
                </c:pt>
                <c:pt idx="194">
                  <c:v>3.82</c:v>
                </c:pt>
                <c:pt idx="195">
                  <c:v>3.99</c:v>
                </c:pt>
                <c:pt idx="196">
                  <c:v>4.03</c:v>
                </c:pt>
                <c:pt idx="197">
                  <c:v>4.1</c:v>
                </c:pt>
                <c:pt idx="198">
                  <c:v>4.32</c:v>
                </c:pt>
                <c:pt idx="199">
                  <c:v>4.45</c:v>
                </c:pt>
                <c:pt idx="200">
                  <c:v>4.4</c:v>
                </c:pt>
                <c:pt idx="201">
                  <c:v>4.18</c:v>
                </c:pt>
                <c:pt idx="202">
                  <c:v>4.13</c:v>
                </c:pt>
                <c:pt idx="203">
                  <c:v>4.49</c:v>
                </c:pt>
                <c:pt idx="204">
                  <c:v>4.64</c:v>
                </c:pt>
                <c:pt idx="205">
                  <c:v>4.8</c:v>
                </c:pt>
                <c:pt idx="206">
                  <c:v>5.04</c:v>
                </c:pt>
                <c:pt idx="207">
                  <c:v>5.14</c:v>
                </c:pt>
                <c:pt idx="208">
                  <c:v>4.93</c:v>
                </c:pt>
                <c:pt idx="209">
                  <c:v>5.2</c:v>
                </c:pt>
                <c:pt idx="210">
                  <c:v>5.39</c:v>
                </c:pt>
                <c:pt idx="211">
                  <c:v>5.37</c:v>
                </c:pt>
                <c:pt idx="212">
                  <c:v>5.45</c:v>
                </c:pt>
                <c:pt idx="213">
                  <c:v>5.64</c:v>
                </c:pt>
                <c:pt idx="214">
                  <c:v>5.66</c:v>
                </c:pt>
                <c:pt idx="215">
                  <c:v>5.98</c:v>
                </c:pt>
                <c:pt idx="216">
                  <c:v>5.81</c:v>
                </c:pt>
                <c:pt idx="217">
                  <c:v>5.94</c:v>
                </c:pt>
                <c:pt idx="218">
                  <c:v>5.81</c:v>
                </c:pt>
                <c:pt idx="219">
                  <c:v>5.6</c:v>
                </c:pt>
                <c:pt idx="220">
                  <c:v>5.57</c:v>
                </c:pt>
                <c:pt idx="221">
                  <c:v>5.91</c:v>
                </c:pt>
                <c:pt idx="222">
                  <c:v>6.18</c:v>
                </c:pt>
                <c:pt idx="223">
                  <c:v>6.22</c:v>
                </c:pt>
                <c:pt idx="224">
                  <c:v>6.4</c:v>
                </c:pt>
                <c:pt idx="225">
                  <c:v>6.71</c:v>
                </c:pt>
                <c:pt idx="226">
                  <c:v>6.85</c:v>
                </c:pt>
                <c:pt idx="227">
                  <c:v>6.82</c:v>
                </c:pt>
                <c:pt idx="228">
                  <c:v>6.87</c:v>
                </c:pt>
                <c:pt idx="229">
                  <c:v>7</c:v>
                </c:pt>
                <c:pt idx="230">
                  <c:v>6.91</c:v>
                </c:pt>
                <c:pt idx="231">
                  <c:v>6.61</c:v>
                </c:pt>
                <c:pt idx="232">
                  <c:v>7.27</c:v>
                </c:pt>
                <c:pt idx="233">
                  <c:v>7.65</c:v>
                </c:pt>
                <c:pt idx="234">
                  <c:v>7.54</c:v>
                </c:pt>
                <c:pt idx="235">
                  <c:v>7.66</c:v>
                </c:pt>
                <c:pt idx="236">
                  <c:v>7.7</c:v>
                </c:pt>
                <c:pt idx="237">
                  <c:v>7.75</c:v>
                </c:pt>
                <c:pt idx="238">
                  <c:v>7.75</c:v>
                </c:pt>
              </c:numCache>
            </c:numRef>
          </c:val>
          <c:smooth val="0"/>
        </c:ser>
        <c:ser>
          <c:idx val="2"/>
          <c:order val="2"/>
          <c:tx>
            <c:strRef>
              <c:f>Sheet1!$D$1</c:f>
              <c:strCache>
                <c:ptCount val="1"/>
                <c:pt idx="0">
                  <c:v>60/40</c:v>
                </c:pt>
              </c:strCache>
            </c:strRef>
          </c:tx>
          <c:spPr>
            <a:solidFill>
              <a:srgbClr val="9C9B95"/>
            </a:solidFill>
            <a:ln w="25400" cap="flat">
              <a:solidFill>
                <a:srgbClr val="9C9B95"/>
              </a:solidFill>
              <a:prstDash val="solid"/>
              <a:round/>
            </a:ln>
            <a:effectLst/>
          </c:spPr>
          <c:invertIfNegative val="0"/>
          <c:dLbls>
            <c:numFmt formatCode="#,##0" sourceLinked="0"/>
            <c:txPr>
              <a:bodyPr/>
              <a:lstStyle/>
              <a:p>
                <a:pPr>
                  <a:defRPr b="0" i="0" strike="noStrike" sz="1200" u="none">
                    <a:solidFill>
                      <a:srgbClr val="52514E"/>
                    </a:solidFill>
                    <a:latin typeface="+mn-lt"/>
                  </a:defRPr>
                </a:pPr>
              </a:p>
            </c:txPr>
            <c:showLegendKey val="0"/>
            <c:showVal val="0"/>
            <c:showCatName val="0"/>
            <c:showSerName val="0"/>
            <c:showPercent val="0"/>
            <c:showBubbleSize val="0"/>
            <c:showLeaderLines val="0"/>
          </c:dLbls>
          <c:marker>
            <c:symbol val="none"/>
            <c:size val="6"/>
            <c:spPr>
              <a:solidFill>
                <a:srgbClr val="9C9B95"/>
              </a:solidFill>
              <a:ln w="9525" cap="flat">
                <a:solidFill>
                  <a:srgbClr val="9C9B95"/>
                </a:solidFill>
                <a:prstDash val="solid"/>
                <a:round/>
              </a:ln>
              <a:effectLst/>
            </c:spPr>
          </c:marker>
          <c:cat>
            <c:multiLvlStrRef>
              <c:f>Sheet1!$A$2:$A$240</c:f>
              <c:multiLvlStrCache>
                <c:ptCount val="239"/>
                <c:lvl>
                  <c:pt idx="0">
                    <c:v>2007</c:v>
                  </c:pt>
                  <c:pt idx="1">
                    <c:v>2007</c:v>
                  </c:pt>
                  <c:pt idx="2">
                    <c:v>2007</c:v>
                  </c:pt>
                  <c:pt idx="3">
                    <c:v>2007</c:v>
                  </c:pt>
                  <c:pt idx="4">
                    <c:v>2007</c:v>
                  </c:pt>
                  <c:pt idx="5">
                    <c:v>2007</c:v>
                  </c:pt>
                  <c:pt idx="6">
                    <c:v>2007</c:v>
                  </c:pt>
                  <c:pt idx="7">
                    <c:v>2007</c:v>
                  </c:pt>
                  <c:pt idx="8">
                    <c:v>2007</c:v>
                  </c:pt>
                  <c:pt idx="9">
                    <c:v>2007</c:v>
                  </c:pt>
                  <c:pt idx="10">
                    <c:v>2007</c:v>
                  </c:pt>
                  <c:pt idx="11">
                    <c:v>2007</c:v>
                  </c:pt>
                  <c:pt idx="12">
                    <c:v>2008</c:v>
                  </c:pt>
                  <c:pt idx="13">
                    <c:v>2008</c:v>
                  </c:pt>
                  <c:pt idx="14">
                    <c:v>2008</c:v>
                  </c:pt>
                  <c:pt idx="15">
                    <c:v>2008</c:v>
                  </c:pt>
                  <c:pt idx="16">
                    <c:v>2008</c:v>
                  </c:pt>
                  <c:pt idx="17">
                    <c:v>2008</c:v>
                  </c:pt>
                  <c:pt idx="18">
                    <c:v>2008</c:v>
                  </c:pt>
                  <c:pt idx="19">
                    <c:v>2008</c:v>
                  </c:pt>
                  <c:pt idx="20">
                    <c:v>2008</c:v>
                  </c:pt>
                  <c:pt idx="21">
                    <c:v>2008</c:v>
                  </c:pt>
                  <c:pt idx="22">
                    <c:v>2008</c:v>
                  </c:pt>
                  <c:pt idx="23">
                    <c:v>2008</c:v>
                  </c:pt>
                  <c:pt idx="24">
                    <c:v>2009</c:v>
                  </c:pt>
                  <c:pt idx="25">
                    <c:v>2009</c:v>
                  </c:pt>
                  <c:pt idx="26">
                    <c:v>2009</c:v>
                  </c:pt>
                  <c:pt idx="27">
                    <c:v>2009</c:v>
                  </c:pt>
                  <c:pt idx="28">
                    <c:v>2009</c:v>
                  </c:pt>
                  <c:pt idx="29">
                    <c:v>2009</c:v>
                  </c:pt>
                  <c:pt idx="30">
                    <c:v>2009</c:v>
                  </c:pt>
                  <c:pt idx="31">
                    <c:v>2009</c:v>
                  </c:pt>
                  <c:pt idx="32">
                    <c:v>2009</c:v>
                  </c:pt>
                  <c:pt idx="33">
                    <c:v>2009</c:v>
                  </c:pt>
                  <c:pt idx="34">
                    <c:v>2009</c:v>
                  </c:pt>
                  <c:pt idx="35">
                    <c:v>2009</c:v>
                  </c:pt>
                  <c:pt idx="36">
                    <c:v>2010</c:v>
                  </c:pt>
                  <c:pt idx="37">
                    <c:v>2010</c:v>
                  </c:pt>
                  <c:pt idx="38">
                    <c:v>2010</c:v>
                  </c:pt>
                  <c:pt idx="39">
                    <c:v>2010</c:v>
                  </c:pt>
                  <c:pt idx="40">
                    <c:v>2010</c:v>
                  </c:pt>
                  <c:pt idx="41">
                    <c:v>2010</c:v>
                  </c:pt>
                  <c:pt idx="42">
                    <c:v>2010</c:v>
                  </c:pt>
                  <c:pt idx="43">
                    <c:v>2010</c:v>
                  </c:pt>
                  <c:pt idx="44">
                    <c:v>2010</c:v>
                  </c:pt>
                  <c:pt idx="45">
                    <c:v>2010</c:v>
                  </c:pt>
                  <c:pt idx="46">
                    <c:v>2010</c:v>
                  </c:pt>
                  <c:pt idx="47">
                    <c:v>2010</c:v>
                  </c:pt>
                  <c:pt idx="48">
                    <c:v>2011</c:v>
                  </c:pt>
                  <c:pt idx="49">
                    <c:v>2011</c:v>
                  </c:pt>
                  <c:pt idx="50">
                    <c:v>2011</c:v>
                  </c:pt>
                  <c:pt idx="51">
                    <c:v>2011</c:v>
                  </c:pt>
                  <c:pt idx="52">
                    <c:v>2011</c:v>
                  </c:pt>
                  <c:pt idx="53">
                    <c:v>2011</c:v>
                  </c:pt>
                  <c:pt idx="54">
                    <c:v>2011</c:v>
                  </c:pt>
                  <c:pt idx="55">
                    <c:v>2011</c:v>
                  </c:pt>
                  <c:pt idx="56">
                    <c:v>2011</c:v>
                  </c:pt>
                  <c:pt idx="57">
                    <c:v>2011</c:v>
                  </c:pt>
                  <c:pt idx="58">
                    <c:v>2011</c:v>
                  </c:pt>
                  <c:pt idx="59">
                    <c:v>2011</c:v>
                  </c:pt>
                  <c:pt idx="60">
                    <c:v>2012</c:v>
                  </c:pt>
                  <c:pt idx="61">
                    <c:v>2012</c:v>
                  </c:pt>
                  <c:pt idx="62">
                    <c:v>2012</c:v>
                  </c:pt>
                  <c:pt idx="63">
                    <c:v>2012</c:v>
                  </c:pt>
                  <c:pt idx="64">
                    <c:v>2012</c:v>
                  </c:pt>
                  <c:pt idx="65">
                    <c:v>2012</c:v>
                  </c:pt>
                  <c:pt idx="66">
                    <c:v>2012</c:v>
                  </c:pt>
                  <c:pt idx="67">
                    <c:v>2012</c:v>
                  </c:pt>
                  <c:pt idx="68">
                    <c:v>2012</c:v>
                  </c:pt>
                  <c:pt idx="69">
                    <c:v>2012</c:v>
                  </c:pt>
                  <c:pt idx="70">
                    <c:v>2012</c:v>
                  </c:pt>
                  <c:pt idx="71">
                    <c:v>2012</c:v>
                  </c:pt>
                  <c:pt idx="72">
                    <c:v>2013</c:v>
                  </c:pt>
                  <c:pt idx="73">
                    <c:v>2013</c:v>
                  </c:pt>
                  <c:pt idx="74">
                    <c:v>2013</c:v>
                  </c:pt>
                  <c:pt idx="75">
                    <c:v>2013</c:v>
                  </c:pt>
                  <c:pt idx="76">
                    <c:v>2013</c:v>
                  </c:pt>
                  <c:pt idx="77">
                    <c:v>2013</c:v>
                  </c:pt>
                  <c:pt idx="78">
                    <c:v>2013</c:v>
                  </c:pt>
                  <c:pt idx="79">
                    <c:v>2013</c:v>
                  </c:pt>
                  <c:pt idx="80">
                    <c:v>2013</c:v>
                  </c:pt>
                  <c:pt idx="81">
                    <c:v>2013</c:v>
                  </c:pt>
                  <c:pt idx="82">
                    <c:v>2013</c:v>
                  </c:pt>
                  <c:pt idx="83">
                    <c:v>2013</c:v>
                  </c:pt>
                  <c:pt idx="84">
                    <c:v>2014</c:v>
                  </c:pt>
                  <c:pt idx="85">
                    <c:v>2014</c:v>
                  </c:pt>
                  <c:pt idx="86">
                    <c:v>2014</c:v>
                  </c:pt>
                  <c:pt idx="87">
                    <c:v>2014</c:v>
                  </c:pt>
                  <c:pt idx="88">
                    <c:v>2014</c:v>
                  </c:pt>
                  <c:pt idx="89">
                    <c:v>2014</c:v>
                  </c:pt>
                  <c:pt idx="90">
                    <c:v>2014</c:v>
                  </c:pt>
                  <c:pt idx="91">
                    <c:v>2014</c:v>
                  </c:pt>
                  <c:pt idx="92">
                    <c:v>2014</c:v>
                  </c:pt>
                  <c:pt idx="93">
                    <c:v>2014</c:v>
                  </c:pt>
                  <c:pt idx="94">
                    <c:v>2014</c:v>
                  </c:pt>
                  <c:pt idx="95">
                    <c:v>2014</c:v>
                  </c:pt>
                  <c:pt idx="96">
                    <c:v>2015</c:v>
                  </c:pt>
                  <c:pt idx="97">
                    <c:v>2015</c:v>
                  </c:pt>
                  <c:pt idx="98">
                    <c:v>2015</c:v>
                  </c:pt>
                  <c:pt idx="99">
                    <c:v>2015</c:v>
                  </c:pt>
                  <c:pt idx="100">
                    <c:v>2015</c:v>
                  </c:pt>
                  <c:pt idx="101">
                    <c:v>2015</c:v>
                  </c:pt>
                  <c:pt idx="102">
                    <c:v>2015</c:v>
                  </c:pt>
                  <c:pt idx="103">
                    <c:v>2015</c:v>
                  </c:pt>
                  <c:pt idx="104">
                    <c:v>2015</c:v>
                  </c:pt>
                  <c:pt idx="105">
                    <c:v>2015</c:v>
                  </c:pt>
                  <c:pt idx="106">
                    <c:v>2015</c:v>
                  </c:pt>
                  <c:pt idx="107">
                    <c:v>2015</c:v>
                  </c:pt>
                  <c:pt idx="108">
                    <c:v>2016</c:v>
                  </c:pt>
                  <c:pt idx="109">
                    <c:v>2016</c:v>
                  </c:pt>
                  <c:pt idx="110">
                    <c:v>2016</c:v>
                  </c:pt>
                  <c:pt idx="111">
                    <c:v>2016</c:v>
                  </c:pt>
                  <c:pt idx="112">
                    <c:v>2016</c:v>
                  </c:pt>
                  <c:pt idx="113">
                    <c:v>2016</c:v>
                  </c:pt>
                  <c:pt idx="114">
                    <c:v>2016</c:v>
                  </c:pt>
                  <c:pt idx="115">
                    <c:v>2016</c:v>
                  </c:pt>
                  <c:pt idx="116">
                    <c:v>2016</c:v>
                  </c:pt>
                  <c:pt idx="117">
                    <c:v>2016</c:v>
                  </c:pt>
                  <c:pt idx="118">
                    <c:v>2016</c:v>
                  </c:pt>
                  <c:pt idx="119">
                    <c:v>2016</c:v>
                  </c:pt>
                  <c:pt idx="120">
                    <c:v>2017</c:v>
                  </c:pt>
                  <c:pt idx="121">
                    <c:v>2017</c:v>
                  </c:pt>
                  <c:pt idx="122">
                    <c:v>2017</c:v>
                  </c:pt>
                  <c:pt idx="123">
                    <c:v>2017</c:v>
                  </c:pt>
                  <c:pt idx="124">
                    <c:v>2017</c:v>
                  </c:pt>
                  <c:pt idx="125">
                    <c:v>2017</c:v>
                  </c:pt>
                  <c:pt idx="126">
                    <c:v>2017</c:v>
                  </c:pt>
                  <c:pt idx="127">
                    <c:v>2017</c:v>
                  </c:pt>
                  <c:pt idx="128">
                    <c:v>2017</c:v>
                  </c:pt>
                  <c:pt idx="129">
                    <c:v>2017</c:v>
                  </c:pt>
                  <c:pt idx="130">
                    <c:v>2017</c:v>
                  </c:pt>
                  <c:pt idx="131">
                    <c:v>2017</c:v>
                  </c:pt>
                  <c:pt idx="132">
                    <c:v>2018</c:v>
                  </c:pt>
                  <c:pt idx="133">
                    <c:v>2018</c:v>
                  </c:pt>
                  <c:pt idx="134">
                    <c:v>2018</c:v>
                  </c:pt>
                  <c:pt idx="135">
                    <c:v>2018</c:v>
                  </c:pt>
                  <c:pt idx="136">
                    <c:v>2018</c:v>
                  </c:pt>
                  <c:pt idx="137">
                    <c:v>2018</c:v>
                  </c:pt>
                  <c:pt idx="138">
                    <c:v>2018</c:v>
                  </c:pt>
                  <c:pt idx="139">
                    <c:v>2018</c:v>
                  </c:pt>
                  <c:pt idx="140">
                    <c:v>2018</c:v>
                  </c:pt>
                  <c:pt idx="141">
                    <c:v>2018</c:v>
                  </c:pt>
                  <c:pt idx="142">
                    <c:v>2018</c:v>
                  </c:pt>
                  <c:pt idx="143">
                    <c:v>2018</c:v>
                  </c:pt>
                  <c:pt idx="144">
                    <c:v>2019</c:v>
                  </c:pt>
                  <c:pt idx="145">
                    <c:v>2019</c:v>
                  </c:pt>
                  <c:pt idx="146">
                    <c:v>2019</c:v>
                  </c:pt>
                  <c:pt idx="147">
                    <c:v>2019</c:v>
                  </c:pt>
                  <c:pt idx="148">
                    <c:v>2019</c:v>
                  </c:pt>
                  <c:pt idx="149">
                    <c:v>2019</c:v>
                  </c:pt>
                  <c:pt idx="150">
                    <c:v>2019</c:v>
                  </c:pt>
                  <c:pt idx="151">
                    <c:v>2019</c:v>
                  </c:pt>
                  <c:pt idx="152">
                    <c:v>2019</c:v>
                  </c:pt>
                  <c:pt idx="153">
                    <c:v>2019</c:v>
                  </c:pt>
                  <c:pt idx="154">
                    <c:v>2019</c:v>
                  </c:pt>
                  <c:pt idx="155">
                    <c:v>2019</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2021</c:v>
                  </c:pt>
                  <c:pt idx="169">
                    <c:v>2021</c:v>
                  </c:pt>
                  <c:pt idx="170">
                    <c:v>2021</c:v>
                  </c:pt>
                  <c:pt idx="171">
                    <c:v>2021</c:v>
                  </c:pt>
                  <c:pt idx="172">
                    <c:v>2021</c:v>
                  </c:pt>
                  <c:pt idx="173">
                    <c:v>2021</c:v>
                  </c:pt>
                  <c:pt idx="174">
                    <c:v>2021</c:v>
                  </c:pt>
                  <c:pt idx="175">
                    <c:v>2021</c:v>
                  </c:pt>
                  <c:pt idx="176">
                    <c:v>2021</c:v>
                  </c:pt>
                  <c:pt idx="177">
                    <c:v>2021</c:v>
                  </c:pt>
                  <c:pt idx="178">
                    <c:v>2021</c:v>
                  </c:pt>
                  <c:pt idx="179">
                    <c:v>2021</c:v>
                  </c:pt>
                  <c:pt idx="180">
                    <c:v>2022</c:v>
                  </c:pt>
                  <c:pt idx="181">
                    <c:v>2022</c:v>
                  </c:pt>
                  <c:pt idx="182">
                    <c:v>2022</c:v>
                  </c:pt>
                  <c:pt idx="183">
                    <c:v>2022</c:v>
                  </c:pt>
                  <c:pt idx="184">
                    <c:v>2022</c:v>
                  </c:pt>
                  <c:pt idx="185">
                    <c:v>2022</c:v>
                  </c:pt>
                  <c:pt idx="186">
                    <c:v>2022</c:v>
                  </c:pt>
                  <c:pt idx="187">
                    <c:v>2022</c:v>
                  </c:pt>
                  <c:pt idx="188">
                    <c:v>2022</c:v>
                  </c:pt>
                  <c:pt idx="189">
                    <c:v>2022</c:v>
                  </c:pt>
                  <c:pt idx="190">
                    <c:v>2022</c:v>
                  </c:pt>
                  <c:pt idx="191">
                    <c:v>2022</c:v>
                  </c:pt>
                  <c:pt idx="192">
                    <c:v>2023</c:v>
                  </c:pt>
                  <c:pt idx="193">
                    <c:v>2023</c:v>
                  </c:pt>
                  <c:pt idx="194">
                    <c:v>2023</c:v>
                  </c:pt>
                  <c:pt idx="195">
                    <c:v>2023</c:v>
                  </c:pt>
                  <c:pt idx="196">
                    <c:v>2023</c:v>
                  </c:pt>
                  <c:pt idx="197">
                    <c:v>2023</c:v>
                  </c:pt>
                  <c:pt idx="198">
                    <c:v>2023</c:v>
                  </c:pt>
                  <c:pt idx="199">
                    <c:v>2023</c:v>
                  </c:pt>
                  <c:pt idx="200">
                    <c:v>2023</c:v>
                  </c:pt>
                  <c:pt idx="201">
                    <c:v>2023</c:v>
                  </c:pt>
                  <c:pt idx="202">
                    <c:v>2023</c:v>
                  </c:pt>
                  <c:pt idx="203">
                    <c:v>2023</c:v>
                  </c:pt>
                  <c:pt idx="204">
                    <c:v>2024</c:v>
                  </c:pt>
                  <c:pt idx="205">
                    <c:v>2024</c:v>
                  </c:pt>
                  <c:pt idx="206">
                    <c:v>2024</c:v>
                  </c:pt>
                  <c:pt idx="207">
                    <c:v>2024</c:v>
                  </c:pt>
                  <c:pt idx="208">
                    <c:v>2024</c:v>
                  </c:pt>
                  <c:pt idx="209">
                    <c:v>2024</c:v>
                  </c:pt>
                  <c:pt idx="210">
                    <c:v>2024</c:v>
                  </c:pt>
                  <c:pt idx="211">
                    <c:v>2024</c:v>
                  </c:pt>
                  <c:pt idx="212">
                    <c:v>2024</c:v>
                  </c:pt>
                  <c:pt idx="213">
                    <c:v>2024</c:v>
                  </c:pt>
                  <c:pt idx="214">
                    <c:v>2024</c:v>
                  </c:pt>
                  <c:pt idx="215">
                    <c:v>2024</c:v>
                  </c:pt>
                  <c:pt idx="216">
                    <c:v>2025</c:v>
                  </c:pt>
                  <c:pt idx="217">
                    <c:v>2025</c:v>
                  </c:pt>
                  <c:pt idx="218">
                    <c:v>2025</c:v>
                  </c:pt>
                  <c:pt idx="219">
                    <c:v>2025</c:v>
                  </c:pt>
                  <c:pt idx="220">
                    <c:v>2025</c:v>
                  </c:pt>
                  <c:pt idx="221">
                    <c:v>2025</c:v>
                  </c:pt>
                  <c:pt idx="222">
                    <c:v>2025</c:v>
                  </c:pt>
                  <c:pt idx="223">
                    <c:v>2025</c:v>
                  </c:pt>
                  <c:pt idx="224">
                    <c:v>2025</c:v>
                  </c:pt>
                  <c:pt idx="225">
                    <c:v>2025</c:v>
                  </c:pt>
                  <c:pt idx="226">
                    <c:v>2025</c:v>
                  </c:pt>
                  <c:pt idx="227">
                    <c:v>2025</c:v>
                  </c:pt>
                  <c:pt idx="228">
                    <c:v>2026</c:v>
                  </c:pt>
                  <c:pt idx="229">
                    <c:v>2026</c:v>
                  </c:pt>
                  <c:pt idx="230">
                    <c:v>2026</c:v>
                  </c:pt>
                  <c:pt idx="231">
                    <c:v>2026</c:v>
                  </c:pt>
                  <c:pt idx="232">
                    <c:v>2026</c:v>
                  </c:pt>
                  <c:pt idx="233">
                    <c:v>2026</c:v>
                  </c:pt>
                  <c:pt idx="234">
                    <c:v>2026</c:v>
                  </c:pt>
                  <c:pt idx="235">
                    <c:v>2026</c:v>
                  </c:pt>
                  <c:pt idx="236">
                    <c:v>2026</c:v>
                  </c:pt>
                  <c:pt idx="237">
                    <c:v>2026</c:v>
                  </c:pt>
                  <c:pt idx="238">
                    <c:v>2026</c:v>
                  </c:pt>
                </c:lvl>
              </c:multiLvlStrCache>
            </c:multiLvlStrRef>
          </c:cat>
          <c:val>
            <c:numRef>
              <c:f>Sheet1!$D$2:$D$240</c:f>
              <c:numCache>
                <c:formatCode>General</c:formatCode>
                <c:ptCount val="239"/>
                <c:pt idx="0">
                  <c:v>1</c:v>
                </c:pt>
                <c:pt idx="1">
                  <c:v>1.01</c:v>
                </c:pt>
                <c:pt idx="2">
                  <c:v>1</c:v>
                </c:pt>
                <c:pt idx="3">
                  <c:v>1.01</c:v>
                </c:pt>
                <c:pt idx="4">
                  <c:v>1.04</c:v>
                </c:pt>
                <c:pt idx="5">
                  <c:v>1.06</c:v>
                </c:pt>
                <c:pt idx="6">
                  <c:v>1.05</c:v>
                </c:pt>
                <c:pt idx="7">
                  <c:v>1.03</c:v>
                </c:pt>
                <c:pt idx="8">
                  <c:v>1.05</c:v>
                </c:pt>
                <c:pt idx="9">
                  <c:v>1.08</c:v>
                </c:pt>
                <c:pt idx="10">
                  <c:v>1.07</c:v>
                </c:pt>
                <c:pt idx="11">
                  <c:v>1.06</c:v>
                </c:pt>
                <c:pt idx="12">
                  <c:v>1.06</c:v>
                </c:pt>
                <c:pt idx="13">
                  <c:v>1.04</c:v>
                </c:pt>
                <c:pt idx="14">
                  <c:v>1.01</c:v>
                </c:pt>
                <c:pt idx="15">
                  <c:v>1.03</c:v>
                </c:pt>
                <c:pt idx="16">
                  <c:v>1.05</c:v>
                </c:pt>
                <c:pt idx="17">
                  <c:v>1.04</c:v>
                </c:pt>
                <c:pt idx="18">
                  <c:v>0.99</c:v>
                </c:pt>
                <c:pt idx="19">
                  <c:v>0.98</c:v>
                </c:pt>
                <c:pt idx="20">
                  <c:v>1</c:v>
                </c:pt>
                <c:pt idx="21">
                  <c:v>0.93</c:v>
                </c:pt>
                <c:pt idx="22">
                  <c:v>0.83</c:v>
                </c:pt>
                <c:pt idx="23">
                  <c:v>0.77</c:v>
                </c:pt>
                <c:pt idx="24">
                  <c:v>0.85</c:v>
                </c:pt>
                <c:pt idx="25">
                  <c:v>0.79</c:v>
                </c:pt>
                <c:pt idx="26">
                  <c:v>0.72</c:v>
                </c:pt>
                <c:pt idx="27">
                  <c:v>0.79</c:v>
                </c:pt>
                <c:pt idx="28">
                  <c:v>0.83</c:v>
                </c:pt>
                <c:pt idx="29">
                  <c:v>0.87</c:v>
                </c:pt>
                <c:pt idx="30">
                  <c:v>0.86</c:v>
                </c:pt>
                <c:pt idx="31">
                  <c:v>0.91</c:v>
                </c:pt>
                <c:pt idx="32">
                  <c:v>0.91</c:v>
                </c:pt>
                <c:pt idx="33">
                  <c:v>0.94</c:v>
                </c:pt>
                <c:pt idx="34">
                  <c:v>0.95</c:v>
                </c:pt>
                <c:pt idx="35">
                  <c:v>0.99</c:v>
                </c:pt>
                <c:pt idx="36">
                  <c:v>1</c:v>
                </c:pt>
                <c:pt idx="37">
                  <c:v>0.98</c:v>
                </c:pt>
                <c:pt idx="38">
                  <c:v>0.99</c:v>
                </c:pt>
                <c:pt idx="39">
                  <c:v>1.03</c:v>
                </c:pt>
                <c:pt idx="40">
                  <c:v>1.04</c:v>
                </c:pt>
                <c:pt idx="41">
                  <c:v>0.98</c:v>
                </c:pt>
                <c:pt idx="42">
                  <c:v>0.97</c:v>
                </c:pt>
                <c:pt idx="43">
                  <c:v>1.03</c:v>
                </c:pt>
                <c:pt idx="44">
                  <c:v>1.01</c:v>
                </c:pt>
                <c:pt idx="45">
                  <c:v>1.05</c:v>
                </c:pt>
                <c:pt idx="46">
                  <c:v>1.07</c:v>
                </c:pt>
                <c:pt idx="47">
                  <c:v>1.08</c:v>
                </c:pt>
                <c:pt idx="48">
                  <c:v>1.11</c:v>
                </c:pt>
                <c:pt idx="49">
                  <c:v>1.13</c:v>
                </c:pt>
                <c:pt idx="50">
                  <c:v>1.13</c:v>
                </c:pt>
                <c:pt idx="51">
                  <c:v>1.15</c:v>
                </c:pt>
                <c:pt idx="52">
                  <c:v>1.17</c:v>
                </c:pt>
                <c:pt idx="53">
                  <c:v>1.15</c:v>
                </c:pt>
                <c:pt idx="54">
                  <c:v>1.16</c:v>
                </c:pt>
                <c:pt idx="55">
                  <c:v>1.15</c:v>
                </c:pt>
                <c:pt idx="56">
                  <c:v>1.11</c:v>
                </c:pt>
                <c:pt idx="57">
                  <c:v>1.06</c:v>
                </c:pt>
                <c:pt idx="58">
                  <c:v>1.13</c:v>
                </c:pt>
                <c:pt idx="59">
                  <c:v>1.14</c:v>
                </c:pt>
                <c:pt idx="60">
                  <c:v>1.17</c:v>
                </c:pt>
                <c:pt idx="61">
                  <c:v>1.2</c:v>
                </c:pt>
                <c:pt idx="62">
                  <c:v>1.22</c:v>
                </c:pt>
                <c:pt idx="63">
                  <c:v>1.25</c:v>
                </c:pt>
                <c:pt idx="64">
                  <c:v>1.25</c:v>
                </c:pt>
                <c:pt idx="65">
                  <c:v>1.19</c:v>
                </c:pt>
                <c:pt idx="66">
                  <c:v>1.24</c:v>
                </c:pt>
                <c:pt idx="67">
                  <c:v>1.25</c:v>
                </c:pt>
                <c:pt idx="68">
                  <c:v>1.27</c:v>
                </c:pt>
                <c:pt idx="69">
                  <c:v>1.29</c:v>
                </c:pt>
                <c:pt idx="70">
                  <c:v>1.28</c:v>
                </c:pt>
                <c:pt idx="71">
                  <c:v>1.28</c:v>
                </c:pt>
                <c:pt idx="72">
                  <c:v>1.3</c:v>
                </c:pt>
                <c:pt idx="73">
                  <c:v>1.33</c:v>
                </c:pt>
                <c:pt idx="74">
                  <c:v>1.34</c:v>
                </c:pt>
                <c:pt idx="75">
                  <c:v>1.36</c:v>
                </c:pt>
                <c:pt idx="76">
                  <c:v>1.38</c:v>
                </c:pt>
                <c:pt idx="77">
                  <c:v>1.4</c:v>
                </c:pt>
                <c:pt idx="78">
                  <c:v>1.38</c:v>
                </c:pt>
                <c:pt idx="79">
                  <c:v>1.43</c:v>
                </c:pt>
                <c:pt idx="80">
                  <c:v>1.39</c:v>
                </c:pt>
                <c:pt idx="81">
                  <c:v>1.43</c:v>
                </c:pt>
                <c:pt idx="82">
                  <c:v>1.47</c:v>
                </c:pt>
                <c:pt idx="83">
                  <c:v>1.49</c:v>
                </c:pt>
                <c:pt idx="84">
                  <c:v>1.5</c:v>
                </c:pt>
                <c:pt idx="85">
                  <c:v>1.47</c:v>
                </c:pt>
                <c:pt idx="86">
                  <c:v>1.53</c:v>
                </c:pt>
                <c:pt idx="87">
                  <c:v>1.54</c:v>
                </c:pt>
                <c:pt idx="88">
                  <c:v>1.55</c:v>
                </c:pt>
                <c:pt idx="89">
                  <c:v>1.58</c:v>
                </c:pt>
                <c:pt idx="90">
                  <c:v>1.6</c:v>
                </c:pt>
                <c:pt idx="91">
                  <c:v>1.58</c:v>
                </c:pt>
                <c:pt idx="92">
                  <c:v>1.63</c:v>
                </c:pt>
                <c:pt idx="93">
                  <c:v>1.6</c:v>
                </c:pt>
                <c:pt idx="94">
                  <c:v>1.64</c:v>
                </c:pt>
                <c:pt idx="95">
                  <c:v>1.66</c:v>
                </c:pt>
                <c:pt idx="96">
                  <c:v>1.67</c:v>
                </c:pt>
                <c:pt idx="97">
                  <c:v>1.67</c:v>
                </c:pt>
                <c:pt idx="98">
                  <c:v>1.71</c:v>
                </c:pt>
                <c:pt idx="99">
                  <c:v>1.69</c:v>
                </c:pt>
                <c:pt idx="100">
                  <c:v>1.71</c:v>
                </c:pt>
                <c:pt idx="101">
                  <c:v>1.71</c:v>
                </c:pt>
                <c:pt idx="102">
                  <c:v>1.69</c:v>
                </c:pt>
                <c:pt idx="103">
                  <c:v>1.71</c:v>
                </c:pt>
                <c:pt idx="104">
                  <c:v>1.62</c:v>
                </c:pt>
                <c:pt idx="105">
                  <c:v>1.63</c:v>
                </c:pt>
                <c:pt idx="106">
                  <c:v>1.72</c:v>
                </c:pt>
                <c:pt idx="107">
                  <c:v>1.72</c:v>
                </c:pt>
                <c:pt idx="108">
                  <c:v>1.68</c:v>
                </c:pt>
                <c:pt idx="109">
                  <c:v>1.65</c:v>
                </c:pt>
                <c:pt idx="110">
                  <c:v>1.67</c:v>
                </c:pt>
                <c:pt idx="111">
                  <c:v>1.73</c:v>
                </c:pt>
                <c:pt idx="112">
                  <c:v>1.74</c:v>
                </c:pt>
                <c:pt idx="113">
                  <c:v>1.75</c:v>
                </c:pt>
                <c:pt idx="114">
                  <c:v>1.77</c:v>
                </c:pt>
                <c:pt idx="115">
                  <c:v>1.81</c:v>
                </c:pt>
                <c:pt idx="116">
                  <c:v>1.81</c:v>
                </c:pt>
                <c:pt idx="117">
                  <c:v>1.81</c:v>
                </c:pt>
                <c:pt idx="118">
                  <c:v>1.78</c:v>
                </c:pt>
                <c:pt idx="119">
                  <c:v>1.8</c:v>
                </c:pt>
                <c:pt idx="120">
                  <c:v>1.84</c:v>
                </c:pt>
                <c:pt idx="121">
                  <c:v>1.85</c:v>
                </c:pt>
                <c:pt idx="122">
                  <c:v>1.91</c:v>
                </c:pt>
                <c:pt idx="123">
                  <c:v>1.9</c:v>
                </c:pt>
                <c:pt idx="124">
                  <c:v>1.92</c:v>
                </c:pt>
                <c:pt idx="125">
                  <c:v>1.95</c:v>
                </c:pt>
                <c:pt idx="126">
                  <c:v>1.95</c:v>
                </c:pt>
                <c:pt idx="127">
                  <c:v>1.98</c:v>
                </c:pt>
                <c:pt idx="128">
                  <c:v>1.98</c:v>
                </c:pt>
                <c:pt idx="129">
                  <c:v>2.01</c:v>
                </c:pt>
                <c:pt idx="130">
                  <c:v>2.03</c:v>
                </c:pt>
                <c:pt idx="131">
                  <c:v>2.07</c:v>
                </c:pt>
                <c:pt idx="132">
                  <c:v>2.1</c:v>
                </c:pt>
                <c:pt idx="133">
                  <c:v>2.14</c:v>
                </c:pt>
                <c:pt idx="134">
                  <c:v>2.08</c:v>
                </c:pt>
                <c:pt idx="135">
                  <c:v>2.04</c:v>
                </c:pt>
                <c:pt idx="136">
                  <c:v>2.07</c:v>
                </c:pt>
                <c:pt idx="137">
                  <c:v>2.11</c:v>
                </c:pt>
                <c:pt idx="138">
                  <c:v>2.11</c:v>
                </c:pt>
                <c:pt idx="139">
                  <c:v>2.15</c:v>
                </c:pt>
                <c:pt idx="140">
                  <c:v>2.2</c:v>
                </c:pt>
                <c:pt idx="141">
                  <c:v>2.21</c:v>
                </c:pt>
                <c:pt idx="142">
                  <c:v>2.12</c:v>
                </c:pt>
                <c:pt idx="143">
                  <c:v>2.15</c:v>
                </c:pt>
                <c:pt idx="144">
                  <c:v>2.04</c:v>
                </c:pt>
                <c:pt idx="145">
                  <c:v>2.14</c:v>
                </c:pt>
                <c:pt idx="146">
                  <c:v>2.19</c:v>
                </c:pt>
                <c:pt idx="147">
                  <c:v>2.24</c:v>
                </c:pt>
                <c:pt idx="148">
                  <c:v>2.27</c:v>
                </c:pt>
                <c:pt idx="149">
                  <c:v>2.21</c:v>
                </c:pt>
                <c:pt idx="150">
                  <c:v>2.33</c:v>
                </c:pt>
                <c:pt idx="151">
                  <c:v>2.33</c:v>
                </c:pt>
                <c:pt idx="152">
                  <c:v>2.33</c:v>
                </c:pt>
                <c:pt idx="153">
                  <c:v>2.34</c:v>
                </c:pt>
                <c:pt idx="154">
                  <c:v>2.41</c:v>
                </c:pt>
                <c:pt idx="155">
                  <c:v>2.43</c:v>
                </c:pt>
                <c:pt idx="156">
                  <c:v>2.5</c:v>
                </c:pt>
                <c:pt idx="157">
                  <c:v>2.52</c:v>
                </c:pt>
                <c:pt idx="158">
                  <c:v>2.46</c:v>
                </c:pt>
                <c:pt idx="159">
                  <c:v>2.16</c:v>
                </c:pt>
                <c:pt idx="160">
                  <c:v>2.37</c:v>
                </c:pt>
                <c:pt idx="161">
                  <c:v>2.49</c:v>
                </c:pt>
                <c:pt idx="162">
                  <c:v>2.53</c:v>
                </c:pt>
                <c:pt idx="163">
                  <c:v>2.63</c:v>
                </c:pt>
                <c:pt idx="164">
                  <c:v>2.74</c:v>
                </c:pt>
                <c:pt idx="165">
                  <c:v>2.67</c:v>
                </c:pt>
                <c:pt idx="166">
                  <c:v>2.64</c:v>
                </c:pt>
                <c:pt idx="167">
                  <c:v>2.81</c:v>
                </c:pt>
                <c:pt idx="168">
                  <c:v>2.84</c:v>
                </c:pt>
                <c:pt idx="169">
                  <c:v>2.87</c:v>
                </c:pt>
                <c:pt idx="170">
                  <c:v>2.91</c:v>
                </c:pt>
                <c:pt idx="171">
                  <c:v>2.95</c:v>
                </c:pt>
                <c:pt idx="172">
                  <c:v>3.04</c:v>
                </c:pt>
                <c:pt idx="173">
                  <c:v>3.04</c:v>
                </c:pt>
                <c:pt idx="174">
                  <c:v>3.11</c:v>
                </c:pt>
                <c:pt idx="175">
                  <c:v>3.16</c:v>
                </c:pt>
                <c:pt idx="176">
                  <c:v>3.21</c:v>
                </c:pt>
                <c:pt idx="177">
                  <c:v>3.14</c:v>
                </c:pt>
                <c:pt idx="178">
                  <c:v>3.24</c:v>
                </c:pt>
                <c:pt idx="179">
                  <c:v>3.21</c:v>
                </c:pt>
                <c:pt idx="180">
                  <c:v>3.32</c:v>
                </c:pt>
                <c:pt idx="181">
                  <c:v>3.19</c:v>
                </c:pt>
                <c:pt idx="182">
                  <c:v>3.09</c:v>
                </c:pt>
                <c:pt idx="183">
                  <c:v>3.15</c:v>
                </c:pt>
                <c:pt idx="184">
                  <c:v>2.94</c:v>
                </c:pt>
                <c:pt idx="185">
                  <c:v>2.93</c:v>
                </c:pt>
                <c:pt idx="186">
                  <c:v>2.81</c:v>
                </c:pt>
                <c:pt idx="187">
                  <c:v>2.96</c:v>
                </c:pt>
                <c:pt idx="188">
                  <c:v>2.86</c:v>
                </c:pt>
                <c:pt idx="189">
                  <c:v>2.7</c:v>
                </c:pt>
                <c:pt idx="190">
                  <c:v>2.76</c:v>
                </c:pt>
                <c:pt idx="191">
                  <c:v>2.91</c:v>
                </c:pt>
                <c:pt idx="192">
                  <c:v>2.79</c:v>
                </c:pt>
                <c:pt idx="193">
                  <c:v>2.96</c:v>
                </c:pt>
                <c:pt idx="194">
                  <c:v>2.84</c:v>
                </c:pt>
                <c:pt idx="195">
                  <c:v>2.96</c:v>
                </c:pt>
                <c:pt idx="196">
                  <c:v>2.97</c:v>
                </c:pt>
                <c:pt idx="197">
                  <c:v>3</c:v>
                </c:pt>
                <c:pt idx="198">
                  <c:v>3.09</c:v>
                </c:pt>
                <c:pt idx="199">
                  <c:v>3.14</c:v>
                </c:pt>
                <c:pt idx="200">
                  <c:v>3.11</c:v>
                </c:pt>
                <c:pt idx="201">
                  <c:v>2.98</c:v>
                </c:pt>
                <c:pt idx="202">
                  <c:v>2.97</c:v>
                </c:pt>
                <c:pt idx="203">
                  <c:v>3.17</c:v>
                </c:pt>
                <c:pt idx="204">
                  <c:v>3.26</c:v>
                </c:pt>
                <c:pt idx="205">
                  <c:v>3.34</c:v>
                </c:pt>
                <c:pt idx="206">
                  <c:v>3.42</c:v>
                </c:pt>
                <c:pt idx="207">
                  <c:v>3.46</c:v>
                </c:pt>
                <c:pt idx="208">
                  <c:v>3.35</c:v>
                </c:pt>
                <c:pt idx="209">
                  <c:v>3.49</c:v>
                </c:pt>
                <c:pt idx="210">
                  <c:v>3.56</c:v>
                </c:pt>
                <c:pt idx="211">
                  <c:v>3.6</c:v>
                </c:pt>
                <c:pt idx="212">
                  <c:v>3.66</c:v>
                </c:pt>
                <c:pt idx="213">
                  <c:v>3.75</c:v>
                </c:pt>
                <c:pt idx="214">
                  <c:v>3.71</c:v>
                </c:pt>
                <c:pt idx="215">
                  <c:v>3.86</c:v>
                </c:pt>
                <c:pt idx="216">
                  <c:v>3.77</c:v>
                </c:pt>
                <c:pt idx="217">
                  <c:v>3.83</c:v>
                </c:pt>
                <c:pt idx="218">
                  <c:v>3.81</c:v>
                </c:pt>
                <c:pt idx="219">
                  <c:v>3.73</c:v>
                </c:pt>
                <c:pt idx="220">
                  <c:v>3.72</c:v>
                </c:pt>
                <c:pt idx="221">
                  <c:v>3.84</c:v>
                </c:pt>
                <c:pt idx="222">
                  <c:v>3.97</c:v>
                </c:pt>
                <c:pt idx="223">
                  <c:v>4</c:v>
                </c:pt>
                <c:pt idx="224">
                  <c:v>4.07</c:v>
                </c:pt>
                <c:pt idx="225">
                  <c:v>4.21</c:v>
                </c:pt>
                <c:pt idx="226">
                  <c:v>4.28</c:v>
                </c:pt>
                <c:pt idx="227">
                  <c:v>4.27</c:v>
                </c:pt>
                <c:pt idx="228">
                  <c:v>4.29</c:v>
                </c:pt>
                <c:pt idx="229">
                  <c:v>4.34</c:v>
                </c:pt>
                <c:pt idx="230">
                  <c:v>4.33</c:v>
                </c:pt>
                <c:pt idx="231">
                  <c:v>4.19</c:v>
                </c:pt>
                <c:pt idx="232">
                  <c:v>4.45</c:v>
                </c:pt>
                <c:pt idx="233">
                  <c:v>4.59</c:v>
                </c:pt>
                <c:pt idx="234">
                  <c:v>4.55</c:v>
                </c:pt>
                <c:pt idx="235">
                  <c:v>4.58</c:v>
                </c:pt>
                <c:pt idx="236">
                  <c:v>4.59</c:v>
                </c:pt>
                <c:pt idx="237">
                  <c:v>4.57</c:v>
                </c:pt>
                <c:pt idx="238">
                  <c:v>4.6</c:v>
                </c:pt>
              </c:numCache>
            </c:numRef>
          </c:val>
          <c:smooth val="0"/>
        </c:ser>
        <c:dLbls>
          <c:numFmt formatCode="#,##0" sourceLinked="0"/>
          <c:txPr>
            <a:bodyPr/>
            <a:lstStyle/>
            <a:p>
              <a:pPr>
                <a:defRPr b="0" i="0" strike="noStrike" sz="1200" u="none">
                  <a:solidFill>
                    <a:srgbClr val="52514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tickLblSkip val="24"/>
      </c:catAx>
      <c:valAx>
        <c:axId val="2094734552"/>
        <c:scaling>
          <c:orientation val="minMax"/>
          <c:min val="0"/>
        </c:scaling>
        <c:delete val="0"/>
        <c:axPos val="l"/>
        <c:majorGridlines>
          <c:spPr>
            <a:ln w="9525" cap="flat">
              <a:solidFill>
                <a:srgbClr val="E1E0D9"/>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2514E"/>
                </a:solidFill>
                <a:latin typeface="+mn-lt"/>
              </a:defRPr>
            </a:pPr>
            <a:r>
              <a:rPr sz="1400" b="0" i="0" u="none" strike="noStrike">
                <a:solidFill>
                  <a:srgbClr val="52514E"/>
                </a:solidFill>
                <a:latin typeface="+mn-lt"/>
              </a:rPr>
              <a:t>Return over each episode window, %</a:t>
            </a:r>
          </a:p>
        </c:rich>
      </c:tx>
      <c:layout/>
      <c:overlay val="0"/>
    </c:title>
    <c:autoTitleDeleted val="0"/>
    <c:plotArea>
      <c:layout/>
      <c:barChart>
        <c:barDir val="col"/>
        <c:grouping val="clustered"/>
        <c:varyColors val="0"/>
        <c:ser>
          <c:idx val="0"/>
          <c:order val="0"/>
          <c:tx>
            <c:strRef>
              <c:f>Sheet1!$B$1</c:f>
              <c:strCache>
                <c:ptCount val="1"/>
                <c:pt idx="0">
                  <c:v>S&amp;P 500</c:v>
                </c:pt>
              </c:strCache>
            </c:strRef>
          </c:tx>
          <c:spPr>
            <a:solidFill>
              <a:srgbClr val="EB6834"/>
            </a:solidFill>
            <a:effectLst/>
          </c:spPr>
          <c:invertIfNegative val="0"/>
          <c:dLbls>
            <c:numFmt formatCode="0.0&quot;%&quot;"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cat>
            <c:multiLvlStrRef>
              <c:f>Sheet1!$A$2:$A$5</c:f>
              <c:multiLvlStrCache>
                <c:ptCount val="4"/>
                <c:lvl>
                  <c:pt idx="0">
                    <c:v>2008 GFC</c:v>
                  </c:pt>
                  <c:pt idx="1">
                    <c:v>Volmageddon 2018</c:v>
                  </c:pt>
                  <c:pt idx="2">
                    <c:v>Covid crash 2020</c:v>
                  </c:pt>
                  <c:pt idx="3">
                    <c:v>2022 rate shock</c:v>
                  </c:pt>
                </c:lvl>
              </c:multiLvlStrCache>
            </c:multiLvlStrRef>
          </c:cat>
          <c:val>
            <c:numRef>
              <c:f>Sheet1!$B$2:$B$5</c:f>
              <c:numCache>
                <c:formatCode>General</c:formatCode>
                <c:ptCount val="4"/>
                <c:pt idx="0">
                  <c:v>-36.6</c:v>
                </c:pt>
                <c:pt idx="1">
                  <c:v>-7.3</c:v>
                </c:pt>
                <c:pt idx="2">
                  <c:v>-13.6</c:v>
                </c:pt>
                <c:pt idx="3">
                  <c:v>-18.2</c:v>
                </c:pt>
              </c:numCache>
            </c:numRef>
          </c:val>
        </c:ser>
        <c:ser>
          <c:idx val="1"/>
          <c:order val="1"/>
          <c:tx>
            <c:strRef>
              <c:f>Sheet1!$C$1</c:f>
              <c:strCache>
                <c:ptCount val="1"/>
                <c:pt idx="0">
                  <c:v>VolStrat</c:v>
                </c:pt>
              </c:strCache>
            </c:strRef>
          </c:tx>
          <c:spPr>
            <a:solidFill>
              <a:srgbClr val="2A78D6"/>
            </a:solidFill>
            <a:effectLst/>
          </c:spPr>
          <c:invertIfNegative val="0"/>
          <c:dLbls>
            <c:numFmt formatCode="0.0&quot;%&quot;"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cat>
            <c:multiLvlStrRef>
              <c:f>Sheet1!$A$2:$A$5</c:f>
              <c:multiLvlStrCache>
                <c:ptCount val="4"/>
                <c:lvl>
                  <c:pt idx="0">
                    <c:v>2008 GFC</c:v>
                  </c:pt>
                  <c:pt idx="1">
                    <c:v>Volmageddon 2018</c:v>
                  </c:pt>
                  <c:pt idx="2">
                    <c:v>Covid crash 2020</c:v>
                  </c:pt>
                  <c:pt idx="3">
                    <c:v>2022 rate shock</c:v>
                  </c:pt>
                </c:lvl>
              </c:multiLvlStrCache>
            </c:multiLvlStrRef>
          </c:cat>
          <c:val>
            <c:numRef>
              <c:f>Sheet1!$C$2:$C$5</c:f>
              <c:numCache>
                <c:formatCode>General</c:formatCode>
                <c:ptCount val="4"/>
                <c:pt idx="0">
                  <c:v>-2.9</c:v>
                </c:pt>
                <c:pt idx="1">
                  <c:v>-4.2</c:v>
                </c:pt>
                <c:pt idx="2">
                  <c:v>-1.9</c:v>
                </c:pt>
                <c:pt idx="3">
                  <c:v>-19.3</c:v>
                </c:pt>
              </c:numCache>
            </c:numRef>
          </c:val>
        </c:ser>
        <c:dLbls>
          <c:numFmt formatCode="0.0&quot;%&quot;"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0"/>
          <c:min val="-40"/>
        </c:scaling>
        <c:delete val="0"/>
        <c:axPos val="l"/>
        <c:majorGridlines>
          <c:spPr>
            <a:ln w="9525" cap="flat">
              <a:solidFill>
                <a:srgbClr val="E1E0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2514E"/>
                </a:solidFill>
                <a:latin typeface="+mn-lt"/>
              </a:defRPr>
            </a:pPr>
            <a:r>
              <a:rPr sz="1400" b="0" i="0" u="none" strike="noStrike">
                <a:solidFill>
                  <a:srgbClr val="52514E"/>
                </a:solidFill>
                <a:latin typeface="+mn-lt"/>
              </a:rPr>
              <a:t>S&amp;P 500 annualised volatility on the days after each regime, 1993 – 2026</a:t>
            </a:r>
          </a:p>
        </c:rich>
      </c:tx>
      <c:layout/>
      <c:overlay val="0"/>
    </c:title>
    <c:autoTitleDeleted val="0"/>
    <c:plotArea>
      <c:layout/>
      <c:barChart>
        <c:barDir val="col"/>
        <c:grouping val="clustered"/>
        <c:varyColors val="0"/>
        <c:ser>
          <c:idx val="0"/>
          <c:order val="0"/>
          <c:tx>
            <c:strRef>
              <c:f>Sheet1!$B$1</c:f>
              <c:strCache>
                <c:ptCount val="1"/>
                <c:pt idx="0">
                  <c:v>Volatility</c:v>
                </c:pt>
              </c:strCache>
            </c:strRef>
          </c:tx>
          <c:spPr>
            <a:solidFill>
              <a:srgbClr val="D03B3B"/>
            </a:solidFill>
            <a:effectLst/>
          </c:spPr>
          <c:invertIfNegative val="0"/>
          <c:dLbls>
            <c:numFmt formatCode="0.0&quot;%&quot;"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dPt>
            <c:idx val="0"/>
            <c:invertIfNegative val="0"/>
            <c:bubble3D val="0"/>
            <c:spPr>
              <a:solidFill>
                <a:srgbClr val="D03B3B"/>
              </a:solidFill>
              <a:effectLst/>
            </c:spPr>
          </c:dPt>
          <c:dPt>
            <c:idx val="1"/>
            <c:invertIfNegative val="0"/>
            <c:bubble3D val="0"/>
            <c:spPr>
              <a:solidFill>
                <a:srgbClr val="EC9A8F"/>
              </a:solidFill>
              <a:effectLst/>
            </c:spPr>
          </c:dPt>
          <c:dPt>
            <c:idx val="2"/>
            <c:invertIfNegative val="0"/>
            <c:bubble3D val="0"/>
            <c:spPr>
              <a:solidFill>
                <a:srgbClr val="B9B8B2"/>
              </a:solidFill>
              <a:effectLst/>
            </c:spPr>
          </c:dPt>
          <c:dPt>
            <c:idx val="3"/>
            <c:invertIfNegative val="0"/>
            <c:bubble3D val="0"/>
            <c:spPr>
              <a:solidFill>
                <a:srgbClr val="86B6EF"/>
              </a:solidFill>
              <a:effectLst/>
            </c:spPr>
          </c:dPt>
          <c:dPt>
            <c:idx val="4"/>
            <c:invertIfNegative val="0"/>
            <c:bubble3D val="0"/>
            <c:spPr>
              <a:solidFill>
                <a:srgbClr val="256ABF"/>
              </a:solidFill>
              <a:effectLst/>
            </c:spPr>
          </c:dPt>
          <c:cat>
            <c:multiLvlStrRef>
              <c:f>Sheet1!$A$2:$A$6</c:f>
              <c:multiLvlStrCache>
                <c:ptCount val="5"/>
                <c:lvl>
                  <c:pt idx="0">
                    <c:v>Crisis</c:v>
                  </c:pt>
                  <c:pt idx="1">
                    <c:v>Risk-Off</c:v>
                  </c:pt>
                  <c:pt idx="2">
                    <c:v>Neutral</c:v>
                  </c:pt>
                  <c:pt idx="3">
                    <c:v>Risk-On</c:v>
                  </c:pt>
                  <c:pt idx="4">
                    <c:v>Strong Risk-On</c:v>
                  </c:pt>
                </c:lvl>
              </c:multiLvlStrCache>
            </c:multiLvlStrRef>
          </c:cat>
          <c:val>
            <c:numRef>
              <c:f>Sheet1!$B$2:$B$6</c:f>
              <c:numCache>
                <c:formatCode>General</c:formatCode>
                <c:ptCount val="5"/>
                <c:pt idx="0">
                  <c:v>37.2</c:v>
                </c:pt>
                <c:pt idx="1">
                  <c:v>23.5</c:v>
                </c:pt>
                <c:pt idx="2">
                  <c:v>14.8</c:v>
                </c:pt>
                <c:pt idx="3">
                  <c:v>12.4</c:v>
                </c:pt>
                <c:pt idx="4">
                  <c:v>11.9</c:v>
                </c:pt>
              </c:numCache>
            </c:numRef>
          </c:val>
        </c:ser>
        <c:dLbls>
          <c:numFmt formatCode="0.0&quot;%&quot;"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1E0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VolStrat is a personal research dashboard. It turns public volatility and risk-sentiment data into one score from 0 (crisis) to 100 (strong risk-on), maps that score to a portfolio, and backtests it against standard benchmarks. Everything recomputes in the browser when you change a parameter. Results are hypothetical and backtested.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Backtest 3 Jan 2007 to 22 Oct 2026, default Growth parameters, 5 bp per side costs, trades at the next close. VolStrat's worst drawdown was −23.8% against −55.2% for the S&amp;P 500 and −35.4% for 60/40. It still trails the index's CAGR: 9.7% vs 10.9%.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ships raw features only. The browser does all parameter-dependent work in a Web Worker: standardisation windows, weights, thresholds, smoothing and the backtest. Full-sample normalisation is never used because it would leak future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weights from the component registry (web/src/engine/components.ts). SKEW is weighted low because its link to subsequent stress is weak and sometimes reversed. 24 components exist in total, including nine VTS-style dashboard metrics, which are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profile portfolios (default since 23 Oct 2026). The earlier Balanced defaults held 60/40 in Neutral and 100% S&amp;P 500 in Risk-On. Share of days, Growth profile: Crisis 4.9%, Risk-Off 17.5%, Neutral 43.0%, Risk-On 32.7%, Strong Risk-On 1.9%. Growth also uses the panic-rebound re-entry: after VIX/VIX3M rises above 1.10 and falls back below 1.00, Crisis or Risk-Off is lifted to Neutral for 20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data/site/latest.json, close of 22 Oct 2026. The smoothed score is 37.7 (raw composite 31.6); regime Neutral since 10 Sep 2026. A rich variance risk premium (90.9) is offsetting weak readings from VIX, the futures curve, credit and trend. The Dashboard also shows the stock–bond correlation, recent regime changes and which data sources are still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Month-start values of $1 invested on 3 Jan 2007, from the same engine the website uses, with Growth parameters and data to 22 Oct 2026. Benchmarks share the strategy's start date, lag and costs; 60/40 is S&amp;P 500 / AGG rebalanced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Jan 2007 to 22 Oct 2026, computed with the site's engine. Sharpe uses daily returns in excess of T-bills. Turnover is one-way annual. The paired block bootstrap is a caution: the Balanced strategy beat the S&amp;P 500's Sharpe in only 57% of resamples, but its 5th-percentile drawdown was −29% vs −59%, a robust risk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windows: 2008 GFC 1 Sep 08 – 31 Mar 09; Volmageddon 26 Jan – 30 Apr 18; Covid 19 Feb – 30 Apr 20; 2022 3 Jan – 31 Oct 22. These figures use the Balanced parameters (the defaults until 23 Oct 2026), data through 21 Oct 2026, from METHODOLOGY §10. The site's Methodology page recomputes these tables live for whatever parameters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Diagnostics tab (METHODOLOGY §11), data to 22 Oct 2026. The strategy earns its keep by cutting exposure when risk is high, which is why it resembles the volatility-targeting benchmark. High-volatility states have historically been followed by higher average returns, consistent with Moreira &amp; Muir (2017). Leave-one-out: the variance risk premium contributes the most (Sharpe 0.51 without it, 0.60 with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Out-of-sample checks from METHODOLOGY §15, judged with a paired block bootstrap on 2017–2026 (1,000 resamples, 21-day blocks). The panic-rebound rule is the only change that improved both halves; it still has caveats: 92% is below the conventional 95% bar and there were only about 20 triggers in 20 years. Rejected ideas remain available as options in the Backtest panel,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suggestion: open the Dashboard, then the Backtest page; change the Neutral portfolio or the smoothing and show the stats recompute instantly in the Web Worker; copy the URL to show that settings travel with the link; finish on Compare. CSV and PNG export are available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records live in data/track/v1 and v2: params.json frozen on the first run, decisions.csv append-only, NOTES.md for annotations. These are the only results on the site that are not backtests. GitHub's own cron is kept only as a fallback because it is best effort and often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results are hypothetical and backtested, with hindsight in the model design and asset menu. This is a personal research project, not investment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21A2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0515600" cy="1280160"/>
          </a:xfrm>
          <a:prstGeom prst="rect">
            <a:avLst/>
          </a:prstGeom>
          <a:noFill/>
          <a:ln/>
        </p:spPr>
        <p:txBody>
          <a:bodyPr wrap="square" rtlCol="0"/>
          <a:lstStyle>
            <a:lvl1pPr algn="l" indent="0" marL="0">
              <a:buNone/>
              <a:defRPr lang="en-US" sz="5400" b="1" dirty="0">
                <a:solidFill>
                  <a:srgbClr val="FFFFFF"/>
                </a:solidFill>
                <a:latin typeface="Arial" pitchFamily="34" charset="0"/>
                <a:ea typeface="Arial" pitchFamily="34" charset="-122"/>
                <a:cs typeface="Arial" pitchFamily="34" charset="-120"/>
              </a:defRPr>
            </a:lvl1pPr>
          </a:lstStyle>
          <a:p>
            <a:pPr algn="l" indent="0" marL="0">
              <a:buNone/>
            </a:pPr>
            <a:endParaRPr lang="en-US" sz="5400" dirty="0"/>
          </a:p>
        </p:txBody>
      </p:sp>
      <p:sp>
        <p:nvSpPr>
          <p:cNvPr id="3" name="Text 0"/>
          <p:cNvSpPr/>
          <p:nvPr>
            <p:ph idx="101" type="body" hasCustomPrompt="1"/>
          </p:nvPr>
        </p:nvSpPr>
        <p:spPr>
          <a:xfrm>
            <a:off x="548640" y="3566160"/>
            <a:ext cx="10058400" cy="1097280"/>
          </a:xfrm>
          <a:prstGeom prst="rect">
            <a:avLst/>
          </a:prstGeom>
          <a:noFill/>
          <a:ln/>
        </p:spPr>
        <p:txBody>
          <a:bodyPr wrap="square" rtlCol="0"/>
          <a:lstStyle>
            <a:lvl1pPr indent="0" marL="0">
              <a:buNone/>
              <a:defRPr lang="en-US" sz="2200" dirty="0">
                <a:solidFill>
                  <a:srgbClr val="C3C2B7"/>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121A2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10515600" cy="914400"/>
          </a:xfrm>
          <a:prstGeom prst="rect">
            <a:avLst/>
          </a:prstGeom>
          <a:noFill/>
          <a:ln/>
        </p:spPr>
        <p:txBody>
          <a:bodyPr wrap="square" rtlCol="0"/>
          <a:lstStyle>
            <a:lvl1pPr algn="l" indent="0" marL="0">
              <a:buNone/>
              <a:defRPr lang="en-US" sz="4400" b="1" dirty="0">
                <a:solidFill>
                  <a:srgbClr val="FFFFFF"/>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548640" y="2468880"/>
            <a:ext cx="10515600" cy="3017520"/>
          </a:xfrm>
          <a:prstGeom prst="rect">
            <a:avLst/>
          </a:prstGeom>
          <a:noFill/>
          <a:ln/>
        </p:spPr>
        <p:txBody>
          <a:bodyPr wrap="square" rtlCol="0"/>
          <a:lstStyle>
            <a:lvl1pPr algn="l" indent="0" marL="0">
              <a:buNone/>
              <a:defRPr lang="en-US" sz="2200" dirty="0">
                <a:solidFill>
                  <a:srgbClr val="E1E0D9"/>
                </a:solidFill>
              </a:defRPr>
            </a:lvl1pPr>
          </a:lstStyle>
          <a:p>
            <a:pPr algn="l"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Dark">
    <p:bg>
      <p:bgPr>
        <a:solidFill>
          <a:srgbClr val="121A2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64240" cy="91440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3611880"/>
            <a:ext cx="11064240" cy="731520"/>
          </a:xfrm>
          <a:prstGeom prst="rect">
            <a:avLst/>
          </a:prstGeom>
          <a:noFill/>
          <a:ln/>
        </p:spPr>
        <p:txBody>
          <a:bodyPr wrap="square" rtlCol="0"/>
          <a:lstStyle>
            <a:lvl1pPr indent="0" marL="0">
              <a:buNone/>
              <a:defRPr lang="en-US" sz="2000" dirty="0">
                <a:solidFill>
                  <a:srgbClr val="C3C2B7"/>
                </a:solidFill>
              </a:defRPr>
            </a:lvl1pPr>
          </a:lstStyle>
          <a:p>
            <a:pPr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CFCF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rgbClr val="0B0B0B"/>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898781"/>
                </a:solidFill>
              </a:rPr>
              <a:t>VolStrat · personal research · hypothetical backtested results, not investment advice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5.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0515600" cy="1280160"/>
          </a:xfrm>
          <a:prstGeom prst="rect">
            <a:avLst/>
          </a:prstGeom>
          <a:noFill/>
          <a:ln/>
        </p:spPr>
        <p:txBody>
          <a:bodyPr wrap="square" lIns="0" tIns="0" rIns="0" bIns="0" rtlCol="0" anchor="b"/>
          <a:lstStyle/>
          <a:p>
            <a:pPr algn="l" indent="0" marL="0">
              <a:buNone/>
            </a:pPr>
            <a:r>
              <a:rPr lang="en-US" sz="5400" b="1" dirty="0">
                <a:solidFill>
                  <a:srgbClr val="FFFFFF"/>
                </a:solidFill>
                <a:latin typeface="Arial" pitchFamily="34" charset="0"/>
                <a:ea typeface="Arial" pitchFamily="34" charset="-122"/>
                <a:cs typeface="Arial" pitchFamily="34" charset="-120"/>
              </a:rPr>
              <a:t>VolStrat</a:t>
            </a:r>
            <a:endParaRPr lang="en-US" sz="5400" dirty="0"/>
          </a:p>
        </p:txBody>
      </p:sp>
      <p:sp>
        <p:nvSpPr>
          <p:cNvPr id="3" name="Text 0"/>
          <p:cNvSpPr/>
          <p:nvPr>
            <p:ph idx="101" type="body" hasCustomPrompt="1"/>
          </p:nvPr>
        </p:nvSpPr>
        <p:spPr>
          <a:xfrm>
            <a:off x="548640" y="3566160"/>
            <a:ext cx="10058400" cy="1097280"/>
          </a:xfrm>
          <a:prstGeom prst="rect">
            <a:avLst/>
          </a:prstGeom>
          <a:noFill/>
          <a:ln/>
        </p:spPr>
        <p:txBody>
          <a:bodyPr wrap="square" lIns="0" tIns="0" rIns="0" bIns="0" rtlCol="0" anchor="t"/>
          <a:lstStyle/>
          <a:p>
            <a:pPr indent="0" marL="0">
              <a:buNone/>
            </a:pPr>
            <a:r>
              <a:rPr lang="en-US" sz="2200" dirty="0">
                <a:solidFill>
                  <a:srgbClr val="C3C2B7"/>
                </a:solidFill>
              </a:rPr>
              <a:t>A volatility-regime allocator: one daily risk-appetite score drives a tactical portfolio, backtested in the browser</a:t>
            </a:r>
            <a:endParaRPr lang="en-US" sz="2200" dirty="0"/>
          </a:p>
        </p:txBody>
      </p:sp>
      <p:sp>
        <p:nvSpPr>
          <p:cNvPr id="4" name="regime dot Crisis"/>
          <p:cNvSpPr/>
          <p:nvPr/>
        </p:nvSpPr>
        <p:spPr>
          <a:xfrm>
            <a:off x="548640" y="1417320"/>
            <a:ext cx="347472" cy="347472"/>
          </a:xfrm>
          <a:prstGeom prst="ellipse">
            <a:avLst/>
          </a:prstGeom>
          <a:solidFill>
            <a:srgbClr val="D03B3B"/>
          </a:solidFill>
          <a:ln w="12700">
            <a:solidFill>
              <a:srgbClr val="D03B3B"/>
            </a:solidFill>
            <a:prstDash val="solid"/>
          </a:ln>
        </p:spPr>
      </p:sp>
      <p:sp>
        <p:nvSpPr>
          <p:cNvPr id="5" name="regime dot Risk-Off"/>
          <p:cNvSpPr/>
          <p:nvPr/>
        </p:nvSpPr>
        <p:spPr>
          <a:xfrm>
            <a:off x="1051560" y="1417320"/>
            <a:ext cx="347472" cy="347472"/>
          </a:xfrm>
          <a:prstGeom prst="ellipse">
            <a:avLst/>
          </a:prstGeom>
          <a:solidFill>
            <a:srgbClr val="EC9A8F"/>
          </a:solidFill>
          <a:ln w="12700">
            <a:solidFill>
              <a:srgbClr val="EC9A8F"/>
            </a:solidFill>
            <a:prstDash val="solid"/>
          </a:ln>
        </p:spPr>
      </p:sp>
      <p:sp>
        <p:nvSpPr>
          <p:cNvPr id="6" name="regime dot Neutral"/>
          <p:cNvSpPr/>
          <p:nvPr/>
        </p:nvSpPr>
        <p:spPr>
          <a:xfrm>
            <a:off x="1554480" y="1417320"/>
            <a:ext cx="347472" cy="347472"/>
          </a:xfrm>
          <a:prstGeom prst="ellipse">
            <a:avLst/>
          </a:prstGeom>
          <a:solidFill>
            <a:srgbClr val="B9B8B2"/>
          </a:solidFill>
          <a:ln w="12700">
            <a:solidFill>
              <a:srgbClr val="B9B8B2"/>
            </a:solidFill>
            <a:prstDash val="solid"/>
          </a:ln>
        </p:spPr>
      </p:sp>
      <p:sp>
        <p:nvSpPr>
          <p:cNvPr id="7" name="regime dot Risk-On"/>
          <p:cNvSpPr/>
          <p:nvPr/>
        </p:nvSpPr>
        <p:spPr>
          <a:xfrm>
            <a:off x="2057400" y="1417320"/>
            <a:ext cx="347472" cy="347472"/>
          </a:xfrm>
          <a:prstGeom prst="ellipse">
            <a:avLst/>
          </a:prstGeom>
          <a:solidFill>
            <a:srgbClr val="86B6EF"/>
          </a:solidFill>
          <a:ln w="12700">
            <a:solidFill>
              <a:srgbClr val="86B6EF"/>
            </a:solidFill>
            <a:prstDash val="solid"/>
          </a:ln>
        </p:spPr>
      </p:sp>
      <p:sp>
        <p:nvSpPr>
          <p:cNvPr id="8" name="regime dot Strong Risk-On"/>
          <p:cNvSpPr/>
          <p:nvPr/>
        </p:nvSpPr>
        <p:spPr>
          <a:xfrm>
            <a:off x="2560320" y="1417320"/>
            <a:ext cx="347472" cy="347472"/>
          </a:xfrm>
          <a:prstGeom prst="ellipse">
            <a:avLst/>
          </a:prstGeom>
          <a:solidFill>
            <a:srgbClr val="256ABF"/>
          </a:solidFill>
          <a:ln w="12700">
            <a:solidFill>
              <a:srgbClr val="256ABF"/>
            </a:solidFill>
            <a:prstDash val="solid"/>
          </a:ln>
        </p:spPr>
      </p:sp>
      <p:sp>
        <p:nvSpPr>
          <p:cNvPr id="9" name="Text 7"/>
          <p:cNvSpPr txBox="1"/>
          <p:nvPr/>
        </p:nvSpPr>
        <p:spPr>
          <a:xfrm>
            <a:off x="548640" y="5852160"/>
            <a:ext cx="7315200" cy="365760"/>
          </a:xfrm>
          <a:prstGeom prst="rect">
            <a:avLst/>
          </a:prstGeom>
          <a:noFill/>
          <a:ln/>
        </p:spPr>
        <p:txBody>
          <a:bodyPr wrap="square" lIns="0" tIns="0" rIns="0" bIns="0" rtlCol="0" anchor="ctr"/>
          <a:lstStyle/>
          <a:p>
            <a:pPr indent="0" marL="0">
              <a:buNone/>
            </a:pPr>
            <a:r>
              <a:rPr lang="en-US" sz="1600" dirty="0">
                <a:solidFill>
                  <a:srgbClr val="898781"/>
                </a:solidFill>
              </a:rPr>
              <a:t>app.kevinlhc.com/volstrat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Goal: cut the big drawdowns, keep most of the upside</a:t>
            </a:r>
            <a:endParaRPr lang="en-US" sz="3200" dirty="0"/>
          </a:p>
        </p:txBody>
      </p:sp>
      <p:sp>
        <p:nvSpPr>
          <p:cNvPr id="3" name="Text 1"/>
          <p:cNvSpPr txBox="1"/>
          <p:nvPr/>
        </p:nvSpPr>
        <p:spPr>
          <a:xfrm>
            <a:off x="548640" y="1371600"/>
            <a:ext cx="4572000" cy="365760"/>
          </a:xfrm>
          <a:prstGeom prst="rect">
            <a:avLst/>
          </a:prstGeom>
          <a:noFill/>
          <a:ln/>
        </p:spPr>
        <p:txBody>
          <a:bodyPr wrap="square" lIns="0" tIns="0" rIns="0" bIns="0" rtlCol="0" anchor="ctr"/>
          <a:lstStyle/>
          <a:p>
            <a:pPr indent="0" marL="0">
              <a:buNone/>
            </a:pPr>
            <a:r>
              <a:rPr lang="en-US" sz="1600" dirty="0">
                <a:solidFill>
                  <a:srgbClr val="52514E"/>
                </a:solidFill>
              </a:rPr>
              <a:t>Worst peak-to-trough loss, 2007 to Oct 2026</a:t>
            </a:r>
            <a:endParaRPr lang="en-US" sz="1600" dirty="0"/>
          </a:p>
        </p:txBody>
      </p:sp>
      <p:sp>
        <p:nvSpPr>
          <p:cNvPr id="4" name="Text 2"/>
          <p:cNvSpPr txBox="1"/>
          <p:nvPr/>
        </p:nvSpPr>
        <p:spPr>
          <a:xfrm>
            <a:off x="548640" y="1828800"/>
            <a:ext cx="4572000" cy="1188720"/>
          </a:xfrm>
          <a:prstGeom prst="rect">
            <a:avLst/>
          </a:prstGeom>
          <a:noFill/>
          <a:ln/>
        </p:spPr>
        <p:txBody>
          <a:bodyPr wrap="square" lIns="0" tIns="0" rIns="0" bIns="0" rtlCol="0" anchor="ctr"/>
          <a:lstStyle/>
          <a:p>
            <a:pPr indent="0" marL="0">
              <a:buNone/>
            </a:pPr>
            <a:r>
              <a:rPr lang="en-US" sz="7200" b="1" dirty="0">
                <a:solidFill>
                  <a:srgbClr val="2A78D6"/>
                </a:solidFill>
                <a:latin typeface="Arial" pitchFamily="34" charset="0"/>
                <a:ea typeface="Arial" pitchFamily="34" charset="-122"/>
                <a:cs typeface="Arial" pitchFamily="34" charset="-120"/>
              </a:rPr>
              <a:t>−23.8%</a:t>
            </a:r>
            <a:endParaRPr lang="en-US" sz="7200" dirty="0"/>
          </a:p>
        </p:txBody>
      </p:sp>
      <p:sp>
        <p:nvSpPr>
          <p:cNvPr id="5" name="Text 3"/>
          <p:cNvSpPr txBox="1"/>
          <p:nvPr/>
        </p:nvSpPr>
        <p:spPr>
          <a:xfrm>
            <a:off x="548640" y="3017520"/>
            <a:ext cx="4572000" cy="365760"/>
          </a:xfrm>
          <a:prstGeom prst="rect">
            <a:avLst/>
          </a:prstGeom>
          <a:noFill/>
          <a:ln/>
        </p:spPr>
        <p:txBody>
          <a:bodyPr wrap="square" lIns="0" tIns="0" rIns="0" bIns="0" rtlCol="0" anchor="ctr"/>
          <a:lstStyle/>
          <a:p>
            <a:pPr indent="0" marL="0">
              <a:buNone/>
            </a:pPr>
            <a:r>
              <a:rPr lang="en-US" sz="1600" dirty="0">
                <a:solidFill>
                  <a:srgbClr val="0B0B0B"/>
                </a:solidFill>
              </a:rPr>
              <a:t>VolStrat (Growth profile)</a:t>
            </a:r>
            <a:endParaRPr lang="en-US" sz="1600" dirty="0"/>
          </a:p>
        </p:txBody>
      </p:sp>
      <p:sp>
        <p:nvSpPr>
          <p:cNvPr id="6" name="Text 4"/>
          <p:cNvSpPr txBox="1"/>
          <p:nvPr/>
        </p:nvSpPr>
        <p:spPr>
          <a:xfrm>
            <a:off x="548640" y="3657600"/>
            <a:ext cx="4572000" cy="1188720"/>
          </a:xfrm>
          <a:prstGeom prst="rect">
            <a:avLst/>
          </a:prstGeom>
          <a:noFill/>
          <a:ln/>
        </p:spPr>
        <p:txBody>
          <a:bodyPr wrap="square" lIns="0" tIns="0" rIns="0" bIns="0" rtlCol="0" anchor="ctr"/>
          <a:lstStyle/>
          <a:p>
            <a:pPr indent="0" marL="0">
              <a:buNone/>
            </a:pPr>
            <a:r>
              <a:rPr lang="en-US" sz="7200" b="1" dirty="0">
                <a:solidFill>
                  <a:srgbClr val="EB6834"/>
                </a:solidFill>
                <a:latin typeface="Arial" pitchFamily="34" charset="0"/>
                <a:ea typeface="Arial" pitchFamily="34" charset="-122"/>
                <a:cs typeface="Arial" pitchFamily="34" charset="-120"/>
              </a:rPr>
              <a:t>−55.2%</a:t>
            </a:r>
            <a:endParaRPr lang="en-US" sz="7200" dirty="0"/>
          </a:p>
        </p:txBody>
      </p:sp>
      <p:sp>
        <p:nvSpPr>
          <p:cNvPr id="7" name="Text 5"/>
          <p:cNvSpPr txBox="1"/>
          <p:nvPr/>
        </p:nvSpPr>
        <p:spPr>
          <a:xfrm>
            <a:off x="548640" y="4846320"/>
            <a:ext cx="4572000" cy="365760"/>
          </a:xfrm>
          <a:prstGeom prst="rect">
            <a:avLst/>
          </a:prstGeom>
          <a:noFill/>
          <a:ln/>
        </p:spPr>
        <p:txBody>
          <a:bodyPr wrap="square" lIns="0" tIns="0" rIns="0" bIns="0" rtlCol="0" anchor="ctr"/>
          <a:lstStyle/>
          <a:p>
            <a:pPr indent="0" marL="0">
              <a:buNone/>
            </a:pPr>
            <a:r>
              <a:rPr lang="en-US" sz="1600" dirty="0">
                <a:solidFill>
                  <a:srgbClr val="0B0B0B"/>
                </a:solidFill>
              </a:rPr>
              <a:t>S&amp;P 500 buy and hold</a:t>
            </a:r>
            <a:endParaRPr lang="en-US" sz="1600" dirty="0"/>
          </a:p>
        </p:txBody>
      </p:sp>
      <p:sp>
        <p:nvSpPr>
          <p:cNvPr id="8" name="Text 6"/>
          <p:cNvSpPr txBox="1"/>
          <p:nvPr/>
        </p:nvSpPr>
        <p:spPr>
          <a:xfrm>
            <a:off x="548640" y="5440680"/>
            <a:ext cx="4754880" cy="685800"/>
          </a:xfrm>
          <a:prstGeom prst="rect">
            <a:avLst/>
          </a:prstGeom>
          <a:noFill/>
          <a:ln/>
        </p:spPr>
        <p:txBody>
          <a:bodyPr wrap="square" lIns="0" tIns="0" rIns="0" bIns="0" rtlCol="0" anchor="ctr"/>
          <a:lstStyle/>
          <a:p>
            <a:pPr indent="0" marL="0">
              <a:buNone/>
            </a:pPr>
            <a:r>
              <a:rPr lang="en-US" sz="1400" dirty="0">
                <a:solidFill>
                  <a:srgbClr val="52514E"/>
                </a:solidFill>
              </a:rPr>
              <a:t>CAGR 9.7% vs 10.9% for the S&amp;P 500 at about two-thirds of its volatility (12.7% vs 19.5%)</a:t>
            </a:r>
            <a:endParaRPr lang="en-US" sz="1400" dirty="0"/>
          </a:p>
        </p:txBody>
      </p:sp>
      <p:graphicFrame>
        <p:nvGraphicFramePr>
          <p:cNvPr id="9" name="Chart 0" descr=""/>
          <p:cNvGraphicFramePr/>
          <p:nvPr/>
        </p:nvGraphicFramePr>
        <p:xfrm>
          <a:off x="5852160" y="1325880"/>
          <a:ext cx="576072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egime dot Crisis"/>
          <p:cNvSpPr/>
          <p:nvPr/>
        </p:nvSpPr>
        <p:spPr>
          <a:xfrm>
            <a:off x="548640" y="2103120"/>
            <a:ext cx="274320" cy="274320"/>
          </a:xfrm>
          <a:prstGeom prst="ellipse">
            <a:avLst/>
          </a:prstGeom>
          <a:solidFill>
            <a:srgbClr val="D03B3B"/>
          </a:solidFill>
          <a:ln w="12700">
            <a:solidFill>
              <a:srgbClr val="D03B3B"/>
            </a:solidFill>
            <a:prstDash val="solid"/>
          </a:ln>
        </p:spPr>
      </p:sp>
      <p:sp>
        <p:nvSpPr>
          <p:cNvPr id="3" name="regime dot Risk-Off"/>
          <p:cNvSpPr/>
          <p:nvPr/>
        </p:nvSpPr>
        <p:spPr>
          <a:xfrm>
            <a:off x="960120" y="2103120"/>
            <a:ext cx="274320" cy="274320"/>
          </a:xfrm>
          <a:prstGeom prst="ellipse">
            <a:avLst/>
          </a:prstGeom>
          <a:solidFill>
            <a:srgbClr val="EC9A8F"/>
          </a:solidFill>
          <a:ln w="12700">
            <a:solidFill>
              <a:srgbClr val="EC9A8F"/>
            </a:solidFill>
            <a:prstDash val="solid"/>
          </a:ln>
        </p:spPr>
      </p:sp>
      <p:sp>
        <p:nvSpPr>
          <p:cNvPr id="4" name="regime dot Neutral"/>
          <p:cNvSpPr/>
          <p:nvPr/>
        </p:nvSpPr>
        <p:spPr>
          <a:xfrm>
            <a:off x="1371600" y="2103120"/>
            <a:ext cx="274320" cy="274320"/>
          </a:xfrm>
          <a:prstGeom prst="ellipse">
            <a:avLst/>
          </a:prstGeom>
          <a:solidFill>
            <a:srgbClr val="B9B8B2"/>
          </a:solidFill>
          <a:ln w="12700">
            <a:solidFill>
              <a:srgbClr val="B9B8B2"/>
            </a:solidFill>
            <a:prstDash val="solid"/>
          </a:ln>
        </p:spPr>
      </p:sp>
      <p:sp>
        <p:nvSpPr>
          <p:cNvPr id="5" name="regime dot Risk-On"/>
          <p:cNvSpPr/>
          <p:nvPr/>
        </p:nvSpPr>
        <p:spPr>
          <a:xfrm>
            <a:off x="1783080" y="2103120"/>
            <a:ext cx="274320" cy="274320"/>
          </a:xfrm>
          <a:prstGeom prst="ellipse">
            <a:avLst/>
          </a:prstGeom>
          <a:solidFill>
            <a:srgbClr val="86B6EF"/>
          </a:solidFill>
          <a:ln w="12700">
            <a:solidFill>
              <a:srgbClr val="86B6EF"/>
            </a:solidFill>
            <a:prstDash val="solid"/>
          </a:ln>
        </p:spPr>
      </p:sp>
      <p:sp>
        <p:nvSpPr>
          <p:cNvPr id="6" name="regime dot Strong Risk-On"/>
          <p:cNvSpPr/>
          <p:nvPr/>
        </p:nvSpPr>
        <p:spPr>
          <a:xfrm>
            <a:off x="2194560" y="2103120"/>
            <a:ext cx="274320" cy="274320"/>
          </a:xfrm>
          <a:prstGeom prst="ellipse">
            <a:avLst/>
          </a:prstGeom>
          <a:solidFill>
            <a:srgbClr val="256ABF"/>
          </a:solidFill>
          <a:ln w="12700">
            <a:solidFill>
              <a:srgbClr val="256ABF"/>
            </a:solidFill>
            <a:prstDash val="solid"/>
          </a:ln>
        </p:spPr>
      </p:sp>
      <p:sp>
        <p:nvSpPr>
          <p:cNvPr id="7" name="Text 0"/>
          <p:cNvSpPr/>
          <p:nvPr>
            <p:ph idx="100" type="title" hasCustomPrompt="1"/>
          </p:nvPr>
        </p:nvSpPr>
        <p:spPr>
          <a:xfrm>
            <a:off x="548640" y="2651760"/>
            <a:ext cx="1106424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How it works</a:t>
            </a:r>
            <a:endParaRPr lang="en-US" sz="4000" dirty="0"/>
          </a:p>
        </p:txBody>
      </p:sp>
      <p:sp>
        <p:nvSpPr>
          <p:cNvPr id="8" name="Text 0"/>
          <p:cNvSpPr/>
          <p:nvPr>
            <p:ph idx="101" type="body" hasCustomPrompt="1"/>
          </p:nvPr>
        </p:nvSpPr>
        <p:spPr>
          <a:xfrm>
            <a:off x="548640" y="3611880"/>
            <a:ext cx="11064240" cy="731520"/>
          </a:xfrm>
          <a:prstGeom prst="rect">
            <a:avLst/>
          </a:prstGeom>
          <a:noFill/>
          <a:ln/>
        </p:spPr>
        <p:txBody>
          <a:bodyPr wrap="square" lIns="0" tIns="0" rIns="0" bIns="0" rtlCol="0" anchor="t"/>
          <a:lstStyle/>
          <a:p>
            <a:pPr indent="0" marL="0">
              <a:buNone/>
            </a:pPr>
            <a:r>
              <a:rPr lang="en-US" sz="2000" dirty="0">
                <a:solidFill>
                  <a:srgbClr val="C3C2B7"/>
                </a:solidFill>
              </a:rPr>
              <a:t>Data → score → regime → portfolio</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From public market data to a daily allocation</a:t>
            </a:r>
            <a:endParaRPr lang="en-US" sz="3200" dirty="0"/>
          </a:p>
        </p:txBody>
      </p:sp>
      <p:sp>
        <p:nvSpPr>
          <p:cNvPr id="3" name="step card 1"/>
          <p:cNvSpPr/>
          <p:nvPr/>
        </p:nvSpPr>
        <p:spPr>
          <a:xfrm>
            <a:off x="548640" y="1554480"/>
            <a:ext cx="2057400" cy="3291840"/>
          </a:xfrm>
          <a:prstGeom prst="roundRect">
            <a:avLst>
              <a:gd name="adj" fmla="val 5333"/>
            </a:avLst>
          </a:prstGeom>
          <a:solidFill>
            <a:srgbClr val="FFFFFF"/>
          </a:solidFill>
          <a:ln w="12700">
            <a:solidFill>
              <a:srgbClr val="E1E0D9"/>
            </a:solidFill>
            <a:prstDash val="solid"/>
          </a:ln>
        </p:spPr>
      </p:sp>
      <p:sp>
        <p:nvSpPr>
          <p:cNvPr id="4" name="step 1 circle"/>
          <p:cNvSpPr/>
          <p:nvPr/>
        </p:nvSpPr>
        <p:spPr>
          <a:xfrm>
            <a:off x="777240" y="1783080"/>
            <a:ext cx="731520" cy="731520"/>
          </a:xfrm>
          <a:prstGeom prst="ellipse">
            <a:avLst/>
          </a:prstGeom>
          <a:solidFill>
            <a:srgbClr val="2A78D6"/>
          </a:solidFill>
          <a:ln w="12700">
            <a:solidFill>
              <a:srgbClr val="2A78D6"/>
            </a:solidFill>
            <a:prstDash val="solid"/>
          </a:ln>
        </p:spPr>
      </p:sp>
      <p:pic>
        <p:nvPicPr>
          <p:cNvPr id="5" name="step 1 icon" descr="step 1">    </p:cNvPr>
          <p:cNvPicPr>
            <a:picLocks noChangeAspect="1"/>
          </p:cNvPicPr>
          <p:nvPr/>
        </p:nvPicPr>
        <p:blipFill>
          <a:blip r:embed="rId1"/>
          <a:stretch>
            <a:fillRect/>
          </a:stretch>
        </p:blipFill>
        <p:spPr>
          <a:xfrm>
            <a:off x="960120" y="1965960"/>
            <a:ext cx="365760" cy="365760"/>
          </a:xfrm>
          <a:prstGeom prst="rect">
            <a:avLst/>
          </a:prstGeom>
        </p:spPr>
      </p:pic>
      <p:sp>
        <p:nvSpPr>
          <p:cNvPr id="6" name="Text 3"/>
          <p:cNvSpPr txBox="1"/>
          <p:nvPr/>
        </p:nvSpPr>
        <p:spPr>
          <a:xfrm>
            <a:off x="777240" y="2697480"/>
            <a:ext cx="1600200" cy="411480"/>
          </a:xfrm>
          <a:prstGeom prst="rect">
            <a:avLst/>
          </a:prstGeom>
          <a:noFill/>
          <a:ln/>
        </p:spPr>
        <p:txBody>
          <a:bodyPr wrap="square" lIns="0" tIns="0" rIns="0" bIns="0" rtlCol="0" anchor="ctr"/>
          <a:lstStyle/>
          <a:p>
            <a:pPr indent="0" marL="0">
              <a:buNone/>
            </a:pPr>
            <a:r>
              <a:rPr lang="en-US" sz="2000" b="1" dirty="0">
                <a:solidFill>
                  <a:srgbClr val="0B0B0B"/>
                </a:solidFill>
                <a:latin typeface="Arial" pitchFamily="34" charset="0"/>
                <a:ea typeface="Arial" pitchFamily="34" charset="-122"/>
                <a:cs typeface="Arial" pitchFamily="34" charset="-120"/>
              </a:rPr>
              <a:t>1  Collect</a:t>
            </a:r>
            <a:endParaRPr lang="en-US" sz="2000" dirty="0"/>
          </a:p>
        </p:txBody>
      </p:sp>
      <p:sp>
        <p:nvSpPr>
          <p:cNvPr id="7" name="Text 4"/>
          <p:cNvSpPr txBox="1"/>
          <p:nvPr/>
        </p:nvSpPr>
        <p:spPr>
          <a:xfrm>
            <a:off x="777240" y="3154680"/>
            <a:ext cx="1600200" cy="1600200"/>
          </a:xfrm>
          <a:prstGeom prst="rect">
            <a:avLst/>
          </a:prstGeom>
          <a:noFill/>
          <a:ln/>
        </p:spPr>
        <p:txBody>
          <a:bodyPr wrap="square" lIns="0" tIns="0" rIns="0" bIns="0" rtlCol="0" anchor="t"/>
          <a:lstStyle/>
          <a:p>
            <a:pPr indent="0" marL="0">
              <a:buNone/>
            </a:pPr>
            <a:r>
              <a:rPr lang="en-US" sz="1400" dirty="0">
                <a:solidFill>
                  <a:srgbClr val="52514E"/>
                </a:solidFill>
              </a:rPr>
              <a:t>Cboe indices, CFE VIX futures, put/call, Yahoo ETFs, US Treasury curve, FRED credit</a:t>
            </a:r>
            <a:endParaRPr lang="en-US" sz="1400" dirty="0"/>
          </a:p>
        </p:txBody>
      </p:sp>
      <p:sp>
        <p:nvSpPr>
          <p:cNvPr id="8" name="Text 5"/>
          <p:cNvSpPr txBox="1"/>
          <p:nvPr/>
        </p:nvSpPr>
        <p:spPr>
          <a:xfrm>
            <a:off x="2606040" y="2834640"/>
            <a:ext cx="194310" cy="548640"/>
          </a:xfrm>
          <a:prstGeom prst="rect">
            <a:avLst/>
          </a:prstGeom>
          <a:noFill/>
          <a:ln/>
        </p:spPr>
        <p:txBody>
          <a:bodyPr wrap="square" lIns="0" tIns="0" rIns="0" bIns="0" rtlCol="0" anchor="ctr"/>
          <a:lstStyle/>
          <a:p>
            <a:pPr algn="ctr" indent="0" marL="0">
              <a:buNone/>
            </a:pPr>
            <a:r>
              <a:rPr lang="en-US" sz="2400" dirty="0">
                <a:solidFill>
                  <a:srgbClr val="898781"/>
                </a:solidFill>
              </a:rPr>
              <a:t>›</a:t>
            </a:r>
            <a:endParaRPr lang="en-US" sz="2400" dirty="0"/>
          </a:p>
        </p:txBody>
      </p:sp>
      <p:sp>
        <p:nvSpPr>
          <p:cNvPr id="9" name="step card 2"/>
          <p:cNvSpPr/>
          <p:nvPr/>
        </p:nvSpPr>
        <p:spPr>
          <a:xfrm>
            <a:off x="2800350" y="1554480"/>
            <a:ext cx="2057400" cy="3291840"/>
          </a:xfrm>
          <a:prstGeom prst="roundRect">
            <a:avLst>
              <a:gd name="adj" fmla="val 5333"/>
            </a:avLst>
          </a:prstGeom>
          <a:solidFill>
            <a:srgbClr val="FFFFFF"/>
          </a:solidFill>
          <a:ln w="12700">
            <a:solidFill>
              <a:srgbClr val="E1E0D9"/>
            </a:solidFill>
            <a:prstDash val="solid"/>
          </a:ln>
        </p:spPr>
      </p:sp>
      <p:sp>
        <p:nvSpPr>
          <p:cNvPr id="10" name="step 2 circle"/>
          <p:cNvSpPr/>
          <p:nvPr/>
        </p:nvSpPr>
        <p:spPr>
          <a:xfrm>
            <a:off x="3028950" y="1783080"/>
            <a:ext cx="731520" cy="731520"/>
          </a:xfrm>
          <a:prstGeom prst="ellipse">
            <a:avLst/>
          </a:prstGeom>
          <a:solidFill>
            <a:srgbClr val="2A78D6"/>
          </a:solidFill>
          <a:ln w="12700">
            <a:solidFill>
              <a:srgbClr val="2A78D6"/>
            </a:solidFill>
            <a:prstDash val="solid"/>
          </a:ln>
        </p:spPr>
      </p:sp>
      <p:pic>
        <p:nvPicPr>
          <p:cNvPr id="11" name="step 2 icon" descr="step 2">    </p:cNvPr>
          <p:cNvPicPr>
            <a:picLocks noChangeAspect="1"/>
          </p:cNvPicPr>
          <p:nvPr/>
        </p:nvPicPr>
        <p:blipFill>
          <a:blip r:embed="rId2"/>
          <a:stretch>
            <a:fillRect/>
          </a:stretch>
        </p:blipFill>
        <p:spPr>
          <a:xfrm>
            <a:off x="3211830" y="1965960"/>
            <a:ext cx="365760" cy="365760"/>
          </a:xfrm>
          <a:prstGeom prst="rect">
            <a:avLst/>
          </a:prstGeom>
        </p:spPr>
      </p:pic>
      <p:sp>
        <p:nvSpPr>
          <p:cNvPr id="12" name="Text 8"/>
          <p:cNvSpPr txBox="1"/>
          <p:nvPr/>
        </p:nvSpPr>
        <p:spPr>
          <a:xfrm>
            <a:off x="3028950" y="2697480"/>
            <a:ext cx="1600200" cy="411480"/>
          </a:xfrm>
          <a:prstGeom prst="rect">
            <a:avLst/>
          </a:prstGeom>
          <a:noFill/>
          <a:ln/>
        </p:spPr>
        <p:txBody>
          <a:bodyPr wrap="square" lIns="0" tIns="0" rIns="0" bIns="0" rtlCol="0" anchor="ctr"/>
          <a:lstStyle/>
          <a:p>
            <a:pPr indent="0" marL="0">
              <a:buNone/>
            </a:pPr>
            <a:r>
              <a:rPr lang="en-US" sz="2000" b="1" dirty="0">
                <a:solidFill>
                  <a:srgbClr val="0B0B0B"/>
                </a:solidFill>
                <a:latin typeface="Arial" pitchFamily="34" charset="0"/>
                <a:ea typeface="Arial" pitchFamily="34" charset="-122"/>
                <a:cs typeface="Arial" pitchFamily="34" charset="-120"/>
              </a:rPr>
              <a:t>2  Score</a:t>
            </a:r>
            <a:endParaRPr lang="en-US" sz="2000" dirty="0"/>
          </a:p>
        </p:txBody>
      </p:sp>
      <p:sp>
        <p:nvSpPr>
          <p:cNvPr id="13" name="Text 9"/>
          <p:cNvSpPr txBox="1"/>
          <p:nvPr/>
        </p:nvSpPr>
        <p:spPr>
          <a:xfrm>
            <a:off x="3028950" y="3154680"/>
            <a:ext cx="1600200" cy="1600200"/>
          </a:xfrm>
          <a:prstGeom prst="rect">
            <a:avLst/>
          </a:prstGeom>
          <a:noFill/>
          <a:ln/>
        </p:spPr>
        <p:txBody>
          <a:bodyPr wrap="square" lIns="0" tIns="0" rIns="0" bIns="0" rtlCol="0" anchor="t"/>
          <a:lstStyle/>
          <a:p>
            <a:pPr indent="0" marL="0">
              <a:buNone/>
            </a:pPr>
            <a:r>
              <a:rPr lang="en-US" sz="1400" dirty="0">
                <a:solidFill>
                  <a:srgbClr val="52514E"/>
                </a:solidFill>
              </a:rPr>
              <a:t>9 components ranked against their own trailing 3 years, then averaged into 0–100</a:t>
            </a:r>
            <a:endParaRPr lang="en-US" sz="1400" dirty="0"/>
          </a:p>
        </p:txBody>
      </p:sp>
      <p:sp>
        <p:nvSpPr>
          <p:cNvPr id="14" name="Text 10"/>
          <p:cNvSpPr txBox="1"/>
          <p:nvPr/>
        </p:nvSpPr>
        <p:spPr>
          <a:xfrm>
            <a:off x="4857750" y="2834640"/>
            <a:ext cx="194310" cy="548640"/>
          </a:xfrm>
          <a:prstGeom prst="rect">
            <a:avLst/>
          </a:prstGeom>
          <a:noFill/>
          <a:ln/>
        </p:spPr>
        <p:txBody>
          <a:bodyPr wrap="square" lIns="0" tIns="0" rIns="0" bIns="0" rtlCol="0" anchor="ctr"/>
          <a:lstStyle/>
          <a:p>
            <a:pPr algn="ctr" indent="0" marL="0">
              <a:buNone/>
            </a:pPr>
            <a:r>
              <a:rPr lang="en-US" sz="2400" dirty="0">
                <a:solidFill>
                  <a:srgbClr val="898781"/>
                </a:solidFill>
              </a:rPr>
              <a:t>›</a:t>
            </a:r>
            <a:endParaRPr lang="en-US" sz="2400" dirty="0"/>
          </a:p>
        </p:txBody>
      </p:sp>
      <p:sp>
        <p:nvSpPr>
          <p:cNvPr id="15" name="step card 3"/>
          <p:cNvSpPr/>
          <p:nvPr/>
        </p:nvSpPr>
        <p:spPr>
          <a:xfrm>
            <a:off x="5052060" y="1554480"/>
            <a:ext cx="2057400" cy="3291840"/>
          </a:xfrm>
          <a:prstGeom prst="roundRect">
            <a:avLst>
              <a:gd name="adj" fmla="val 5333"/>
            </a:avLst>
          </a:prstGeom>
          <a:solidFill>
            <a:srgbClr val="FFFFFF"/>
          </a:solidFill>
          <a:ln w="12700">
            <a:solidFill>
              <a:srgbClr val="E1E0D9"/>
            </a:solidFill>
            <a:prstDash val="solid"/>
          </a:ln>
        </p:spPr>
      </p:sp>
      <p:sp>
        <p:nvSpPr>
          <p:cNvPr id="16" name="step 3 circle"/>
          <p:cNvSpPr/>
          <p:nvPr/>
        </p:nvSpPr>
        <p:spPr>
          <a:xfrm>
            <a:off x="5280660" y="1783080"/>
            <a:ext cx="731520" cy="731520"/>
          </a:xfrm>
          <a:prstGeom prst="ellipse">
            <a:avLst/>
          </a:prstGeom>
          <a:solidFill>
            <a:srgbClr val="2A78D6"/>
          </a:solidFill>
          <a:ln w="12700">
            <a:solidFill>
              <a:srgbClr val="2A78D6"/>
            </a:solidFill>
            <a:prstDash val="solid"/>
          </a:ln>
        </p:spPr>
      </p:sp>
      <p:pic>
        <p:nvPicPr>
          <p:cNvPr id="17" name="step 3 icon" descr="step 3">    </p:cNvPr>
          <p:cNvPicPr>
            <a:picLocks noChangeAspect="1"/>
          </p:cNvPicPr>
          <p:nvPr/>
        </p:nvPicPr>
        <p:blipFill>
          <a:blip r:embed="rId3"/>
          <a:stretch>
            <a:fillRect/>
          </a:stretch>
        </p:blipFill>
        <p:spPr>
          <a:xfrm>
            <a:off x="5463540" y="1965960"/>
            <a:ext cx="365760" cy="365760"/>
          </a:xfrm>
          <a:prstGeom prst="rect">
            <a:avLst/>
          </a:prstGeom>
        </p:spPr>
      </p:pic>
      <p:sp>
        <p:nvSpPr>
          <p:cNvPr id="18" name="Text 13"/>
          <p:cNvSpPr txBox="1"/>
          <p:nvPr/>
        </p:nvSpPr>
        <p:spPr>
          <a:xfrm>
            <a:off x="5280660" y="2697480"/>
            <a:ext cx="1600200" cy="411480"/>
          </a:xfrm>
          <a:prstGeom prst="rect">
            <a:avLst/>
          </a:prstGeom>
          <a:noFill/>
          <a:ln/>
        </p:spPr>
        <p:txBody>
          <a:bodyPr wrap="square" lIns="0" tIns="0" rIns="0" bIns="0" rtlCol="0" anchor="ctr"/>
          <a:lstStyle/>
          <a:p>
            <a:pPr indent="0" marL="0">
              <a:buNone/>
            </a:pPr>
            <a:r>
              <a:rPr lang="en-US" sz="2000" b="1" dirty="0">
                <a:solidFill>
                  <a:srgbClr val="0B0B0B"/>
                </a:solidFill>
                <a:latin typeface="Arial" pitchFamily="34" charset="0"/>
                <a:ea typeface="Arial" pitchFamily="34" charset="-122"/>
                <a:cs typeface="Arial" pitchFamily="34" charset="-120"/>
              </a:rPr>
              <a:t>3  Classify</a:t>
            </a:r>
            <a:endParaRPr lang="en-US" sz="2000" dirty="0"/>
          </a:p>
        </p:txBody>
      </p:sp>
      <p:sp>
        <p:nvSpPr>
          <p:cNvPr id="19" name="Text 14"/>
          <p:cNvSpPr txBox="1"/>
          <p:nvPr/>
        </p:nvSpPr>
        <p:spPr>
          <a:xfrm>
            <a:off x="5280660" y="3154680"/>
            <a:ext cx="1600200" cy="1600200"/>
          </a:xfrm>
          <a:prstGeom prst="rect">
            <a:avLst/>
          </a:prstGeom>
          <a:noFill/>
          <a:ln/>
        </p:spPr>
        <p:txBody>
          <a:bodyPr wrap="square" lIns="0" tIns="0" rIns="0" bIns="0" rtlCol="0" anchor="t"/>
          <a:lstStyle/>
          <a:p>
            <a:pPr indent="0" marL="0">
              <a:buNone/>
            </a:pPr>
            <a:r>
              <a:rPr lang="en-US" sz="1400" dirty="0">
                <a:solidFill>
                  <a:srgbClr val="52514E"/>
                </a:solidFill>
              </a:rPr>
              <a:t>Cut-offs 20 / 40 / 60 / 80 with a 2.5-point buffer give five regimes</a:t>
            </a:r>
            <a:endParaRPr lang="en-US" sz="1400" dirty="0"/>
          </a:p>
        </p:txBody>
      </p:sp>
      <p:sp>
        <p:nvSpPr>
          <p:cNvPr id="20" name="Text 15"/>
          <p:cNvSpPr txBox="1"/>
          <p:nvPr/>
        </p:nvSpPr>
        <p:spPr>
          <a:xfrm>
            <a:off x="7109460" y="2834640"/>
            <a:ext cx="194310" cy="548640"/>
          </a:xfrm>
          <a:prstGeom prst="rect">
            <a:avLst/>
          </a:prstGeom>
          <a:noFill/>
          <a:ln/>
        </p:spPr>
        <p:txBody>
          <a:bodyPr wrap="square" lIns="0" tIns="0" rIns="0" bIns="0" rtlCol="0" anchor="ctr"/>
          <a:lstStyle/>
          <a:p>
            <a:pPr algn="ctr" indent="0" marL="0">
              <a:buNone/>
            </a:pPr>
            <a:r>
              <a:rPr lang="en-US" sz="2400" dirty="0">
                <a:solidFill>
                  <a:srgbClr val="898781"/>
                </a:solidFill>
              </a:rPr>
              <a:t>›</a:t>
            </a:r>
            <a:endParaRPr lang="en-US" sz="2400" dirty="0"/>
          </a:p>
        </p:txBody>
      </p:sp>
      <p:sp>
        <p:nvSpPr>
          <p:cNvPr id="21" name="step card 4"/>
          <p:cNvSpPr/>
          <p:nvPr/>
        </p:nvSpPr>
        <p:spPr>
          <a:xfrm>
            <a:off x="7303770" y="1554480"/>
            <a:ext cx="2057400" cy="3291840"/>
          </a:xfrm>
          <a:prstGeom prst="roundRect">
            <a:avLst>
              <a:gd name="adj" fmla="val 5333"/>
            </a:avLst>
          </a:prstGeom>
          <a:solidFill>
            <a:srgbClr val="FFFFFF"/>
          </a:solidFill>
          <a:ln w="12700">
            <a:solidFill>
              <a:srgbClr val="E1E0D9"/>
            </a:solidFill>
            <a:prstDash val="solid"/>
          </a:ln>
        </p:spPr>
      </p:sp>
      <p:sp>
        <p:nvSpPr>
          <p:cNvPr id="22" name="step 4 circle"/>
          <p:cNvSpPr/>
          <p:nvPr/>
        </p:nvSpPr>
        <p:spPr>
          <a:xfrm>
            <a:off x="7532370" y="1783080"/>
            <a:ext cx="731520" cy="731520"/>
          </a:xfrm>
          <a:prstGeom prst="ellipse">
            <a:avLst/>
          </a:prstGeom>
          <a:solidFill>
            <a:srgbClr val="2A78D6"/>
          </a:solidFill>
          <a:ln w="12700">
            <a:solidFill>
              <a:srgbClr val="2A78D6"/>
            </a:solidFill>
            <a:prstDash val="solid"/>
          </a:ln>
        </p:spPr>
      </p:sp>
      <p:pic>
        <p:nvPicPr>
          <p:cNvPr id="23" name="step 4 icon" descr="step 4">    </p:cNvPr>
          <p:cNvPicPr>
            <a:picLocks noChangeAspect="1"/>
          </p:cNvPicPr>
          <p:nvPr/>
        </p:nvPicPr>
        <p:blipFill>
          <a:blip r:embed="rId4"/>
          <a:stretch>
            <a:fillRect/>
          </a:stretch>
        </p:blipFill>
        <p:spPr>
          <a:xfrm>
            <a:off x="7715250" y="1965960"/>
            <a:ext cx="365760" cy="365760"/>
          </a:xfrm>
          <a:prstGeom prst="rect">
            <a:avLst/>
          </a:prstGeom>
        </p:spPr>
      </p:pic>
      <p:sp>
        <p:nvSpPr>
          <p:cNvPr id="24" name="Text 18"/>
          <p:cNvSpPr txBox="1"/>
          <p:nvPr/>
        </p:nvSpPr>
        <p:spPr>
          <a:xfrm>
            <a:off x="7532370" y="2697480"/>
            <a:ext cx="1600200" cy="411480"/>
          </a:xfrm>
          <a:prstGeom prst="rect">
            <a:avLst/>
          </a:prstGeom>
          <a:noFill/>
          <a:ln/>
        </p:spPr>
        <p:txBody>
          <a:bodyPr wrap="square" lIns="0" tIns="0" rIns="0" bIns="0" rtlCol="0" anchor="ctr"/>
          <a:lstStyle/>
          <a:p>
            <a:pPr indent="0" marL="0">
              <a:buNone/>
            </a:pPr>
            <a:r>
              <a:rPr lang="en-US" sz="2000" b="1" dirty="0">
                <a:solidFill>
                  <a:srgbClr val="0B0B0B"/>
                </a:solidFill>
                <a:latin typeface="Arial" pitchFamily="34" charset="0"/>
                <a:ea typeface="Arial" pitchFamily="34" charset="-122"/>
                <a:cs typeface="Arial" pitchFamily="34" charset="-120"/>
              </a:rPr>
              <a:t>4  Allocate</a:t>
            </a:r>
            <a:endParaRPr lang="en-US" sz="2000" dirty="0"/>
          </a:p>
        </p:txBody>
      </p:sp>
      <p:sp>
        <p:nvSpPr>
          <p:cNvPr id="25" name="Text 19"/>
          <p:cNvSpPr txBox="1"/>
          <p:nvPr/>
        </p:nvSpPr>
        <p:spPr>
          <a:xfrm>
            <a:off x="7532370" y="3154680"/>
            <a:ext cx="1600200" cy="1600200"/>
          </a:xfrm>
          <a:prstGeom prst="rect">
            <a:avLst/>
          </a:prstGeom>
          <a:noFill/>
          <a:ln/>
        </p:spPr>
        <p:txBody>
          <a:bodyPr wrap="square" lIns="0" tIns="0" rIns="0" bIns="0" rtlCol="0" anchor="t"/>
          <a:lstStyle/>
          <a:p>
            <a:pPr indent="0" marL="0">
              <a:buNone/>
            </a:pPr>
            <a:r>
              <a:rPr lang="en-US" sz="1400" dirty="0">
                <a:solidFill>
                  <a:srgbClr val="52514E"/>
                </a:solidFill>
              </a:rPr>
              <a:t>Each regime holds its own portfolio, traded at the next close</a:t>
            </a:r>
            <a:endParaRPr lang="en-US" sz="1400" dirty="0"/>
          </a:p>
        </p:txBody>
      </p:sp>
      <p:sp>
        <p:nvSpPr>
          <p:cNvPr id="26" name="Text 20"/>
          <p:cNvSpPr txBox="1"/>
          <p:nvPr/>
        </p:nvSpPr>
        <p:spPr>
          <a:xfrm>
            <a:off x="9361170" y="2834640"/>
            <a:ext cx="194310" cy="548640"/>
          </a:xfrm>
          <a:prstGeom prst="rect">
            <a:avLst/>
          </a:prstGeom>
          <a:noFill/>
          <a:ln/>
        </p:spPr>
        <p:txBody>
          <a:bodyPr wrap="square" lIns="0" tIns="0" rIns="0" bIns="0" rtlCol="0" anchor="ctr"/>
          <a:lstStyle/>
          <a:p>
            <a:pPr algn="ctr" indent="0" marL="0">
              <a:buNone/>
            </a:pPr>
            <a:r>
              <a:rPr lang="en-US" sz="2400" dirty="0">
                <a:solidFill>
                  <a:srgbClr val="898781"/>
                </a:solidFill>
              </a:rPr>
              <a:t>›</a:t>
            </a:r>
            <a:endParaRPr lang="en-US" sz="2400" dirty="0"/>
          </a:p>
        </p:txBody>
      </p:sp>
      <p:sp>
        <p:nvSpPr>
          <p:cNvPr id="27" name="step card 5"/>
          <p:cNvSpPr/>
          <p:nvPr/>
        </p:nvSpPr>
        <p:spPr>
          <a:xfrm>
            <a:off x="9555480" y="1554480"/>
            <a:ext cx="2057400" cy="3291840"/>
          </a:xfrm>
          <a:prstGeom prst="roundRect">
            <a:avLst>
              <a:gd name="adj" fmla="val 5333"/>
            </a:avLst>
          </a:prstGeom>
          <a:solidFill>
            <a:srgbClr val="FFFFFF"/>
          </a:solidFill>
          <a:ln w="12700">
            <a:solidFill>
              <a:srgbClr val="E1E0D9"/>
            </a:solidFill>
            <a:prstDash val="solid"/>
          </a:ln>
        </p:spPr>
      </p:sp>
      <p:sp>
        <p:nvSpPr>
          <p:cNvPr id="28" name="step 5 circle"/>
          <p:cNvSpPr/>
          <p:nvPr/>
        </p:nvSpPr>
        <p:spPr>
          <a:xfrm>
            <a:off x="9784080" y="1783080"/>
            <a:ext cx="731520" cy="731520"/>
          </a:xfrm>
          <a:prstGeom prst="ellipse">
            <a:avLst/>
          </a:prstGeom>
          <a:solidFill>
            <a:srgbClr val="2A78D6"/>
          </a:solidFill>
          <a:ln w="12700">
            <a:solidFill>
              <a:srgbClr val="2A78D6"/>
            </a:solidFill>
            <a:prstDash val="solid"/>
          </a:ln>
        </p:spPr>
      </p:sp>
      <p:pic>
        <p:nvPicPr>
          <p:cNvPr id="29" name="step 5 icon" descr="step 5">    </p:cNvPr>
          <p:cNvPicPr>
            <a:picLocks noChangeAspect="1"/>
          </p:cNvPicPr>
          <p:nvPr/>
        </p:nvPicPr>
        <p:blipFill>
          <a:blip r:embed="rId5"/>
          <a:stretch>
            <a:fillRect/>
          </a:stretch>
        </p:blipFill>
        <p:spPr>
          <a:xfrm>
            <a:off x="9966960" y="1965960"/>
            <a:ext cx="365760" cy="365760"/>
          </a:xfrm>
          <a:prstGeom prst="rect">
            <a:avLst/>
          </a:prstGeom>
        </p:spPr>
      </p:pic>
      <p:sp>
        <p:nvSpPr>
          <p:cNvPr id="30" name="Text 23"/>
          <p:cNvSpPr txBox="1"/>
          <p:nvPr/>
        </p:nvSpPr>
        <p:spPr>
          <a:xfrm>
            <a:off x="9784080" y="2697480"/>
            <a:ext cx="1600200" cy="411480"/>
          </a:xfrm>
          <a:prstGeom prst="rect">
            <a:avLst/>
          </a:prstGeom>
          <a:noFill/>
          <a:ln/>
        </p:spPr>
        <p:txBody>
          <a:bodyPr wrap="square" lIns="0" tIns="0" rIns="0" bIns="0" rtlCol="0" anchor="ctr"/>
          <a:lstStyle/>
          <a:p>
            <a:pPr indent="0" marL="0">
              <a:buNone/>
            </a:pPr>
            <a:r>
              <a:rPr lang="en-US" sz="2000" b="1" dirty="0">
                <a:solidFill>
                  <a:srgbClr val="0B0B0B"/>
                </a:solidFill>
                <a:latin typeface="Arial" pitchFamily="34" charset="0"/>
                <a:ea typeface="Arial" pitchFamily="34" charset="-122"/>
                <a:cs typeface="Arial" pitchFamily="34" charset="-120"/>
              </a:rPr>
              <a:t>5  Backtest</a:t>
            </a:r>
            <a:endParaRPr lang="en-US" sz="2000" dirty="0"/>
          </a:p>
        </p:txBody>
      </p:sp>
      <p:sp>
        <p:nvSpPr>
          <p:cNvPr id="31" name="Text 24"/>
          <p:cNvSpPr txBox="1"/>
          <p:nvPr/>
        </p:nvSpPr>
        <p:spPr>
          <a:xfrm>
            <a:off x="9784080" y="3154680"/>
            <a:ext cx="1600200" cy="1600200"/>
          </a:xfrm>
          <a:prstGeom prst="rect">
            <a:avLst/>
          </a:prstGeom>
          <a:noFill/>
          <a:ln/>
        </p:spPr>
        <p:txBody>
          <a:bodyPr wrap="square" lIns="0" tIns="0" rIns="0" bIns="0" rtlCol="0" anchor="t"/>
          <a:lstStyle/>
          <a:p>
            <a:pPr indent="0" marL="0">
              <a:buNone/>
            </a:pPr>
            <a:r>
              <a:rPr lang="en-US" sz="1400" dirty="0">
                <a:solidFill>
                  <a:srgbClr val="52514E"/>
                </a:solidFill>
              </a:rPr>
              <a:t>Stats vs six benchmarks, recomputed in the browser on every change</a:t>
            </a:r>
            <a:endParaRPr lang="en-US" sz="1400" dirty="0"/>
          </a:p>
        </p:txBody>
      </p:sp>
      <p:sp>
        <p:nvSpPr>
          <p:cNvPr id="32" name="no look-ahead note"/>
          <p:cNvSpPr/>
          <p:nvPr/>
        </p:nvSpPr>
        <p:spPr>
          <a:xfrm>
            <a:off x="548640" y="5166360"/>
            <a:ext cx="11064240" cy="868680"/>
          </a:xfrm>
          <a:prstGeom prst="roundRect">
            <a:avLst>
              <a:gd name="adj" fmla="val 10526"/>
            </a:avLst>
          </a:prstGeom>
          <a:solidFill>
            <a:srgbClr val="F0EFEC"/>
          </a:solidFill>
          <a:ln w="12700">
            <a:solidFill>
              <a:srgbClr val="F0EFEC"/>
            </a:solidFill>
            <a:prstDash val="solid"/>
          </a:ln>
        </p:spPr>
      </p:sp>
      <p:sp>
        <p:nvSpPr>
          <p:cNvPr id="33" name="Text 26"/>
          <p:cNvSpPr txBox="1"/>
          <p:nvPr/>
        </p:nvSpPr>
        <p:spPr>
          <a:xfrm>
            <a:off x="822960" y="5166360"/>
            <a:ext cx="10515600" cy="868680"/>
          </a:xfrm>
          <a:prstGeom prst="rect">
            <a:avLst/>
          </a:prstGeom>
          <a:noFill/>
          <a:ln/>
        </p:spPr>
        <p:txBody>
          <a:bodyPr wrap="square" lIns="0" tIns="0" rIns="0" bIns="0" rtlCol="0" anchor="ctr"/>
          <a:lstStyle/>
          <a:p>
            <a:pPr indent="0" marL="0">
              <a:buNone/>
            </a:pPr>
            <a:r>
              <a:rPr lang="en-US" sz="1500" b="1" dirty="0">
                <a:solidFill>
                  <a:srgbClr val="0B0B0B"/>
                </a:solidFill>
              </a:rPr>
              <a:t>No look-ahead by construction: </a:t>
            </a:r>
            <a:pPr indent="0" marL="0">
              <a:buNone/>
            </a:pPr>
            <a:r>
              <a:rPr lang="en-US" sz="1500" dirty="0">
                <a:solidFill>
                  <a:srgbClr val="52514E"/>
                </a:solidFill>
              </a:rPr>
              <a:t>every transform uses trailing windows only, each input carries its publication lag, and a test suite checks that future data never changes past decisions.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Nine signals, each read as a percentile of its own history</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194560"/>
                <a:gridCol w="3657600"/>
                <a:gridCol w="1097280"/>
              </a:tblGrid>
              <a:tr h="43891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it measures</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Weight</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r>
              <a:tr h="438912">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VIX level</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Implied volatility</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VIX / VIX3M</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Term-structure inversion</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VX futures slope</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Backwardation, CM30 / CM60</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Variance risk premium</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VIX minus 21-day realised vol</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Credit</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HY vs Treasuries, 3-month return</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Trend</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S&amp;P 500 vs 200-day average</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VVIX</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Volatility of volatility</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Equity put/call</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10-day average</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Cboe SKEW</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Tail-hedge demand (weak signal)</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bl>
          </a:graphicData>
        </a:graphic>
      </p:graphicFrame>
      <p:sp>
        <p:nvSpPr>
          <p:cNvPr id="4" name="Trailing ranks circle"/>
          <p:cNvSpPr/>
          <p:nvPr/>
        </p:nvSpPr>
        <p:spPr>
          <a:xfrm>
            <a:off x="7955280" y="1371600"/>
            <a:ext cx="548640" cy="548640"/>
          </a:xfrm>
          <a:prstGeom prst="ellipse">
            <a:avLst/>
          </a:prstGeom>
          <a:solidFill>
            <a:srgbClr val="2A78D6"/>
          </a:solidFill>
          <a:ln w="12700">
            <a:solidFill>
              <a:srgbClr val="2A78D6"/>
            </a:solidFill>
            <a:prstDash val="solid"/>
          </a:ln>
        </p:spPr>
      </p:sp>
      <p:pic>
        <p:nvPicPr>
          <p:cNvPr id="5" name="Trailing ranks icon" descr="Trailing ranks">    </p:cNvPr>
          <p:cNvPicPr>
            <a:picLocks noChangeAspect="1"/>
          </p:cNvPicPr>
          <p:nvPr/>
        </p:nvPicPr>
        <p:blipFill>
          <a:blip r:embed="rId1"/>
          <a:stretch>
            <a:fillRect/>
          </a:stretch>
        </p:blipFill>
        <p:spPr>
          <a:xfrm>
            <a:off x="8092440" y="1508760"/>
            <a:ext cx="274320" cy="274320"/>
          </a:xfrm>
          <a:prstGeom prst="rect">
            <a:avLst/>
          </a:prstGeom>
        </p:spPr>
      </p:pic>
      <p:sp>
        <p:nvSpPr>
          <p:cNvPr id="6" name="Text 2"/>
          <p:cNvSpPr txBox="1"/>
          <p:nvPr/>
        </p:nvSpPr>
        <p:spPr>
          <a:xfrm>
            <a:off x="8686800" y="1371600"/>
            <a:ext cx="292608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Trailing ranks</a:t>
            </a:r>
            <a:endParaRPr lang="en-US" sz="1800" dirty="0"/>
          </a:p>
        </p:txBody>
      </p:sp>
      <p:sp>
        <p:nvSpPr>
          <p:cNvPr id="7" name="Text 3"/>
          <p:cNvSpPr txBox="1"/>
          <p:nvPr/>
        </p:nvSpPr>
        <p:spPr>
          <a:xfrm>
            <a:off x="8686800" y="1755648"/>
            <a:ext cx="2926080" cy="960120"/>
          </a:xfrm>
          <a:prstGeom prst="rect">
            <a:avLst/>
          </a:prstGeom>
          <a:noFill/>
          <a:ln/>
        </p:spPr>
        <p:txBody>
          <a:bodyPr wrap="square" lIns="0" tIns="0" rIns="0" bIns="0" rtlCol="0" anchor="t"/>
          <a:lstStyle/>
          <a:p>
            <a:pPr indent="0" marL="0">
              <a:buNone/>
            </a:pPr>
            <a:r>
              <a:rPr lang="en-US" sz="1400" dirty="0">
                <a:solidFill>
                  <a:srgbClr val="52514E"/>
                </a:solidFill>
              </a:rPr>
              <a:t>Each raw value is ranked among the last 756 trading days (≈3 years), so 100 is the most risk-on reading.</a:t>
            </a:r>
            <a:endParaRPr lang="en-US" sz="1400" dirty="0"/>
          </a:p>
        </p:txBody>
      </p:sp>
      <p:sp>
        <p:nvSpPr>
          <p:cNvPr id="8" name="Weighted average circle"/>
          <p:cNvSpPr/>
          <p:nvPr/>
        </p:nvSpPr>
        <p:spPr>
          <a:xfrm>
            <a:off x="7955280" y="2880360"/>
            <a:ext cx="548640" cy="548640"/>
          </a:xfrm>
          <a:prstGeom prst="ellipse">
            <a:avLst/>
          </a:prstGeom>
          <a:solidFill>
            <a:srgbClr val="2A78D6"/>
          </a:solidFill>
          <a:ln w="12700">
            <a:solidFill>
              <a:srgbClr val="2A78D6"/>
            </a:solidFill>
            <a:prstDash val="solid"/>
          </a:ln>
        </p:spPr>
      </p:sp>
      <p:pic>
        <p:nvPicPr>
          <p:cNvPr id="9" name="Weighted average icon" descr="Weighted average">    </p:cNvPr>
          <p:cNvPicPr>
            <a:picLocks noChangeAspect="1"/>
          </p:cNvPicPr>
          <p:nvPr/>
        </p:nvPicPr>
        <p:blipFill>
          <a:blip r:embed="rId2"/>
          <a:stretch>
            <a:fillRect/>
          </a:stretch>
        </p:blipFill>
        <p:spPr>
          <a:xfrm>
            <a:off x="8092440" y="3017520"/>
            <a:ext cx="274320" cy="274320"/>
          </a:xfrm>
          <a:prstGeom prst="rect">
            <a:avLst/>
          </a:prstGeom>
        </p:spPr>
      </p:pic>
      <p:sp>
        <p:nvSpPr>
          <p:cNvPr id="10" name="Text 5"/>
          <p:cNvSpPr txBox="1"/>
          <p:nvPr/>
        </p:nvSpPr>
        <p:spPr>
          <a:xfrm>
            <a:off x="8686800" y="2880360"/>
            <a:ext cx="292608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Weighted average</a:t>
            </a:r>
            <a:endParaRPr lang="en-US" sz="1800" dirty="0"/>
          </a:p>
        </p:txBody>
      </p:sp>
      <p:sp>
        <p:nvSpPr>
          <p:cNvPr id="11" name="Text 6"/>
          <p:cNvSpPr txBox="1"/>
          <p:nvPr/>
        </p:nvSpPr>
        <p:spPr>
          <a:xfrm>
            <a:off x="8686800" y="3264408"/>
            <a:ext cx="2926080" cy="960120"/>
          </a:xfrm>
          <a:prstGeom prst="rect">
            <a:avLst/>
          </a:prstGeom>
          <a:noFill/>
          <a:ln/>
        </p:spPr>
        <p:txBody>
          <a:bodyPr wrap="square" lIns="0" tIns="0" rIns="0" bIns="0" rtlCol="0" anchor="t"/>
          <a:lstStyle/>
          <a:p>
            <a:pPr indent="0" marL="0">
              <a:buNone/>
            </a:pPr>
            <a:r>
              <a:rPr lang="en-US" sz="1400" dirty="0">
                <a:solidFill>
                  <a:srgbClr val="52514E"/>
                </a:solidFill>
              </a:rPr>
              <a:t>Missing inputs drop out and the remaining weights rescale. A 5-day EMA smooths the result.</a:t>
            </a:r>
            <a:endParaRPr lang="en-US" sz="1400" dirty="0"/>
          </a:p>
        </p:txBody>
      </p:sp>
      <p:sp>
        <p:nvSpPr>
          <p:cNvPr id="12" name="All editable circle"/>
          <p:cNvSpPr/>
          <p:nvPr/>
        </p:nvSpPr>
        <p:spPr>
          <a:xfrm>
            <a:off x="7955280" y="4389120"/>
            <a:ext cx="548640" cy="548640"/>
          </a:xfrm>
          <a:prstGeom prst="ellipse">
            <a:avLst/>
          </a:prstGeom>
          <a:solidFill>
            <a:srgbClr val="2A78D6"/>
          </a:solidFill>
          <a:ln w="12700">
            <a:solidFill>
              <a:srgbClr val="2A78D6"/>
            </a:solidFill>
            <a:prstDash val="solid"/>
          </a:ln>
        </p:spPr>
      </p:sp>
      <p:pic>
        <p:nvPicPr>
          <p:cNvPr id="13" name="All editable icon" descr="All editable">    </p:cNvPr>
          <p:cNvPicPr>
            <a:picLocks noChangeAspect="1"/>
          </p:cNvPicPr>
          <p:nvPr/>
        </p:nvPicPr>
        <p:blipFill>
          <a:blip r:embed="rId3"/>
          <a:stretch>
            <a:fillRect/>
          </a:stretch>
        </p:blipFill>
        <p:spPr>
          <a:xfrm>
            <a:off x="8092440" y="4526280"/>
            <a:ext cx="274320" cy="274320"/>
          </a:xfrm>
          <a:prstGeom prst="rect">
            <a:avLst/>
          </a:prstGeom>
        </p:spPr>
      </p:pic>
      <p:sp>
        <p:nvSpPr>
          <p:cNvPr id="14" name="Text 8"/>
          <p:cNvSpPr txBox="1"/>
          <p:nvPr/>
        </p:nvSpPr>
        <p:spPr>
          <a:xfrm>
            <a:off x="8686800" y="4389120"/>
            <a:ext cx="292608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All editable</a:t>
            </a:r>
            <a:endParaRPr lang="en-US" sz="1800" dirty="0"/>
          </a:p>
        </p:txBody>
      </p:sp>
      <p:sp>
        <p:nvSpPr>
          <p:cNvPr id="15" name="Text 9"/>
          <p:cNvSpPr txBox="1"/>
          <p:nvPr/>
        </p:nvSpPr>
        <p:spPr>
          <a:xfrm>
            <a:off x="8686800" y="4773168"/>
            <a:ext cx="2926080" cy="960120"/>
          </a:xfrm>
          <a:prstGeom prst="rect">
            <a:avLst/>
          </a:prstGeom>
          <a:noFill/>
          <a:ln/>
        </p:spPr>
        <p:txBody>
          <a:bodyPr wrap="square" lIns="0" tIns="0" rIns="0" bIns="0" rtlCol="0" anchor="t"/>
          <a:lstStyle/>
          <a:p>
            <a:pPr indent="0" marL="0">
              <a:buNone/>
            </a:pPr>
            <a:r>
              <a:rPr lang="en-US" sz="1400" dirty="0">
                <a:solidFill>
                  <a:srgbClr val="52514E"/>
                </a:solidFill>
              </a:rPr>
              <a:t>Weights, windows, directions and 15 more optional signals can be changed in the Backtest panel.</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Five regimes, each with its own portfolio</a:t>
            </a:r>
            <a:endParaRPr lang="en-US" sz="3200" dirty="0"/>
          </a:p>
        </p:txBody>
      </p:sp>
      <p:sp>
        <p:nvSpPr>
          <p:cNvPr id="3" name="regime header Crisis"/>
          <p:cNvSpPr/>
          <p:nvPr/>
        </p:nvSpPr>
        <p:spPr>
          <a:xfrm>
            <a:off x="548640" y="1463040"/>
            <a:ext cx="2066544" cy="1188720"/>
          </a:xfrm>
          <a:prstGeom prst="roundRect">
            <a:avLst>
              <a:gd name="adj" fmla="val 9231"/>
            </a:avLst>
          </a:prstGeom>
          <a:solidFill>
            <a:srgbClr val="D03B3B"/>
          </a:solidFill>
          <a:ln w="12700">
            <a:solidFill>
              <a:srgbClr val="D03B3B"/>
            </a:solidFill>
            <a:prstDash val="solid"/>
          </a:ln>
        </p:spPr>
      </p:sp>
      <p:sp>
        <p:nvSpPr>
          <p:cNvPr id="4" name="Text 2"/>
          <p:cNvSpPr txBox="1"/>
          <p:nvPr/>
        </p:nvSpPr>
        <p:spPr>
          <a:xfrm>
            <a:off x="731520" y="1572768"/>
            <a:ext cx="1700784"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Crisis</a:t>
            </a:r>
            <a:endParaRPr lang="en-US" sz="1800" dirty="0"/>
          </a:p>
        </p:txBody>
      </p:sp>
      <p:sp>
        <p:nvSpPr>
          <p:cNvPr id="5" name="Text 3"/>
          <p:cNvSpPr txBox="1"/>
          <p:nvPr/>
        </p:nvSpPr>
        <p:spPr>
          <a:xfrm>
            <a:off x="731520" y="2057400"/>
            <a:ext cx="1700784" cy="411480"/>
          </a:xfrm>
          <a:prstGeom prst="rect">
            <a:avLst/>
          </a:prstGeom>
          <a:noFill/>
          <a:ln/>
        </p:spPr>
        <p:txBody>
          <a:bodyPr wrap="square" lIns="0" tIns="0" rIns="0" bIns="0" rtlCol="0" anchor="ctr"/>
          <a:lstStyle/>
          <a:p>
            <a:pPr indent="0" marL="0">
              <a:buNone/>
            </a:pPr>
            <a:r>
              <a:rPr lang="en-US" sz="1500" dirty="0">
                <a:solidFill>
                  <a:srgbClr val="FFFFFF"/>
                </a:solidFill>
              </a:rPr>
              <a:t>Score below 20</a:t>
            </a:r>
            <a:endParaRPr lang="en-US" sz="1500" dirty="0"/>
          </a:p>
        </p:txBody>
      </p:sp>
      <p:sp>
        <p:nvSpPr>
          <p:cNvPr id="6" name="regime portfolio Crisis"/>
          <p:cNvSpPr/>
          <p:nvPr/>
        </p:nvSpPr>
        <p:spPr>
          <a:xfrm>
            <a:off x="548640" y="2788920"/>
            <a:ext cx="2066544" cy="1417320"/>
          </a:xfrm>
          <a:prstGeom prst="roundRect">
            <a:avLst>
              <a:gd name="adj" fmla="val 7742"/>
            </a:avLst>
          </a:prstGeom>
          <a:solidFill>
            <a:srgbClr val="FFFFFF"/>
          </a:solidFill>
          <a:ln w="12700">
            <a:solidFill>
              <a:srgbClr val="E1E0D9"/>
            </a:solidFill>
            <a:prstDash val="solid"/>
          </a:ln>
        </p:spPr>
      </p:sp>
      <p:sp>
        <p:nvSpPr>
          <p:cNvPr id="7" name="Text 5"/>
          <p:cNvSpPr txBox="1"/>
          <p:nvPr/>
        </p:nvSpPr>
        <p:spPr>
          <a:xfrm>
            <a:off x="731520" y="2880360"/>
            <a:ext cx="1700784" cy="1234440"/>
          </a:xfrm>
          <a:prstGeom prst="rect">
            <a:avLst/>
          </a:prstGeom>
          <a:noFill/>
          <a:ln/>
        </p:spPr>
        <p:txBody>
          <a:bodyPr wrap="square" lIns="0" tIns="0" rIns="0" bIns="0" rtlCol="0" anchor="ctr"/>
          <a:lstStyle/>
          <a:p>
            <a:pPr indent="0" marL="0">
              <a:buNone/>
            </a:pPr>
            <a:r>
              <a:rPr lang="en-US" sz="1400" dirty="0">
                <a:solidFill>
                  <a:srgbClr val="0B0B0B"/>
                </a:solidFill>
              </a:rPr>
              <a:t>100% T-bills</a:t>
            </a:r>
            <a:endParaRPr lang="en-US" sz="1400" dirty="0"/>
          </a:p>
        </p:txBody>
      </p:sp>
      <p:sp>
        <p:nvSpPr>
          <p:cNvPr id="8" name="regime header Risk-Off"/>
          <p:cNvSpPr/>
          <p:nvPr/>
        </p:nvSpPr>
        <p:spPr>
          <a:xfrm>
            <a:off x="2798064" y="1463040"/>
            <a:ext cx="2066544" cy="1188720"/>
          </a:xfrm>
          <a:prstGeom prst="roundRect">
            <a:avLst>
              <a:gd name="adj" fmla="val 9231"/>
            </a:avLst>
          </a:prstGeom>
          <a:solidFill>
            <a:srgbClr val="EC9A8F"/>
          </a:solidFill>
          <a:ln w="12700">
            <a:solidFill>
              <a:srgbClr val="EC9A8F"/>
            </a:solidFill>
            <a:prstDash val="solid"/>
          </a:ln>
        </p:spPr>
      </p:sp>
      <p:sp>
        <p:nvSpPr>
          <p:cNvPr id="9" name="Text 7"/>
          <p:cNvSpPr txBox="1"/>
          <p:nvPr/>
        </p:nvSpPr>
        <p:spPr>
          <a:xfrm>
            <a:off x="2980944" y="1572768"/>
            <a:ext cx="1700784" cy="45720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Risk-Off</a:t>
            </a:r>
            <a:endParaRPr lang="en-US" sz="1800" dirty="0"/>
          </a:p>
        </p:txBody>
      </p:sp>
      <p:sp>
        <p:nvSpPr>
          <p:cNvPr id="10" name="Text 8"/>
          <p:cNvSpPr txBox="1"/>
          <p:nvPr/>
        </p:nvSpPr>
        <p:spPr>
          <a:xfrm>
            <a:off x="2980944" y="2057400"/>
            <a:ext cx="1700784" cy="411480"/>
          </a:xfrm>
          <a:prstGeom prst="rect">
            <a:avLst/>
          </a:prstGeom>
          <a:noFill/>
          <a:ln/>
        </p:spPr>
        <p:txBody>
          <a:bodyPr wrap="square" lIns="0" tIns="0" rIns="0" bIns="0" rtlCol="0" anchor="ctr"/>
          <a:lstStyle/>
          <a:p>
            <a:pPr indent="0" marL="0">
              <a:buNone/>
            </a:pPr>
            <a:r>
              <a:rPr lang="en-US" sz="1500" dirty="0">
                <a:solidFill>
                  <a:srgbClr val="0B0B0B"/>
                </a:solidFill>
              </a:rPr>
              <a:t>Score 20 – 40</a:t>
            </a:r>
            <a:endParaRPr lang="en-US" sz="1500" dirty="0"/>
          </a:p>
        </p:txBody>
      </p:sp>
      <p:sp>
        <p:nvSpPr>
          <p:cNvPr id="11" name="regime portfolio Risk-Off"/>
          <p:cNvSpPr/>
          <p:nvPr/>
        </p:nvSpPr>
        <p:spPr>
          <a:xfrm>
            <a:off x="2798064" y="2788920"/>
            <a:ext cx="2066544" cy="1417320"/>
          </a:xfrm>
          <a:prstGeom prst="roundRect">
            <a:avLst>
              <a:gd name="adj" fmla="val 7742"/>
            </a:avLst>
          </a:prstGeom>
          <a:solidFill>
            <a:srgbClr val="FFFFFF"/>
          </a:solidFill>
          <a:ln w="12700">
            <a:solidFill>
              <a:srgbClr val="E1E0D9"/>
            </a:solidFill>
            <a:prstDash val="solid"/>
          </a:ln>
        </p:spPr>
      </p:sp>
      <p:sp>
        <p:nvSpPr>
          <p:cNvPr id="12" name="Text 10"/>
          <p:cNvSpPr txBox="1"/>
          <p:nvPr/>
        </p:nvSpPr>
        <p:spPr>
          <a:xfrm>
            <a:off x="2980944" y="2880360"/>
            <a:ext cx="1700784" cy="1234440"/>
          </a:xfrm>
          <a:prstGeom prst="rect">
            <a:avLst/>
          </a:prstGeom>
          <a:noFill/>
          <a:ln/>
        </p:spPr>
        <p:txBody>
          <a:bodyPr wrap="square" lIns="0" tIns="0" rIns="0" bIns="0" rtlCol="0" anchor="ctr"/>
          <a:lstStyle/>
          <a:p>
            <a:pPr indent="0" marL="0">
              <a:buNone/>
            </a:pPr>
            <a:r>
              <a:rPr lang="en-US" sz="1400" dirty="0">
                <a:solidFill>
                  <a:srgbClr val="0B0B0B"/>
                </a:solidFill>
              </a:rPr>
              <a:t>50% Treasuries (IEF)</a:t>
            </a:r>
            <a:endParaRPr lang="en-US" sz="1400" dirty="0"/>
          </a:p>
          <a:p>
            <a:pPr indent="0" marL="0">
              <a:buNone/>
            </a:pPr>
            <a:r>
              <a:rPr lang="en-US" sz="1400" dirty="0">
                <a:solidFill>
                  <a:srgbClr val="0B0B0B"/>
                </a:solidFill>
              </a:rPr>
              <a:t>25% gold · 25% utilities</a:t>
            </a:r>
            <a:endParaRPr lang="en-US" sz="1400" dirty="0"/>
          </a:p>
        </p:txBody>
      </p:sp>
      <p:sp>
        <p:nvSpPr>
          <p:cNvPr id="13" name="regime header Neutral"/>
          <p:cNvSpPr/>
          <p:nvPr/>
        </p:nvSpPr>
        <p:spPr>
          <a:xfrm>
            <a:off x="5047488" y="1463040"/>
            <a:ext cx="2066544" cy="1188720"/>
          </a:xfrm>
          <a:prstGeom prst="roundRect">
            <a:avLst>
              <a:gd name="adj" fmla="val 9231"/>
            </a:avLst>
          </a:prstGeom>
          <a:solidFill>
            <a:srgbClr val="B9B8B2"/>
          </a:solidFill>
          <a:ln w="12700">
            <a:solidFill>
              <a:srgbClr val="B9B8B2"/>
            </a:solidFill>
            <a:prstDash val="solid"/>
          </a:ln>
        </p:spPr>
      </p:sp>
      <p:sp>
        <p:nvSpPr>
          <p:cNvPr id="14" name="Text 12"/>
          <p:cNvSpPr txBox="1"/>
          <p:nvPr/>
        </p:nvSpPr>
        <p:spPr>
          <a:xfrm>
            <a:off x="5230368" y="1572768"/>
            <a:ext cx="1700784" cy="45720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Neutral</a:t>
            </a:r>
            <a:endParaRPr lang="en-US" sz="1800" dirty="0"/>
          </a:p>
        </p:txBody>
      </p:sp>
      <p:sp>
        <p:nvSpPr>
          <p:cNvPr id="15" name="Text 13"/>
          <p:cNvSpPr txBox="1"/>
          <p:nvPr/>
        </p:nvSpPr>
        <p:spPr>
          <a:xfrm>
            <a:off x="5230368" y="2057400"/>
            <a:ext cx="1700784" cy="411480"/>
          </a:xfrm>
          <a:prstGeom prst="rect">
            <a:avLst/>
          </a:prstGeom>
          <a:noFill/>
          <a:ln/>
        </p:spPr>
        <p:txBody>
          <a:bodyPr wrap="square" lIns="0" tIns="0" rIns="0" bIns="0" rtlCol="0" anchor="ctr"/>
          <a:lstStyle/>
          <a:p>
            <a:pPr indent="0" marL="0">
              <a:buNone/>
            </a:pPr>
            <a:r>
              <a:rPr lang="en-US" sz="1500" dirty="0">
                <a:solidFill>
                  <a:srgbClr val="0B0B0B"/>
                </a:solidFill>
              </a:rPr>
              <a:t>Score 40 – 60</a:t>
            </a:r>
            <a:endParaRPr lang="en-US" sz="1500" dirty="0"/>
          </a:p>
        </p:txBody>
      </p:sp>
      <p:sp>
        <p:nvSpPr>
          <p:cNvPr id="16" name="regime portfolio Neutral"/>
          <p:cNvSpPr/>
          <p:nvPr/>
        </p:nvSpPr>
        <p:spPr>
          <a:xfrm>
            <a:off x="5047488" y="2788920"/>
            <a:ext cx="2066544" cy="1417320"/>
          </a:xfrm>
          <a:prstGeom prst="roundRect">
            <a:avLst>
              <a:gd name="adj" fmla="val 7742"/>
            </a:avLst>
          </a:prstGeom>
          <a:solidFill>
            <a:srgbClr val="FFFFFF"/>
          </a:solidFill>
          <a:ln w="12700">
            <a:solidFill>
              <a:srgbClr val="E1E0D9"/>
            </a:solidFill>
            <a:prstDash val="solid"/>
          </a:ln>
        </p:spPr>
      </p:sp>
      <p:sp>
        <p:nvSpPr>
          <p:cNvPr id="17" name="Text 15"/>
          <p:cNvSpPr txBox="1"/>
          <p:nvPr/>
        </p:nvSpPr>
        <p:spPr>
          <a:xfrm>
            <a:off x="5230368" y="2880360"/>
            <a:ext cx="1700784" cy="1234440"/>
          </a:xfrm>
          <a:prstGeom prst="rect">
            <a:avLst/>
          </a:prstGeom>
          <a:noFill/>
          <a:ln/>
        </p:spPr>
        <p:txBody>
          <a:bodyPr wrap="square" lIns="0" tIns="0" rIns="0" bIns="0" rtlCol="0" anchor="ctr"/>
          <a:lstStyle/>
          <a:p>
            <a:pPr indent="0" marL="0">
              <a:buNone/>
            </a:pPr>
            <a:r>
              <a:rPr lang="en-US" sz="1400" dirty="0">
                <a:solidFill>
                  <a:srgbClr val="0B0B0B"/>
                </a:solidFill>
              </a:rPr>
              <a:t>80% S&amp;P 500</a:t>
            </a:r>
            <a:endParaRPr lang="en-US" sz="1400" dirty="0"/>
          </a:p>
          <a:p>
            <a:pPr indent="0" marL="0">
              <a:buNone/>
            </a:pPr>
            <a:r>
              <a:rPr lang="en-US" sz="1400" dirty="0">
                <a:solidFill>
                  <a:srgbClr val="0B0B0B"/>
                </a:solidFill>
              </a:rPr>
              <a:t>20% Treasuries</a:t>
            </a:r>
            <a:endParaRPr lang="en-US" sz="1400" dirty="0"/>
          </a:p>
        </p:txBody>
      </p:sp>
      <p:sp>
        <p:nvSpPr>
          <p:cNvPr id="18" name="regime header Risk-On"/>
          <p:cNvSpPr/>
          <p:nvPr/>
        </p:nvSpPr>
        <p:spPr>
          <a:xfrm>
            <a:off x="7296912" y="1463040"/>
            <a:ext cx="2066544" cy="1188720"/>
          </a:xfrm>
          <a:prstGeom prst="roundRect">
            <a:avLst>
              <a:gd name="adj" fmla="val 9231"/>
            </a:avLst>
          </a:prstGeom>
          <a:solidFill>
            <a:srgbClr val="86B6EF"/>
          </a:solidFill>
          <a:ln w="12700">
            <a:solidFill>
              <a:srgbClr val="86B6EF"/>
            </a:solidFill>
            <a:prstDash val="solid"/>
          </a:ln>
        </p:spPr>
      </p:sp>
      <p:sp>
        <p:nvSpPr>
          <p:cNvPr id="19" name="Text 17"/>
          <p:cNvSpPr txBox="1"/>
          <p:nvPr/>
        </p:nvSpPr>
        <p:spPr>
          <a:xfrm>
            <a:off x="7479792" y="1572768"/>
            <a:ext cx="1700784" cy="45720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Risk-On</a:t>
            </a:r>
            <a:endParaRPr lang="en-US" sz="1800" dirty="0"/>
          </a:p>
        </p:txBody>
      </p:sp>
      <p:sp>
        <p:nvSpPr>
          <p:cNvPr id="20" name="Text 18"/>
          <p:cNvSpPr txBox="1"/>
          <p:nvPr/>
        </p:nvSpPr>
        <p:spPr>
          <a:xfrm>
            <a:off x="7479792" y="2057400"/>
            <a:ext cx="1700784" cy="411480"/>
          </a:xfrm>
          <a:prstGeom prst="rect">
            <a:avLst/>
          </a:prstGeom>
          <a:noFill/>
          <a:ln/>
        </p:spPr>
        <p:txBody>
          <a:bodyPr wrap="square" lIns="0" tIns="0" rIns="0" bIns="0" rtlCol="0" anchor="ctr"/>
          <a:lstStyle/>
          <a:p>
            <a:pPr indent="0" marL="0">
              <a:buNone/>
            </a:pPr>
            <a:r>
              <a:rPr lang="en-US" sz="1500" dirty="0">
                <a:solidFill>
                  <a:srgbClr val="0B0B0B"/>
                </a:solidFill>
              </a:rPr>
              <a:t>Score 60 – 80</a:t>
            </a:r>
            <a:endParaRPr lang="en-US" sz="1500" dirty="0"/>
          </a:p>
        </p:txBody>
      </p:sp>
      <p:sp>
        <p:nvSpPr>
          <p:cNvPr id="21" name="regime portfolio Risk-On"/>
          <p:cNvSpPr/>
          <p:nvPr/>
        </p:nvSpPr>
        <p:spPr>
          <a:xfrm>
            <a:off x="7296912" y="2788920"/>
            <a:ext cx="2066544" cy="1417320"/>
          </a:xfrm>
          <a:prstGeom prst="roundRect">
            <a:avLst>
              <a:gd name="adj" fmla="val 7742"/>
            </a:avLst>
          </a:prstGeom>
          <a:solidFill>
            <a:srgbClr val="FFFFFF"/>
          </a:solidFill>
          <a:ln w="12700">
            <a:solidFill>
              <a:srgbClr val="E1E0D9"/>
            </a:solidFill>
            <a:prstDash val="solid"/>
          </a:ln>
        </p:spPr>
      </p:sp>
      <p:sp>
        <p:nvSpPr>
          <p:cNvPr id="22" name="Text 20"/>
          <p:cNvSpPr txBox="1"/>
          <p:nvPr/>
        </p:nvSpPr>
        <p:spPr>
          <a:xfrm>
            <a:off x="7479792" y="2880360"/>
            <a:ext cx="1700784" cy="1234440"/>
          </a:xfrm>
          <a:prstGeom prst="rect">
            <a:avLst/>
          </a:prstGeom>
          <a:noFill/>
          <a:ln/>
        </p:spPr>
        <p:txBody>
          <a:bodyPr wrap="square" lIns="0" tIns="0" rIns="0" bIns="0" rtlCol="0" anchor="ctr"/>
          <a:lstStyle/>
          <a:p>
            <a:pPr indent="0" marL="0">
              <a:buNone/>
            </a:pPr>
            <a:r>
              <a:rPr lang="en-US" sz="1400" dirty="0">
                <a:solidFill>
                  <a:srgbClr val="0B0B0B"/>
                </a:solidFill>
              </a:rPr>
              <a:t>75% S&amp;P 500</a:t>
            </a:r>
            <a:endParaRPr lang="en-US" sz="1400" dirty="0"/>
          </a:p>
          <a:p>
            <a:pPr indent="0" marL="0">
              <a:buNone/>
            </a:pPr>
            <a:r>
              <a:rPr lang="en-US" sz="1400" dirty="0">
                <a:solidFill>
                  <a:srgbClr val="0B0B0B"/>
                </a:solidFill>
              </a:rPr>
              <a:t>25% SSO (2×)</a:t>
            </a:r>
            <a:endParaRPr lang="en-US" sz="1400" dirty="0"/>
          </a:p>
          <a:p>
            <a:pPr indent="0" marL="0">
              <a:buNone/>
            </a:pPr>
            <a:r>
              <a:rPr lang="en-US" sz="1400" dirty="0">
                <a:solidFill>
                  <a:srgbClr val="0B0B0B"/>
                </a:solidFill>
              </a:rPr>
              <a:t>= 125% equity</a:t>
            </a:r>
            <a:endParaRPr lang="en-US" sz="1400" dirty="0"/>
          </a:p>
        </p:txBody>
      </p:sp>
      <p:sp>
        <p:nvSpPr>
          <p:cNvPr id="23" name="regime header Strong Risk-On"/>
          <p:cNvSpPr/>
          <p:nvPr/>
        </p:nvSpPr>
        <p:spPr>
          <a:xfrm>
            <a:off x="9546336" y="1463040"/>
            <a:ext cx="2066544" cy="1188720"/>
          </a:xfrm>
          <a:prstGeom prst="roundRect">
            <a:avLst>
              <a:gd name="adj" fmla="val 9231"/>
            </a:avLst>
          </a:prstGeom>
          <a:solidFill>
            <a:srgbClr val="256ABF"/>
          </a:solidFill>
          <a:ln w="12700">
            <a:solidFill>
              <a:srgbClr val="256ABF"/>
            </a:solidFill>
            <a:prstDash val="solid"/>
          </a:ln>
        </p:spPr>
      </p:sp>
      <p:sp>
        <p:nvSpPr>
          <p:cNvPr id="24" name="Text 22"/>
          <p:cNvSpPr txBox="1"/>
          <p:nvPr/>
        </p:nvSpPr>
        <p:spPr>
          <a:xfrm>
            <a:off x="9729216" y="1572768"/>
            <a:ext cx="1700784"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Strong Risk-On</a:t>
            </a:r>
            <a:endParaRPr lang="en-US" sz="1800" dirty="0"/>
          </a:p>
        </p:txBody>
      </p:sp>
      <p:sp>
        <p:nvSpPr>
          <p:cNvPr id="25" name="Text 23"/>
          <p:cNvSpPr txBox="1"/>
          <p:nvPr/>
        </p:nvSpPr>
        <p:spPr>
          <a:xfrm>
            <a:off x="9729216" y="2057400"/>
            <a:ext cx="1700784" cy="411480"/>
          </a:xfrm>
          <a:prstGeom prst="rect">
            <a:avLst/>
          </a:prstGeom>
          <a:noFill/>
          <a:ln/>
        </p:spPr>
        <p:txBody>
          <a:bodyPr wrap="square" lIns="0" tIns="0" rIns="0" bIns="0" rtlCol="0" anchor="ctr"/>
          <a:lstStyle/>
          <a:p>
            <a:pPr indent="0" marL="0">
              <a:buNone/>
            </a:pPr>
            <a:r>
              <a:rPr lang="en-US" sz="1500" dirty="0">
                <a:solidFill>
                  <a:srgbClr val="FFFFFF"/>
                </a:solidFill>
              </a:rPr>
              <a:t>Score above 80</a:t>
            </a:r>
            <a:endParaRPr lang="en-US" sz="1500" dirty="0"/>
          </a:p>
        </p:txBody>
      </p:sp>
      <p:sp>
        <p:nvSpPr>
          <p:cNvPr id="26" name="regime portfolio Strong Risk-On"/>
          <p:cNvSpPr/>
          <p:nvPr/>
        </p:nvSpPr>
        <p:spPr>
          <a:xfrm>
            <a:off x="9546336" y="2788920"/>
            <a:ext cx="2066544" cy="1417320"/>
          </a:xfrm>
          <a:prstGeom prst="roundRect">
            <a:avLst>
              <a:gd name="adj" fmla="val 7742"/>
            </a:avLst>
          </a:prstGeom>
          <a:solidFill>
            <a:srgbClr val="FFFFFF"/>
          </a:solidFill>
          <a:ln w="12700">
            <a:solidFill>
              <a:srgbClr val="E1E0D9"/>
            </a:solidFill>
            <a:prstDash val="solid"/>
          </a:ln>
        </p:spPr>
      </p:sp>
      <p:sp>
        <p:nvSpPr>
          <p:cNvPr id="27" name="Text 25"/>
          <p:cNvSpPr txBox="1"/>
          <p:nvPr/>
        </p:nvSpPr>
        <p:spPr>
          <a:xfrm>
            <a:off x="9729216" y="2880360"/>
            <a:ext cx="1700784" cy="1234440"/>
          </a:xfrm>
          <a:prstGeom prst="rect">
            <a:avLst/>
          </a:prstGeom>
          <a:noFill/>
          <a:ln/>
        </p:spPr>
        <p:txBody>
          <a:bodyPr wrap="square" lIns="0" tIns="0" rIns="0" bIns="0" rtlCol="0" anchor="ctr"/>
          <a:lstStyle/>
          <a:p>
            <a:pPr indent="0" marL="0">
              <a:buNone/>
            </a:pPr>
            <a:r>
              <a:rPr lang="en-US" sz="1400" dirty="0">
                <a:solidFill>
                  <a:srgbClr val="0B0B0B"/>
                </a:solidFill>
              </a:rPr>
              <a:t>100% SSO</a:t>
            </a:r>
            <a:endParaRPr lang="en-US" sz="1400" dirty="0"/>
          </a:p>
          <a:p>
            <a:pPr indent="0" marL="0">
              <a:buNone/>
            </a:pPr>
            <a:r>
              <a:rPr lang="en-US" sz="1400" dirty="0">
                <a:solidFill>
                  <a:srgbClr val="0B0B0B"/>
                </a:solidFill>
              </a:rPr>
              <a:t>(2× S&amp;P 500)</a:t>
            </a:r>
            <a:endParaRPr lang="en-US" sz="1400" dirty="0"/>
          </a:p>
        </p:txBody>
      </p:sp>
      <p:graphicFrame>
        <p:nvGraphicFramePr>
          <p:cNvPr id="28" name="Chart 0" descr=""/>
          <p:cNvGraphicFramePr/>
          <p:nvPr/>
        </p:nvGraphicFramePr>
        <p:xfrm>
          <a:off x="548640" y="4434840"/>
          <a:ext cx="11064240" cy="123444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548640" y="5760720"/>
            <a:ext cx="11064240" cy="411480"/>
          </a:xfrm>
          <a:prstGeom prst="rect">
            <a:avLst/>
          </a:prstGeom>
          <a:noFill/>
          <a:ln/>
        </p:spPr>
        <p:txBody>
          <a:bodyPr wrap="square" lIns="0" tIns="0" rIns="0" bIns="0" rtlCol="0" anchor="ctr"/>
          <a:lstStyle/>
          <a:p>
            <a:pPr indent="0" marL="0">
              <a:buNone/>
            </a:pPr>
            <a:r>
              <a:rPr lang="en-US" sz="1400" dirty="0">
                <a:solidFill>
                  <a:srgbClr val="52514E"/>
                </a:solidFill>
              </a:rPr>
              <a:t>A regime only changes once the score crosses a cut-off by more than 2.5 points. Moves toward risk-off are never delayed.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The Dashboard: today's reading</a:t>
            </a:r>
            <a:endParaRPr lang="en-US" sz="3200" dirty="0"/>
          </a:p>
        </p:txBody>
      </p:sp>
      <p:sp>
        <p:nvSpPr>
          <p:cNvPr id="3" name="today panel"/>
          <p:cNvSpPr/>
          <p:nvPr/>
        </p:nvSpPr>
        <p:spPr>
          <a:xfrm>
            <a:off x="548640" y="1371600"/>
            <a:ext cx="3840480" cy="4754880"/>
          </a:xfrm>
          <a:prstGeom prst="roundRect">
            <a:avLst>
              <a:gd name="adj" fmla="val 3571"/>
            </a:avLst>
          </a:prstGeom>
          <a:solidFill>
            <a:srgbClr val="121A25"/>
          </a:solidFill>
          <a:ln w="12700">
            <a:solidFill>
              <a:srgbClr val="121A25"/>
            </a:solidFill>
            <a:prstDash val="solid"/>
          </a:ln>
        </p:spPr>
      </p:sp>
      <p:sp>
        <p:nvSpPr>
          <p:cNvPr id="4" name="Text 2"/>
          <p:cNvSpPr txBox="1"/>
          <p:nvPr/>
        </p:nvSpPr>
        <p:spPr>
          <a:xfrm>
            <a:off x="868680" y="1645920"/>
            <a:ext cx="3200400" cy="365760"/>
          </a:xfrm>
          <a:prstGeom prst="rect">
            <a:avLst/>
          </a:prstGeom>
          <a:noFill/>
          <a:ln/>
        </p:spPr>
        <p:txBody>
          <a:bodyPr wrap="square" lIns="0" tIns="0" rIns="0" bIns="0" rtlCol="0" anchor="ctr"/>
          <a:lstStyle/>
          <a:p>
            <a:pPr indent="0" marL="0">
              <a:buNone/>
            </a:pPr>
            <a:r>
              <a:rPr lang="en-US" sz="1600" dirty="0">
                <a:solidFill>
                  <a:srgbClr val="C3C2B7"/>
                </a:solidFill>
              </a:rPr>
              <a:t>Close of 22 Oct 2026</a:t>
            </a:r>
            <a:endParaRPr lang="en-US" sz="1600" dirty="0"/>
          </a:p>
        </p:txBody>
      </p:sp>
      <p:sp>
        <p:nvSpPr>
          <p:cNvPr id="5" name="Text 3"/>
          <p:cNvSpPr txBox="1"/>
          <p:nvPr/>
        </p:nvSpPr>
        <p:spPr>
          <a:xfrm>
            <a:off x="868680" y="2057400"/>
            <a:ext cx="3200400" cy="1188720"/>
          </a:xfrm>
          <a:prstGeom prst="rect">
            <a:avLst/>
          </a:prstGeom>
          <a:noFill/>
          <a:ln/>
        </p:spPr>
        <p:txBody>
          <a:bodyPr wrap="square" lIns="0" tIns="0" rIns="0" bIns="0" rtlCol="0" anchor="ctr"/>
          <a:lstStyle/>
          <a:p>
            <a:pPr indent="0" marL="0">
              <a:buNone/>
            </a:pPr>
            <a:r>
              <a:rPr lang="en-US" sz="7200" b="1" dirty="0">
                <a:solidFill>
                  <a:srgbClr val="FFFFFF"/>
                </a:solidFill>
                <a:latin typeface="Arial" pitchFamily="34" charset="0"/>
                <a:ea typeface="Arial" pitchFamily="34" charset="-122"/>
                <a:cs typeface="Arial" pitchFamily="34" charset="-120"/>
              </a:rPr>
              <a:t>37.7</a:t>
            </a:r>
            <a:endParaRPr lang="en-US" sz="7200" dirty="0"/>
          </a:p>
        </p:txBody>
      </p:sp>
      <p:sp>
        <p:nvSpPr>
          <p:cNvPr id="6" name="Text 4"/>
          <p:cNvSpPr txBox="1"/>
          <p:nvPr/>
        </p:nvSpPr>
        <p:spPr>
          <a:xfrm>
            <a:off x="868680" y="3246120"/>
            <a:ext cx="3200400" cy="365760"/>
          </a:xfrm>
          <a:prstGeom prst="rect">
            <a:avLst/>
          </a:prstGeom>
          <a:noFill/>
          <a:ln/>
        </p:spPr>
        <p:txBody>
          <a:bodyPr wrap="square" lIns="0" tIns="0" rIns="0" bIns="0" rtlCol="0" anchor="ctr"/>
          <a:lstStyle/>
          <a:p>
            <a:pPr indent="0" marL="0">
              <a:buNone/>
            </a:pPr>
            <a:r>
              <a:rPr lang="en-US" sz="1400" dirty="0">
                <a:solidFill>
                  <a:srgbClr val="C3C2B7"/>
                </a:solidFill>
              </a:rPr>
              <a:t>Risk-appetite score (0–100)</a:t>
            </a:r>
            <a:endParaRPr lang="en-US" sz="1400" dirty="0"/>
          </a:p>
        </p:txBody>
      </p:sp>
      <p:sp>
        <p:nvSpPr>
          <p:cNvPr id="7" name="regime pill"/>
          <p:cNvSpPr/>
          <p:nvPr/>
        </p:nvSpPr>
        <p:spPr>
          <a:xfrm>
            <a:off x="868680" y="3840480"/>
            <a:ext cx="1463040" cy="457200"/>
          </a:xfrm>
          <a:prstGeom prst="roundRect">
            <a:avLst>
              <a:gd name="adj" fmla="val 50000"/>
            </a:avLst>
          </a:prstGeom>
          <a:solidFill>
            <a:srgbClr val="B9B8B2"/>
          </a:solidFill>
          <a:ln w="12700">
            <a:solidFill>
              <a:srgbClr val="B9B8B2"/>
            </a:solidFill>
            <a:prstDash val="solid"/>
          </a:ln>
        </p:spPr>
      </p:sp>
      <p:sp>
        <p:nvSpPr>
          <p:cNvPr id="8" name="Text 6"/>
          <p:cNvSpPr txBox="1"/>
          <p:nvPr/>
        </p:nvSpPr>
        <p:spPr>
          <a:xfrm>
            <a:off x="868680" y="3840480"/>
            <a:ext cx="1463040" cy="457200"/>
          </a:xfrm>
          <a:prstGeom prst="rect">
            <a:avLst/>
          </a:prstGeom>
          <a:noFill/>
          <a:ln/>
        </p:spPr>
        <p:txBody>
          <a:bodyPr wrap="square" lIns="0" tIns="0" rIns="0" bIns="0" rtlCol="0" anchor="ctr"/>
          <a:lstStyle/>
          <a:p>
            <a:pPr algn="ctr" indent="0" marL="0">
              <a:buNone/>
            </a:pPr>
            <a:r>
              <a:rPr lang="en-US" sz="1600" b="1" dirty="0">
                <a:solidFill>
                  <a:srgbClr val="0B0B0B"/>
                </a:solidFill>
              </a:rPr>
              <a:t>Neutral</a:t>
            </a:r>
            <a:endParaRPr lang="en-US" sz="1600" dirty="0"/>
          </a:p>
        </p:txBody>
      </p:sp>
      <p:sp>
        <p:nvSpPr>
          <p:cNvPr id="9" name="Text 7"/>
          <p:cNvSpPr txBox="1"/>
          <p:nvPr/>
        </p:nvSpPr>
        <p:spPr>
          <a:xfrm>
            <a:off x="2468880" y="3840480"/>
            <a:ext cx="1737360" cy="457200"/>
          </a:xfrm>
          <a:prstGeom prst="rect">
            <a:avLst/>
          </a:prstGeom>
          <a:noFill/>
          <a:ln/>
        </p:spPr>
        <p:txBody>
          <a:bodyPr wrap="square" lIns="0" tIns="0" rIns="0" bIns="0" rtlCol="0" anchor="ctr"/>
          <a:lstStyle/>
          <a:p>
            <a:pPr indent="0" marL="0">
              <a:buNone/>
            </a:pPr>
            <a:r>
              <a:rPr lang="en-US" sz="1400" dirty="0">
                <a:solidFill>
                  <a:srgbClr val="C3C2B7"/>
                </a:solidFill>
              </a:rPr>
              <a:t>since 10 Sep 2026</a:t>
            </a:r>
            <a:endParaRPr lang="en-US" sz="1400" dirty="0"/>
          </a:p>
        </p:txBody>
      </p:sp>
      <p:sp>
        <p:nvSpPr>
          <p:cNvPr id="10" name="Text 8"/>
          <p:cNvSpPr txBox="1"/>
          <p:nvPr/>
        </p:nvSpPr>
        <p:spPr>
          <a:xfrm>
            <a:off x="868680" y="4663440"/>
            <a:ext cx="3200400" cy="320040"/>
          </a:xfrm>
          <a:prstGeom prst="rect">
            <a:avLst/>
          </a:prstGeom>
          <a:noFill/>
          <a:ln/>
        </p:spPr>
        <p:txBody>
          <a:bodyPr wrap="square" lIns="0" tIns="0" rIns="0" bIns="0" rtlCol="0" anchor="ctr"/>
          <a:lstStyle/>
          <a:p>
            <a:pPr indent="0" marL="0">
              <a:buNone/>
            </a:pPr>
            <a:r>
              <a:rPr lang="en-US" sz="1400" dirty="0">
                <a:solidFill>
                  <a:srgbClr val="C3C2B7"/>
                </a:solidFill>
              </a:rPr>
              <a:t>Target allocation</a:t>
            </a:r>
            <a:endParaRPr lang="en-US" sz="1400" dirty="0"/>
          </a:p>
        </p:txBody>
      </p:sp>
      <p:sp>
        <p:nvSpPr>
          <p:cNvPr id="11" name="Text 9"/>
          <p:cNvSpPr txBox="1"/>
          <p:nvPr/>
        </p:nvSpPr>
        <p:spPr>
          <a:xfrm>
            <a:off x="868680" y="4983480"/>
            <a:ext cx="3291840" cy="411480"/>
          </a:xfrm>
          <a:prstGeom prst="rect">
            <a:avLst/>
          </a:prstGeom>
          <a:noFill/>
          <a:ln/>
        </p:spPr>
        <p:txBody>
          <a:bodyPr wrap="square" lIns="0" tIns="0" rIns="0" bIns="0" rtlCol="0" anchor="ctr"/>
          <a:lstStyle/>
          <a:p>
            <a:pPr indent="0" marL="0">
              <a:buNone/>
            </a:pPr>
            <a:r>
              <a:rPr lang="en-US" sz="1800" b="1" dirty="0">
                <a:solidFill>
                  <a:srgbClr val="FFFFFF"/>
                </a:solidFill>
              </a:rPr>
              <a:t>80% S&amp;P 500 · 20% Treasuries</a:t>
            </a:r>
            <a:endParaRPr lang="en-US" sz="1800" dirty="0"/>
          </a:p>
        </p:txBody>
      </p:sp>
      <p:sp>
        <p:nvSpPr>
          <p:cNvPr id="12" name="Text 10"/>
          <p:cNvSpPr txBox="1"/>
          <p:nvPr/>
        </p:nvSpPr>
        <p:spPr>
          <a:xfrm>
            <a:off x="868680" y="5440680"/>
            <a:ext cx="3200400" cy="320040"/>
          </a:xfrm>
          <a:prstGeom prst="rect">
            <a:avLst/>
          </a:prstGeom>
          <a:noFill/>
          <a:ln/>
        </p:spPr>
        <p:txBody>
          <a:bodyPr wrap="square" lIns="0" tIns="0" rIns="0" bIns="0" rtlCol="0" anchor="ctr"/>
          <a:lstStyle/>
          <a:p>
            <a:pPr indent="0" marL="0">
              <a:buNone/>
            </a:pPr>
            <a:r>
              <a:rPr lang="en-US" sz="1400" dirty="0">
                <a:solidFill>
                  <a:srgbClr val="C3C2B7"/>
                </a:solidFill>
              </a:rPr>
              <a:t>Traded at the next close</a:t>
            </a:r>
            <a:endParaRPr lang="en-US" sz="1400" dirty="0"/>
          </a:p>
        </p:txBody>
      </p:sp>
      <p:graphicFrame>
        <p:nvGraphicFramePr>
          <p:cNvPr id="13" name="Chart 0" descr=""/>
          <p:cNvGraphicFramePr/>
          <p:nvPr/>
        </p:nvGraphicFramePr>
        <p:xfrm>
          <a:off x="4754880" y="1325880"/>
          <a:ext cx="685800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regime dot Crisis"/>
          <p:cNvSpPr/>
          <p:nvPr/>
        </p:nvSpPr>
        <p:spPr>
          <a:xfrm>
            <a:off x="548640" y="2103120"/>
            <a:ext cx="274320" cy="274320"/>
          </a:xfrm>
          <a:prstGeom prst="ellipse">
            <a:avLst/>
          </a:prstGeom>
          <a:solidFill>
            <a:srgbClr val="D03B3B"/>
          </a:solidFill>
          <a:ln w="12700">
            <a:solidFill>
              <a:srgbClr val="D03B3B"/>
            </a:solidFill>
            <a:prstDash val="solid"/>
          </a:ln>
        </p:spPr>
      </p:sp>
      <p:sp>
        <p:nvSpPr>
          <p:cNvPr id="3" name="regime dot Risk-Off"/>
          <p:cNvSpPr/>
          <p:nvPr/>
        </p:nvSpPr>
        <p:spPr>
          <a:xfrm>
            <a:off x="960120" y="2103120"/>
            <a:ext cx="274320" cy="274320"/>
          </a:xfrm>
          <a:prstGeom prst="ellipse">
            <a:avLst/>
          </a:prstGeom>
          <a:solidFill>
            <a:srgbClr val="EC9A8F"/>
          </a:solidFill>
          <a:ln w="12700">
            <a:solidFill>
              <a:srgbClr val="EC9A8F"/>
            </a:solidFill>
            <a:prstDash val="solid"/>
          </a:ln>
        </p:spPr>
      </p:sp>
      <p:sp>
        <p:nvSpPr>
          <p:cNvPr id="4" name="regime dot Neutral"/>
          <p:cNvSpPr/>
          <p:nvPr/>
        </p:nvSpPr>
        <p:spPr>
          <a:xfrm>
            <a:off x="1371600" y="2103120"/>
            <a:ext cx="274320" cy="274320"/>
          </a:xfrm>
          <a:prstGeom prst="ellipse">
            <a:avLst/>
          </a:prstGeom>
          <a:solidFill>
            <a:srgbClr val="B9B8B2"/>
          </a:solidFill>
          <a:ln w="12700">
            <a:solidFill>
              <a:srgbClr val="B9B8B2"/>
            </a:solidFill>
            <a:prstDash val="solid"/>
          </a:ln>
        </p:spPr>
      </p:sp>
      <p:sp>
        <p:nvSpPr>
          <p:cNvPr id="5" name="regime dot Risk-On"/>
          <p:cNvSpPr/>
          <p:nvPr/>
        </p:nvSpPr>
        <p:spPr>
          <a:xfrm>
            <a:off x="1783080" y="2103120"/>
            <a:ext cx="274320" cy="274320"/>
          </a:xfrm>
          <a:prstGeom prst="ellipse">
            <a:avLst/>
          </a:prstGeom>
          <a:solidFill>
            <a:srgbClr val="86B6EF"/>
          </a:solidFill>
          <a:ln w="12700">
            <a:solidFill>
              <a:srgbClr val="86B6EF"/>
            </a:solidFill>
            <a:prstDash val="solid"/>
          </a:ln>
        </p:spPr>
      </p:sp>
      <p:sp>
        <p:nvSpPr>
          <p:cNvPr id="6" name="regime dot Strong Risk-On"/>
          <p:cNvSpPr/>
          <p:nvPr/>
        </p:nvSpPr>
        <p:spPr>
          <a:xfrm>
            <a:off x="2194560" y="2103120"/>
            <a:ext cx="274320" cy="274320"/>
          </a:xfrm>
          <a:prstGeom prst="ellipse">
            <a:avLst/>
          </a:prstGeom>
          <a:solidFill>
            <a:srgbClr val="256ABF"/>
          </a:solidFill>
          <a:ln w="12700">
            <a:solidFill>
              <a:srgbClr val="256ABF"/>
            </a:solidFill>
            <a:prstDash val="solid"/>
          </a:ln>
        </p:spPr>
      </p:sp>
      <p:sp>
        <p:nvSpPr>
          <p:cNvPr id="7" name="Text 0"/>
          <p:cNvSpPr/>
          <p:nvPr>
            <p:ph idx="100" type="title" hasCustomPrompt="1"/>
          </p:nvPr>
        </p:nvSpPr>
        <p:spPr>
          <a:xfrm>
            <a:off x="548640" y="2651760"/>
            <a:ext cx="1106424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What the backtest shows</a:t>
            </a:r>
            <a:endParaRPr lang="en-US" sz="4000" dirty="0"/>
          </a:p>
        </p:txBody>
      </p:sp>
      <p:sp>
        <p:nvSpPr>
          <p:cNvPr id="8" name="Text 0"/>
          <p:cNvSpPr/>
          <p:nvPr>
            <p:ph idx="101" type="body" hasCustomPrompt="1"/>
          </p:nvPr>
        </p:nvSpPr>
        <p:spPr>
          <a:xfrm>
            <a:off x="548640" y="3611880"/>
            <a:ext cx="11064240" cy="731520"/>
          </a:xfrm>
          <a:prstGeom prst="rect">
            <a:avLst/>
          </a:prstGeom>
          <a:noFill/>
          <a:ln/>
        </p:spPr>
        <p:txBody>
          <a:bodyPr wrap="square" lIns="0" tIns="0" rIns="0" bIns="0" rtlCol="0" anchor="t"/>
          <a:lstStyle/>
          <a:p>
            <a:pPr indent="0" marL="0">
              <a:buNone/>
            </a:pPr>
            <a:r>
              <a:rPr lang="en-US" sz="2000" dirty="0">
                <a:solidFill>
                  <a:srgbClr val="C3C2B7"/>
                </a:solidFill>
              </a:rPr>
              <a:t>Jan 2007 – Oct 2026 · next-close execution · 5 bp per side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Growth of $1: most of the index's gain, far shallower dips</a:t>
            </a:r>
            <a:endParaRPr lang="en-US" sz="3200" dirty="0"/>
          </a:p>
        </p:txBody>
      </p:sp>
      <p:graphicFrame>
        <p:nvGraphicFramePr>
          <p:cNvPr id="3" name="Chart 0" descr=""/>
          <p:cNvGraphicFramePr/>
          <p:nvPr/>
        </p:nvGraphicFramePr>
        <p:xfrm>
          <a:off x="548640" y="1280160"/>
          <a:ext cx="786384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778240" y="1463040"/>
            <a:ext cx="2834640" cy="685800"/>
          </a:xfrm>
          <a:prstGeom prst="rect">
            <a:avLst/>
          </a:prstGeom>
          <a:noFill/>
          <a:ln/>
        </p:spPr>
        <p:txBody>
          <a:bodyPr wrap="square" lIns="0" tIns="0" rIns="0" bIns="0" rtlCol="0" anchor="ctr"/>
          <a:lstStyle/>
          <a:p>
            <a:pPr indent="0" marL="0">
              <a:buNone/>
            </a:pPr>
            <a:r>
              <a:rPr lang="en-US" sz="4000" b="1" dirty="0">
                <a:solidFill>
                  <a:srgbClr val="2A78D6"/>
                </a:solidFill>
                <a:latin typeface="Arial" pitchFamily="34" charset="0"/>
                <a:ea typeface="Arial" pitchFamily="34" charset="-122"/>
                <a:cs typeface="Arial" pitchFamily="34" charset="-120"/>
              </a:rPr>
              <a:t>$6.22</a:t>
            </a:r>
            <a:endParaRPr lang="en-US" sz="4000" dirty="0"/>
          </a:p>
        </p:txBody>
      </p:sp>
      <p:sp>
        <p:nvSpPr>
          <p:cNvPr id="5" name="Text 2"/>
          <p:cNvSpPr txBox="1"/>
          <p:nvPr/>
        </p:nvSpPr>
        <p:spPr>
          <a:xfrm>
            <a:off x="8778240" y="2148840"/>
            <a:ext cx="2834640" cy="320040"/>
          </a:xfrm>
          <a:prstGeom prst="rect">
            <a:avLst/>
          </a:prstGeom>
          <a:noFill/>
          <a:ln/>
        </p:spPr>
        <p:txBody>
          <a:bodyPr wrap="square" lIns="0" tIns="0" rIns="0" bIns="0" rtlCol="0" anchor="ctr"/>
          <a:lstStyle/>
          <a:p>
            <a:pPr indent="0" marL="0">
              <a:buNone/>
            </a:pPr>
            <a:r>
              <a:rPr lang="en-US" sz="1400" dirty="0">
                <a:solidFill>
                  <a:srgbClr val="52514E"/>
                </a:solidFill>
              </a:rPr>
              <a:t>VolStrat, ending value</a:t>
            </a:r>
            <a:endParaRPr lang="en-US" sz="1400" dirty="0"/>
          </a:p>
        </p:txBody>
      </p:sp>
      <p:sp>
        <p:nvSpPr>
          <p:cNvPr id="6" name="Text 3"/>
          <p:cNvSpPr txBox="1"/>
          <p:nvPr/>
        </p:nvSpPr>
        <p:spPr>
          <a:xfrm>
            <a:off x="8778240" y="2606040"/>
            <a:ext cx="2834640" cy="685800"/>
          </a:xfrm>
          <a:prstGeom prst="rect">
            <a:avLst/>
          </a:prstGeom>
          <a:noFill/>
          <a:ln/>
        </p:spPr>
        <p:txBody>
          <a:bodyPr wrap="square" lIns="0" tIns="0" rIns="0" bIns="0" rtlCol="0" anchor="ctr"/>
          <a:lstStyle/>
          <a:p>
            <a:pPr indent="0" marL="0">
              <a:buNone/>
            </a:pPr>
            <a:r>
              <a:rPr lang="en-US" sz="4000" b="1" dirty="0">
                <a:solidFill>
                  <a:srgbClr val="EB6834"/>
                </a:solidFill>
                <a:latin typeface="Arial" pitchFamily="34" charset="0"/>
                <a:ea typeface="Arial" pitchFamily="34" charset="-122"/>
                <a:cs typeface="Arial" pitchFamily="34" charset="-120"/>
              </a:rPr>
              <a:t>$7.75</a:t>
            </a:r>
            <a:endParaRPr lang="en-US" sz="4000" dirty="0"/>
          </a:p>
        </p:txBody>
      </p:sp>
      <p:sp>
        <p:nvSpPr>
          <p:cNvPr id="7" name="Text 4"/>
          <p:cNvSpPr txBox="1"/>
          <p:nvPr/>
        </p:nvSpPr>
        <p:spPr>
          <a:xfrm>
            <a:off x="8778240" y="3291840"/>
            <a:ext cx="2834640" cy="320040"/>
          </a:xfrm>
          <a:prstGeom prst="rect">
            <a:avLst/>
          </a:prstGeom>
          <a:noFill/>
          <a:ln/>
        </p:spPr>
        <p:txBody>
          <a:bodyPr wrap="square" lIns="0" tIns="0" rIns="0" bIns="0" rtlCol="0" anchor="ctr"/>
          <a:lstStyle/>
          <a:p>
            <a:pPr indent="0" marL="0">
              <a:buNone/>
            </a:pPr>
            <a:r>
              <a:rPr lang="en-US" sz="1400" dirty="0">
                <a:solidFill>
                  <a:srgbClr val="52514E"/>
                </a:solidFill>
              </a:rPr>
              <a:t>S&amp;P 500</a:t>
            </a:r>
            <a:endParaRPr lang="en-US" sz="1400" dirty="0"/>
          </a:p>
        </p:txBody>
      </p:sp>
      <p:sp>
        <p:nvSpPr>
          <p:cNvPr id="8" name="Text 5"/>
          <p:cNvSpPr txBox="1"/>
          <p:nvPr/>
        </p:nvSpPr>
        <p:spPr>
          <a:xfrm>
            <a:off x="8778240" y="3749040"/>
            <a:ext cx="2834640" cy="685800"/>
          </a:xfrm>
          <a:prstGeom prst="rect">
            <a:avLst/>
          </a:prstGeom>
          <a:noFill/>
          <a:ln/>
        </p:spPr>
        <p:txBody>
          <a:bodyPr wrap="square" lIns="0" tIns="0" rIns="0" bIns="0" rtlCol="0" anchor="ctr"/>
          <a:lstStyle/>
          <a:p>
            <a:pPr indent="0" marL="0">
              <a:buNone/>
            </a:pPr>
            <a:r>
              <a:rPr lang="en-US" sz="4000" b="1" dirty="0">
                <a:solidFill>
                  <a:srgbClr val="52514E"/>
                </a:solidFill>
                <a:latin typeface="Arial" pitchFamily="34" charset="0"/>
                <a:ea typeface="Arial" pitchFamily="34" charset="-122"/>
                <a:cs typeface="Arial" pitchFamily="34" charset="-120"/>
              </a:rPr>
              <a:t>$4.60</a:t>
            </a:r>
            <a:endParaRPr lang="en-US" sz="4000" dirty="0"/>
          </a:p>
        </p:txBody>
      </p:sp>
      <p:sp>
        <p:nvSpPr>
          <p:cNvPr id="9" name="Text 6"/>
          <p:cNvSpPr txBox="1"/>
          <p:nvPr/>
        </p:nvSpPr>
        <p:spPr>
          <a:xfrm>
            <a:off x="8778240" y="4434840"/>
            <a:ext cx="2834640" cy="320040"/>
          </a:xfrm>
          <a:prstGeom prst="rect">
            <a:avLst/>
          </a:prstGeom>
          <a:noFill/>
          <a:ln/>
        </p:spPr>
        <p:txBody>
          <a:bodyPr wrap="square" lIns="0" tIns="0" rIns="0" bIns="0" rtlCol="0" anchor="ctr"/>
          <a:lstStyle/>
          <a:p>
            <a:pPr indent="0" marL="0">
              <a:buNone/>
            </a:pPr>
            <a:r>
              <a:rPr lang="en-US" sz="1400" dirty="0">
                <a:solidFill>
                  <a:srgbClr val="52514E"/>
                </a:solidFill>
              </a:rPr>
              <a:t>60/40</a:t>
            </a:r>
            <a:endParaRPr lang="en-US" sz="1400" dirty="0"/>
          </a:p>
        </p:txBody>
      </p:sp>
      <p:sp>
        <p:nvSpPr>
          <p:cNvPr id="10" name="Text 7"/>
          <p:cNvSpPr txBox="1"/>
          <p:nvPr/>
        </p:nvSpPr>
        <p:spPr>
          <a:xfrm>
            <a:off x="8778240" y="5029200"/>
            <a:ext cx="2834640" cy="1097280"/>
          </a:xfrm>
          <a:prstGeom prst="rect">
            <a:avLst/>
          </a:prstGeom>
          <a:noFill/>
          <a:ln/>
        </p:spPr>
        <p:txBody>
          <a:bodyPr wrap="square" lIns="0" tIns="0" rIns="0" bIns="0" rtlCol="0" anchor="t"/>
          <a:lstStyle/>
          <a:p>
            <a:pPr indent="0" marL="0">
              <a:buNone/>
            </a:pPr>
            <a:r>
              <a:rPr lang="en-US" sz="1400" dirty="0">
                <a:solidFill>
                  <a:srgbClr val="52514E"/>
                </a:solidFill>
              </a:rPr>
              <a:t>Much smaller losses in 2008 and 2020, about the same in 2022, and a lag in sharp recoveries.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Best risk-adjusted return of the group</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931920"/>
                <a:gridCol w="1371600"/>
                <a:gridCol w="1371600"/>
                <a:gridCol w="1280160"/>
                <a:gridCol w="1645920"/>
                <a:gridCol w="1463040"/>
              </a:tblGrid>
              <a:tr h="41148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Portfolio</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CAGR</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Volatility</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Sharpe</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Max drawdown</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Turnover / yr</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r>
              <a:tr h="411480">
                <a:tc>
                  <a:txBody>
                    <a:bodyPr/>
                    <a:lstStyle/>
                    <a:p>
                      <a:pPr indent="0" marL="0">
                        <a:buNone/>
                      </a:pPr>
                      <a:r>
                        <a:rPr lang="en-US" sz="1500" b="1" dirty="0">
                          <a:solidFill>
                            <a:srgbClr val="0B0B0B"/>
                          </a:solidFill>
                          <a:latin typeface="Calibri" pitchFamily="34" charset="0"/>
                          <a:ea typeface="Calibri" pitchFamily="34" charset="-122"/>
                          <a:cs typeface="Calibri" pitchFamily="34" charset="-120"/>
                        </a:rPr>
                        <a:t>VolStrat · Growth (default)</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r" indent="0" marL="0">
                        <a:buNone/>
                      </a:pPr>
                      <a:r>
                        <a:rPr lang="en-US" sz="1500" b="1" dirty="0">
                          <a:solidFill>
                            <a:srgbClr val="0B0B0B"/>
                          </a:solidFill>
                          <a:latin typeface="Calibri" pitchFamily="34" charset="0"/>
                          <a:ea typeface="Calibri" pitchFamily="34" charset="-122"/>
                          <a:cs typeface="Calibri" pitchFamily="34" charset="-120"/>
                        </a:rPr>
                        <a:t>9.7%</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r" indent="0" marL="0">
                        <a:buNone/>
                      </a:pPr>
                      <a:r>
                        <a:rPr lang="en-US" sz="1500" b="1" dirty="0">
                          <a:solidFill>
                            <a:srgbClr val="0B0B0B"/>
                          </a:solidFill>
                          <a:latin typeface="Calibri" pitchFamily="34" charset="0"/>
                          <a:ea typeface="Calibri" pitchFamily="34" charset="-122"/>
                          <a:cs typeface="Calibri" pitchFamily="34" charset="-120"/>
                        </a:rPr>
                        <a:t>12.7%</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r" indent="0" marL="0">
                        <a:buNone/>
                      </a:pPr>
                      <a:r>
                        <a:rPr lang="en-US" sz="1500" b="1" dirty="0">
                          <a:solidFill>
                            <a:srgbClr val="0B0B0B"/>
                          </a:solidFill>
                          <a:latin typeface="Calibri" pitchFamily="34" charset="0"/>
                          <a:ea typeface="Calibri" pitchFamily="34" charset="-122"/>
                          <a:cs typeface="Calibri" pitchFamily="34" charset="-120"/>
                        </a:rPr>
                        <a:t>0.66</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r" indent="0" marL="0">
                        <a:buNone/>
                      </a:pPr>
                      <a:r>
                        <a:rPr lang="en-US" sz="1500" b="1" dirty="0">
                          <a:solidFill>
                            <a:srgbClr val="0B0B0B"/>
                          </a:solidFill>
                          <a:latin typeface="Calibri" pitchFamily="34" charset="0"/>
                          <a:ea typeface="Calibri" pitchFamily="34" charset="-122"/>
                          <a:cs typeface="Calibri" pitchFamily="34" charset="-120"/>
                        </a:rPr>
                        <a:t>−23.8%</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c>
                  <a:txBody>
                    <a:bodyPr/>
                    <a:lstStyle/>
                    <a:p>
                      <a:pPr algn="r" indent="0" marL="0">
                        <a:buNone/>
                      </a:pPr>
                      <a:r>
                        <a:rPr lang="en-US" sz="1500" b="1" dirty="0">
                          <a:solidFill>
                            <a:srgbClr val="0B0B0B"/>
                          </a:solidFill>
                          <a:latin typeface="Calibri" pitchFamily="34" charset="0"/>
                          <a:ea typeface="Calibri" pitchFamily="34" charset="-122"/>
                          <a:cs typeface="Calibri" pitchFamily="34" charset="-120"/>
                        </a:rPr>
                        <a:t>6.6×</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E3EEFB"/>
                    </a:solidFill>
                  </a:tcPr>
                </a:tc>
              </a:tr>
              <a:tr h="4114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VolStrat · Balanced (earlier default)</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7.4%</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0.60</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−21.8%</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6.1×</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S&amp;P 500</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10.9%</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19.5%</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0.54</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−55.2%</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MSCI World</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8.4%</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18.6%</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0.44</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−57.8%</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80/20 S&amp;P 500 / AGG</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9.5%</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15.5%</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0.56</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−46.0%</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60/40 S&amp;P 500 / AGG</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8.0%</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11.7%</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0.58</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−35.4%</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4114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Vol target 12% (S&amp;P / T-bills)</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8.6%</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11.9%</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0.61</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−29.0%</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B0B0B"/>
                          </a:solidFill>
                          <a:latin typeface="Calibri" pitchFamily="34" charset="0"/>
                          <a:ea typeface="Calibri" pitchFamily="34" charset="-122"/>
                          <a:cs typeface="Calibri" pitchFamily="34" charset="-120"/>
                        </a:rPr>
                        <a:t>2.3×</a:t>
                      </a:r>
                      <a:endParaRPr lang="en-US" sz="15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bl>
          </a:graphicData>
        </a:graphic>
      </p:graphicFrame>
      <p:sp>
        <p:nvSpPr>
          <p:cNvPr id="4" name="Highest Sharpe circle"/>
          <p:cNvSpPr/>
          <p:nvPr/>
        </p:nvSpPr>
        <p:spPr>
          <a:xfrm>
            <a:off x="548640" y="5257800"/>
            <a:ext cx="548640" cy="548640"/>
          </a:xfrm>
          <a:prstGeom prst="ellipse">
            <a:avLst/>
          </a:prstGeom>
          <a:solidFill>
            <a:srgbClr val="2A78D6"/>
          </a:solidFill>
          <a:ln w="12700">
            <a:solidFill>
              <a:srgbClr val="2A78D6"/>
            </a:solidFill>
            <a:prstDash val="solid"/>
          </a:ln>
        </p:spPr>
      </p:sp>
      <p:pic>
        <p:nvPicPr>
          <p:cNvPr id="5" name="Highest Sharpe icon" descr="Highest Sharpe">    </p:cNvPr>
          <p:cNvPicPr>
            <a:picLocks noChangeAspect="1"/>
          </p:cNvPicPr>
          <p:nvPr/>
        </p:nvPicPr>
        <p:blipFill>
          <a:blip r:embed="rId1"/>
          <a:stretch>
            <a:fillRect/>
          </a:stretch>
        </p:blipFill>
        <p:spPr>
          <a:xfrm>
            <a:off x="685800" y="5394960"/>
            <a:ext cx="274320" cy="274320"/>
          </a:xfrm>
          <a:prstGeom prst="rect">
            <a:avLst/>
          </a:prstGeom>
        </p:spPr>
      </p:pic>
      <p:sp>
        <p:nvSpPr>
          <p:cNvPr id="6" name="Text 2"/>
          <p:cNvSpPr txBox="1"/>
          <p:nvPr/>
        </p:nvSpPr>
        <p:spPr>
          <a:xfrm>
            <a:off x="1280160" y="5212080"/>
            <a:ext cx="2834640" cy="365760"/>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Highest Sharpe</a:t>
            </a:r>
            <a:endParaRPr lang="en-US" sz="1600" dirty="0"/>
          </a:p>
        </p:txBody>
      </p:sp>
      <p:sp>
        <p:nvSpPr>
          <p:cNvPr id="7" name="Text 3"/>
          <p:cNvSpPr txBox="1"/>
          <p:nvPr/>
        </p:nvSpPr>
        <p:spPr>
          <a:xfrm>
            <a:off x="1280160" y="5577840"/>
            <a:ext cx="2834640" cy="731520"/>
          </a:xfrm>
          <a:prstGeom prst="rect">
            <a:avLst/>
          </a:prstGeom>
          <a:noFill/>
          <a:ln/>
        </p:spPr>
        <p:txBody>
          <a:bodyPr wrap="square" lIns="0" tIns="0" rIns="0" bIns="0" rtlCol="0" anchor="t"/>
          <a:lstStyle/>
          <a:p>
            <a:pPr indent="0" marL="0">
              <a:buNone/>
            </a:pPr>
            <a:r>
              <a:rPr lang="en-US" sz="1400" dirty="0">
                <a:solidFill>
                  <a:srgbClr val="52514E"/>
                </a:solidFill>
              </a:rPr>
              <a:t>0.66 vs 0.54 for the S&amp;P 500 and 0.58 for 60/40</a:t>
            </a:r>
            <a:endParaRPr lang="en-US" sz="1400" dirty="0"/>
          </a:p>
        </p:txBody>
      </p:sp>
      <p:sp>
        <p:nvSpPr>
          <p:cNvPr id="8" name="Costs matter circle"/>
          <p:cNvSpPr/>
          <p:nvPr/>
        </p:nvSpPr>
        <p:spPr>
          <a:xfrm>
            <a:off x="4297680" y="5257800"/>
            <a:ext cx="548640" cy="548640"/>
          </a:xfrm>
          <a:prstGeom prst="ellipse">
            <a:avLst/>
          </a:prstGeom>
          <a:solidFill>
            <a:srgbClr val="2A78D6"/>
          </a:solidFill>
          <a:ln w="12700">
            <a:solidFill>
              <a:srgbClr val="2A78D6"/>
            </a:solidFill>
            <a:prstDash val="solid"/>
          </a:ln>
        </p:spPr>
      </p:sp>
      <p:pic>
        <p:nvPicPr>
          <p:cNvPr id="9" name="Costs matter icon" descr="Costs matter">    </p:cNvPr>
          <p:cNvPicPr>
            <a:picLocks noChangeAspect="1"/>
          </p:cNvPicPr>
          <p:nvPr/>
        </p:nvPicPr>
        <p:blipFill>
          <a:blip r:embed="rId2"/>
          <a:stretch>
            <a:fillRect/>
          </a:stretch>
        </p:blipFill>
        <p:spPr>
          <a:xfrm>
            <a:off x="4434840" y="5394960"/>
            <a:ext cx="274320" cy="274320"/>
          </a:xfrm>
          <a:prstGeom prst="rect">
            <a:avLst/>
          </a:prstGeom>
        </p:spPr>
      </p:pic>
      <p:sp>
        <p:nvSpPr>
          <p:cNvPr id="10" name="Text 5"/>
          <p:cNvSpPr txBox="1"/>
          <p:nvPr/>
        </p:nvSpPr>
        <p:spPr>
          <a:xfrm>
            <a:off x="5029200" y="5212080"/>
            <a:ext cx="2834640" cy="365760"/>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Costs matter</a:t>
            </a:r>
            <a:endParaRPr lang="en-US" sz="1600" dirty="0"/>
          </a:p>
        </p:txBody>
      </p:sp>
      <p:sp>
        <p:nvSpPr>
          <p:cNvPr id="11" name="Text 6"/>
          <p:cNvSpPr txBox="1"/>
          <p:nvPr/>
        </p:nvSpPr>
        <p:spPr>
          <a:xfrm>
            <a:off x="5029200" y="5577840"/>
            <a:ext cx="2834640" cy="731520"/>
          </a:xfrm>
          <a:prstGeom prst="rect">
            <a:avLst/>
          </a:prstGeom>
          <a:noFill/>
          <a:ln/>
        </p:spPr>
        <p:txBody>
          <a:bodyPr wrap="square" lIns="0" tIns="0" rIns="0" bIns="0" rtlCol="0" anchor="t"/>
          <a:lstStyle/>
          <a:p>
            <a:pPr indent="0" marL="0">
              <a:buNone/>
            </a:pPr>
            <a:r>
              <a:rPr lang="en-US" sz="1400" dirty="0">
                <a:solidFill>
                  <a:srgbClr val="52514E"/>
                </a:solidFill>
              </a:rPr>
              <a:t>About 6.6× turnover a year, so execution cost is a first-order issue</a:t>
            </a:r>
            <a:endParaRPr lang="en-US" sz="1400" dirty="0"/>
          </a:p>
        </p:txBody>
      </p:sp>
      <p:sp>
        <p:nvSpPr>
          <p:cNvPr id="12" name="Still trails the index circle"/>
          <p:cNvSpPr/>
          <p:nvPr/>
        </p:nvSpPr>
        <p:spPr>
          <a:xfrm>
            <a:off x="8046720" y="5257800"/>
            <a:ext cx="548640" cy="548640"/>
          </a:xfrm>
          <a:prstGeom prst="ellipse">
            <a:avLst/>
          </a:prstGeom>
          <a:solidFill>
            <a:srgbClr val="2A78D6"/>
          </a:solidFill>
          <a:ln w="12700">
            <a:solidFill>
              <a:srgbClr val="2A78D6"/>
            </a:solidFill>
            <a:prstDash val="solid"/>
          </a:ln>
        </p:spPr>
      </p:sp>
      <p:pic>
        <p:nvPicPr>
          <p:cNvPr id="13" name="Still trails the index icon" descr="Still trails the index">    </p:cNvPr>
          <p:cNvPicPr>
            <a:picLocks noChangeAspect="1"/>
          </p:cNvPicPr>
          <p:nvPr/>
        </p:nvPicPr>
        <p:blipFill>
          <a:blip r:embed="rId3"/>
          <a:stretch>
            <a:fillRect/>
          </a:stretch>
        </p:blipFill>
        <p:spPr>
          <a:xfrm>
            <a:off x="8183880" y="5394960"/>
            <a:ext cx="274320" cy="274320"/>
          </a:xfrm>
          <a:prstGeom prst="rect">
            <a:avLst/>
          </a:prstGeom>
        </p:spPr>
      </p:pic>
      <p:sp>
        <p:nvSpPr>
          <p:cNvPr id="14" name="Text 8"/>
          <p:cNvSpPr txBox="1"/>
          <p:nvPr/>
        </p:nvSpPr>
        <p:spPr>
          <a:xfrm>
            <a:off x="8778240" y="5212080"/>
            <a:ext cx="2834640" cy="365760"/>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Still trails the index</a:t>
            </a:r>
            <a:endParaRPr lang="en-US" sz="1600" dirty="0"/>
          </a:p>
        </p:txBody>
      </p:sp>
      <p:sp>
        <p:nvSpPr>
          <p:cNvPr id="15" name="Text 9"/>
          <p:cNvSpPr txBox="1"/>
          <p:nvPr/>
        </p:nvSpPr>
        <p:spPr>
          <a:xfrm>
            <a:off x="8778240" y="5577840"/>
            <a:ext cx="2834640" cy="731520"/>
          </a:xfrm>
          <a:prstGeom prst="rect">
            <a:avLst/>
          </a:prstGeom>
          <a:noFill/>
          <a:ln/>
        </p:spPr>
        <p:txBody>
          <a:bodyPr wrap="square" lIns="0" tIns="0" rIns="0" bIns="0" rtlCol="0" anchor="t"/>
          <a:lstStyle/>
          <a:p>
            <a:pPr indent="0" marL="0">
              <a:buNone/>
            </a:pPr>
            <a:r>
              <a:rPr lang="en-US" sz="1400" dirty="0">
                <a:solidFill>
                  <a:srgbClr val="52514E"/>
                </a:solidFill>
              </a:rPr>
              <a:t>9.7% vs 10.9% CAGR, at less than half the drawdown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Volatility shocks absorbed; the 2022 rate shock was not</a:t>
            </a:r>
            <a:endParaRPr lang="en-US" sz="3200" dirty="0"/>
          </a:p>
        </p:txBody>
      </p:sp>
      <p:graphicFrame>
        <p:nvGraphicFramePr>
          <p:cNvPr id="3" name="Chart 0" descr=""/>
          <p:cNvGraphicFramePr/>
          <p:nvPr/>
        </p:nvGraphicFramePr>
        <p:xfrm>
          <a:off x="548640" y="1280160"/>
          <a:ext cx="6949440" cy="4892040"/>
        </p:xfrm>
        <a:graphic xmlns:a="http://schemas.openxmlformats.org/drawingml/2006/main">
          <a:graphicData uri="http://schemas.openxmlformats.org/drawingml/2006/chart">
            <c:chart xmlns:c="http://schemas.openxmlformats.org/drawingml/2006/chart" r:id="rId1"/>
          </a:graphicData>
        </a:graphic>
      </p:graphicFrame>
      <p:sp>
        <p:nvSpPr>
          <p:cNvPr id="4" name="insight 1"/>
          <p:cNvSpPr/>
          <p:nvPr/>
        </p:nvSpPr>
        <p:spPr>
          <a:xfrm>
            <a:off x="7955280" y="1371600"/>
            <a:ext cx="3657600" cy="1417320"/>
          </a:xfrm>
          <a:prstGeom prst="roundRect">
            <a:avLst>
              <a:gd name="adj" fmla="val 6452"/>
            </a:avLst>
          </a:prstGeom>
          <a:solidFill>
            <a:srgbClr val="F0EFEC"/>
          </a:solidFill>
          <a:ln w="12700">
            <a:solidFill>
              <a:srgbClr val="F0EFEC"/>
            </a:solidFill>
            <a:prstDash val="solid"/>
          </a:ln>
        </p:spPr>
      </p:sp>
      <p:sp>
        <p:nvSpPr>
          <p:cNvPr id="5" name="Text 2"/>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Fast signals lead</a:t>
            </a:r>
            <a:endParaRPr lang="en-US" sz="1600" dirty="0"/>
          </a:p>
        </p:txBody>
      </p:sp>
      <p:sp>
        <p:nvSpPr>
          <p:cNvPr id="6" name="Text 3"/>
          <p:cNvSpPr txBox="1"/>
          <p:nvPr/>
        </p:nvSpPr>
        <p:spPr>
          <a:xfrm>
            <a:off x="8183880" y="1847088"/>
            <a:ext cx="3246120" cy="868680"/>
          </a:xfrm>
          <a:prstGeom prst="rect">
            <a:avLst/>
          </a:prstGeom>
          <a:noFill/>
          <a:ln/>
        </p:spPr>
        <p:txBody>
          <a:bodyPr wrap="square" lIns="0" tIns="0" rIns="0" bIns="0" rtlCol="0" anchor="t"/>
          <a:lstStyle/>
          <a:p>
            <a:pPr indent="0" marL="0">
              <a:buNone/>
            </a:pPr>
            <a:r>
              <a:rPr lang="en-US" sz="1350" dirty="0">
                <a:solidFill>
                  <a:srgbClr val="52514E"/>
                </a:solidFill>
              </a:rPr>
              <a:t>VIX/VIX3M inverted on 5 Feb 2018 while the trend filter barely moved. Mixing fast and slow signals is deliberate.</a:t>
            </a:r>
            <a:endParaRPr lang="en-US" sz="1350" dirty="0"/>
          </a:p>
        </p:txBody>
      </p:sp>
      <p:sp>
        <p:nvSpPr>
          <p:cNvPr id="7" name="insight 2"/>
          <p:cNvSpPr/>
          <p:nvPr/>
        </p:nvSpPr>
        <p:spPr>
          <a:xfrm>
            <a:off x="7955280" y="2971800"/>
            <a:ext cx="3657600" cy="1417320"/>
          </a:xfrm>
          <a:prstGeom prst="roundRect">
            <a:avLst>
              <a:gd name="adj" fmla="val 6452"/>
            </a:avLst>
          </a:prstGeom>
          <a:solidFill>
            <a:srgbClr val="F0EFEC"/>
          </a:solidFill>
          <a:ln w="12700">
            <a:solidFill>
              <a:srgbClr val="F0EFEC"/>
            </a:solidFill>
            <a:prstDash val="solid"/>
          </a:ln>
        </p:spPr>
      </p:sp>
      <p:sp>
        <p:nvSpPr>
          <p:cNvPr id="8" name="Text 5"/>
          <p:cNvSpPr txBox="1"/>
          <p:nvPr/>
        </p:nvSpPr>
        <p:spPr>
          <a:xfrm>
            <a:off x="8183880" y="3108960"/>
            <a:ext cx="3200400" cy="320040"/>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Right signal, wrong hedge</a:t>
            </a:r>
            <a:endParaRPr lang="en-US" sz="1600" dirty="0"/>
          </a:p>
        </p:txBody>
      </p:sp>
      <p:sp>
        <p:nvSpPr>
          <p:cNvPr id="9" name="Text 6"/>
          <p:cNvSpPr txBox="1"/>
          <p:nvPr/>
        </p:nvSpPr>
        <p:spPr>
          <a:xfrm>
            <a:off x="8183880" y="3447288"/>
            <a:ext cx="3246120" cy="868680"/>
          </a:xfrm>
          <a:prstGeom prst="rect">
            <a:avLst/>
          </a:prstGeom>
          <a:noFill/>
          <a:ln/>
        </p:spPr>
        <p:txBody>
          <a:bodyPr wrap="square" lIns="0" tIns="0" rIns="0" bIns="0" rtlCol="0" anchor="t"/>
          <a:lstStyle/>
          <a:p>
            <a:pPr indent="0" marL="0">
              <a:buNone/>
            </a:pPr>
            <a:r>
              <a:rPr lang="en-US" sz="1350" dirty="0">
                <a:solidFill>
                  <a:srgbClr val="52514E"/>
                </a:solidFill>
              </a:rPr>
              <a:t>Stress was flagged by 21 Jan 2022, but in a rate shock Treasuries (−16.1%) and gold (−9.8%) fell too.</a:t>
            </a:r>
            <a:endParaRPr lang="en-US" sz="1350" dirty="0"/>
          </a:p>
        </p:txBody>
      </p:sp>
      <p:sp>
        <p:nvSpPr>
          <p:cNvPr id="10" name="insight 3"/>
          <p:cNvSpPr/>
          <p:nvPr/>
        </p:nvSpPr>
        <p:spPr>
          <a:xfrm>
            <a:off x="7955280" y="4572000"/>
            <a:ext cx="3657600" cy="1417320"/>
          </a:xfrm>
          <a:prstGeom prst="roundRect">
            <a:avLst>
              <a:gd name="adj" fmla="val 6452"/>
            </a:avLst>
          </a:prstGeom>
          <a:solidFill>
            <a:srgbClr val="F0EFEC"/>
          </a:solidFill>
          <a:ln w="12700">
            <a:solidFill>
              <a:srgbClr val="F0EFEC"/>
            </a:solidFill>
            <a:prstDash val="solid"/>
          </a:ln>
        </p:spPr>
      </p:sp>
      <p:sp>
        <p:nvSpPr>
          <p:cNvPr id="11" name="Text 8"/>
          <p:cNvSpPr txBox="1"/>
          <p:nvPr/>
        </p:nvSpPr>
        <p:spPr>
          <a:xfrm>
            <a:off x="8183880" y="4709160"/>
            <a:ext cx="3200400" cy="320040"/>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No hindsight fixes</a:t>
            </a:r>
            <a:endParaRPr lang="en-US" sz="1600" dirty="0"/>
          </a:p>
        </p:txBody>
      </p:sp>
      <p:sp>
        <p:nvSpPr>
          <p:cNvPr id="12" name="Text 9"/>
          <p:cNvSpPr txBox="1"/>
          <p:nvPr/>
        </p:nvSpPr>
        <p:spPr>
          <a:xfrm>
            <a:off x="8183880" y="5047488"/>
            <a:ext cx="3246120" cy="868680"/>
          </a:xfrm>
          <a:prstGeom prst="rect">
            <a:avLst/>
          </a:prstGeom>
          <a:noFill/>
          <a:ln/>
        </p:spPr>
        <p:txBody>
          <a:bodyPr wrap="square" lIns="0" tIns="0" rIns="0" bIns="0" rtlCol="0" anchor="t"/>
          <a:lstStyle/>
          <a:p>
            <a:pPr indent="0" marL="0">
              <a:buNone/>
            </a:pPr>
            <a:r>
              <a:rPr lang="en-US" sz="1350" dirty="0">
                <a:solidFill>
                  <a:srgbClr val="52514E"/>
                </a:solidFill>
              </a:rPr>
              <a:t>A T-bill hedge would have helped 2022 but lowers the 2007–2026 Sharpe (0.53 vs 0.60), so it stays optional.</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The score sorts risk, not return</a:t>
            </a:r>
            <a:endParaRPr lang="en-US" sz="3200" dirty="0"/>
          </a:p>
        </p:txBody>
      </p:sp>
      <p:graphicFrame>
        <p:nvGraphicFramePr>
          <p:cNvPr id="3" name="Chart 0" descr=""/>
          <p:cNvGraphicFramePr/>
          <p:nvPr/>
        </p:nvGraphicFramePr>
        <p:xfrm>
          <a:off x="548640" y="1280160"/>
          <a:ext cx="6949440" cy="48920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417320"/>
            <a:ext cx="3657600" cy="640080"/>
          </a:xfrm>
          <a:prstGeom prst="rect">
            <a:avLst/>
          </a:prstGeom>
          <a:noFill/>
          <a:ln/>
        </p:spPr>
        <p:txBody>
          <a:bodyPr wrap="square" lIns="0" tIns="0" rIns="0" bIns="0" rtlCol="0" anchor="ctr"/>
          <a:lstStyle/>
          <a:p>
            <a:pPr indent="0" marL="0">
              <a:buNone/>
            </a:pPr>
            <a:r>
              <a:rPr lang="en-US" sz="3600" b="1" dirty="0">
                <a:solidFill>
                  <a:srgbClr val="2A78D6"/>
                </a:solidFill>
                <a:latin typeface="Arial" pitchFamily="34" charset="0"/>
                <a:ea typeface="Arial" pitchFamily="34" charset="-122"/>
                <a:cs typeface="Arial" pitchFamily="34" charset="-120"/>
              </a:rPr>
              <a:t>3×</a:t>
            </a:r>
            <a:endParaRPr lang="en-US" sz="3600" dirty="0"/>
          </a:p>
        </p:txBody>
      </p:sp>
      <p:sp>
        <p:nvSpPr>
          <p:cNvPr id="5" name="Text 2"/>
          <p:cNvSpPr txBox="1"/>
          <p:nvPr/>
        </p:nvSpPr>
        <p:spPr>
          <a:xfrm>
            <a:off x="7955280" y="2075688"/>
            <a:ext cx="3657600" cy="777240"/>
          </a:xfrm>
          <a:prstGeom prst="rect">
            <a:avLst/>
          </a:prstGeom>
          <a:noFill/>
          <a:ln/>
        </p:spPr>
        <p:txBody>
          <a:bodyPr wrap="square" lIns="0" tIns="0" rIns="0" bIns="0" rtlCol="0" anchor="t"/>
          <a:lstStyle/>
          <a:p>
            <a:pPr indent="0" marL="0">
              <a:buNone/>
            </a:pPr>
            <a:r>
              <a:rPr lang="en-US" sz="1400" dirty="0">
                <a:solidFill>
                  <a:srgbClr val="52514E"/>
                </a:solidFill>
              </a:rPr>
              <a:t>higher volatility after Crisis days than after calm days, and 3× the odds of a 10% loss within a quarter</a:t>
            </a:r>
            <a:endParaRPr lang="en-US" sz="1400" dirty="0"/>
          </a:p>
        </p:txBody>
      </p:sp>
      <p:sp>
        <p:nvSpPr>
          <p:cNvPr id="6" name="Text 3"/>
          <p:cNvSpPr txBox="1"/>
          <p:nvPr/>
        </p:nvSpPr>
        <p:spPr>
          <a:xfrm>
            <a:off x="7955280" y="2971800"/>
            <a:ext cx="3657600" cy="640080"/>
          </a:xfrm>
          <a:prstGeom prst="rect">
            <a:avLst/>
          </a:prstGeom>
          <a:noFill/>
          <a:ln/>
        </p:spPr>
        <p:txBody>
          <a:bodyPr wrap="square" lIns="0" tIns="0" rIns="0" bIns="0" rtlCol="0" anchor="ctr"/>
          <a:lstStyle/>
          <a:p>
            <a:pPr indent="0" marL="0">
              <a:buNone/>
            </a:pPr>
            <a:r>
              <a:rPr lang="en-US" sz="3600" b="1" dirty="0">
                <a:solidFill>
                  <a:srgbClr val="2A78D6"/>
                </a:solidFill>
                <a:latin typeface="Arial" pitchFamily="34" charset="0"/>
                <a:ea typeface="Arial" pitchFamily="34" charset="-122"/>
                <a:cs typeface="Arial" pitchFamily="34" charset="-120"/>
              </a:rPr>
              <a:t>0.66 – 0.72</a:t>
            </a:r>
            <a:endParaRPr lang="en-US" sz="3600" dirty="0"/>
          </a:p>
        </p:txBody>
      </p:sp>
      <p:sp>
        <p:nvSpPr>
          <p:cNvPr id="7" name="Text 4"/>
          <p:cNvSpPr txBox="1"/>
          <p:nvPr/>
        </p:nvSpPr>
        <p:spPr>
          <a:xfrm>
            <a:off x="7955280" y="3630168"/>
            <a:ext cx="3657600" cy="777240"/>
          </a:xfrm>
          <a:prstGeom prst="rect">
            <a:avLst/>
          </a:prstGeom>
          <a:noFill/>
          <a:ln/>
        </p:spPr>
        <p:txBody>
          <a:bodyPr wrap="square" lIns="0" tIns="0" rIns="0" bIns="0" rtlCol="0" anchor="t"/>
          <a:lstStyle/>
          <a:p>
            <a:pPr indent="0" marL="0">
              <a:buNone/>
            </a:pPr>
            <a:r>
              <a:rPr lang="en-US" sz="1400" dirty="0">
                <a:solidFill>
                  <a:srgbClr val="52514E"/>
                </a:solidFill>
              </a:rPr>
              <a:t>Sharpe ratio of the S&amp;P 500 after Crisis, Risk-Off, Neutral and Risk-On days: almost the same</a:t>
            </a:r>
            <a:endParaRPr lang="en-US" sz="1400" dirty="0"/>
          </a:p>
        </p:txBody>
      </p:sp>
      <p:sp>
        <p:nvSpPr>
          <p:cNvPr id="8" name="Text 5"/>
          <p:cNvSpPr txBox="1"/>
          <p:nvPr/>
        </p:nvSpPr>
        <p:spPr>
          <a:xfrm>
            <a:off x="7955280" y="4526280"/>
            <a:ext cx="3657600" cy="640080"/>
          </a:xfrm>
          <a:prstGeom prst="rect">
            <a:avLst/>
          </a:prstGeom>
          <a:noFill/>
          <a:ln/>
        </p:spPr>
        <p:txBody>
          <a:bodyPr wrap="square" lIns="0" tIns="0" rIns="0" bIns="0" rtlCol="0" anchor="ctr"/>
          <a:lstStyle/>
          <a:p>
            <a:pPr indent="0" marL="0">
              <a:buNone/>
            </a:pPr>
            <a:r>
              <a:rPr lang="en-US" sz="3600" b="1" dirty="0">
                <a:solidFill>
                  <a:srgbClr val="2A78D6"/>
                </a:solidFill>
                <a:latin typeface="Arial" pitchFamily="34" charset="0"/>
                <a:ea typeface="Arial" pitchFamily="34" charset="-122"/>
                <a:cs typeface="Arial" pitchFamily="34" charset="-120"/>
              </a:rPr>
              <a:t>−0.06</a:t>
            </a:r>
            <a:endParaRPr lang="en-US" sz="3600" dirty="0"/>
          </a:p>
        </p:txBody>
      </p:sp>
      <p:sp>
        <p:nvSpPr>
          <p:cNvPr id="9" name="Text 6"/>
          <p:cNvSpPr txBox="1"/>
          <p:nvPr/>
        </p:nvSpPr>
        <p:spPr>
          <a:xfrm>
            <a:off x="7955280" y="5184648"/>
            <a:ext cx="3657600" cy="777240"/>
          </a:xfrm>
          <a:prstGeom prst="rect">
            <a:avLst/>
          </a:prstGeom>
          <a:noFill/>
          <a:ln/>
        </p:spPr>
        <p:txBody>
          <a:bodyPr wrap="square" lIns="0" tIns="0" rIns="0" bIns="0" rtlCol="0" anchor="t"/>
          <a:lstStyle/>
          <a:p>
            <a:pPr indent="0" marL="0">
              <a:buNone/>
            </a:pPr>
            <a:r>
              <a:rPr lang="en-US" sz="1400" dirty="0">
                <a:solidFill>
                  <a:srgbClr val="52514E"/>
                </a:solidFill>
              </a:rPr>
              <a:t>rank correlation of the score with next-month returns (t = −1.2): no return forecast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regime dot Crisis"/>
          <p:cNvSpPr/>
          <p:nvPr/>
        </p:nvSpPr>
        <p:spPr>
          <a:xfrm>
            <a:off x="548640" y="2103120"/>
            <a:ext cx="274320" cy="274320"/>
          </a:xfrm>
          <a:prstGeom prst="ellipse">
            <a:avLst/>
          </a:prstGeom>
          <a:solidFill>
            <a:srgbClr val="D03B3B"/>
          </a:solidFill>
          <a:ln w="12700">
            <a:solidFill>
              <a:srgbClr val="D03B3B"/>
            </a:solidFill>
            <a:prstDash val="solid"/>
          </a:ln>
        </p:spPr>
      </p:sp>
      <p:sp>
        <p:nvSpPr>
          <p:cNvPr id="3" name="regime dot Risk-Off"/>
          <p:cNvSpPr/>
          <p:nvPr/>
        </p:nvSpPr>
        <p:spPr>
          <a:xfrm>
            <a:off x="960120" y="2103120"/>
            <a:ext cx="274320" cy="274320"/>
          </a:xfrm>
          <a:prstGeom prst="ellipse">
            <a:avLst/>
          </a:prstGeom>
          <a:solidFill>
            <a:srgbClr val="EC9A8F"/>
          </a:solidFill>
          <a:ln w="12700">
            <a:solidFill>
              <a:srgbClr val="EC9A8F"/>
            </a:solidFill>
            <a:prstDash val="solid"/>
          </a:ln>
        </p:spPr>
      </p:sp>
      <p:sp>
        <p:nvSpPr>
          <p:cNvPr id="4" name="regime dot Neutral"/>
          <p:cNvSpPr/>
          <p:nvPr/>
        </p:nvSpPr>
        <p:spPr>
          <a:xfrm>
            <a:off x="1371600" y="2103120"/>
            <a:ext cx="274320" cy="274320"/>
          </a:xfrm>
          <a:prstGeom prst="ellipse">
            <a:avLst/>
          </a:prstGeom>
          <a:solidFill>
            <a:srgbClr val="B9B8B2"/>
          </a:solidFill>
          <a:ln w="12700">
            <a:solidFill>
              <a:srgbClr val="B9B8B2"/>
            </a:solidFill>
            <a:prstDash val="solid"/>
          </a:ln>
        </p:spPr>
      </p:sp>
      <p:sp>
        <p:nvSpPr>
          <p:cNvPr id="5" name="regime dot Risk-On"/>
          <p:cNvSpPr/>
          <p:nvPr/>
        </p:nvSpPr>
        <p:spPr>
          <a:xfrm>
            <a:off x="1783080" y="2103120"/>
            <a:ext cx="274320" cy="274320"/>
          </a:xfrm>
          <a:prstGeom prst="ellipse">
            <a:avLst/>
          </a:prstGeom>
          <a:solidFill>
            <a:srgbClr val="86B6EF"/>
          </a:solidFill>
          <a:ln w="12700">
            <a:solidFill>
              <a:srgbClr val="86B6EF"/>
            </a:solidFill>
            <a:prstDash val="solid"/>
          </a:ln>
        </p:spPr>
      </p:sp>
      <p:sp>
        <p:nvSpPr>
          <p:cNvPr id="6" name="regime dot Strong Risk-On"/>
          <p:cNvSpPr/>
          <p:nvPr/>
        </p:nvSpPr>
        <p:spPr>
          <a:xfrm>
            <a:off x="2194560" y="2103120"/>
            <a:ext cx="274320" cy="274320"/>
          </a:xfrm>
          <a:prstGeom prst="ellipse">
            <a:avLst/>
          </a:prstGeom>
          <a:solidFill>
            <a:srgbClr val="256ABF"/>
          </a:solidFill>
          <a:ln w="12700">
            <a:solidFill>
              <a:srgbClr val="256ABF"/>
            </a:solidFill>
            <a:prstDash val="solid"/>
          </a:ln>
        </p:spPr>
      </p:sp>
      <p:sp>
        <p:nvSpPr>
          <p:cNvPr id="7" name="Text 0"/>
          <p:cNvSpPr/>
          <p:nvPr>
            <p:ph idx="100" type="title" hasCustomPrompt="1"/>
          </p:nvPr>
        </p:nvSpPr>
        <p:spPr>
          <a:xfrm>
            <a:off x="548640" y="2651760"/>
            <a:ext cx="1106424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Guarding against overfitting</a:t>
            </a:r>
            <a:endParaRPr lang="en-US" sz="4000" dirty="0"/>
          </a:p>
        </p:txBody>
      </p:sp>
      <p:sp>
        <p:nvSpPr>
          <p:cNvPr id="8" name="Text 0"/>
          <p:cNvSpPr/>
          <p:nvPr>
            <p:ph idx="101" type="body" hasCustomPrompt="1"/>
          </p:nvPr>
        </p:nvSpPr>
        <p:spPr>
          <a:xfrm>
            <a:off x="548640" y="3611880"/>
            <a:ext cx="11064240" cy="731520"/>
          </a:xfrm>
          <a:prstGeom prst="rect">
            <a:avLst/>
          </a:prstGeom>
          <a:noFill/>
          <a:ln/>
        </p:spPr>
        <p:txBody>
          <a:bodyPr wrap="square" lIns="0" tIns="0" rIns="0" bIns="0" rtlCol="0" anchor="t"/>
          <a:lstStyle/>
          <a:p>
            <a:pPr indent="0" marL="0">
              <a:buNone/>
            </a:pPr>
            <a:r>
              <a:rPr lang="en-US" sz="2000" dirty="0">
                <a:solidFill>
                  <a:srgbClr val="C3C2B7"/>
                </a:solidFill>
              </a:rPr>
              <a:t>Every change is specified on 2007–2016 and judged once on 2017–2026</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Most ideas fail out of sample, and the tool shows it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3566160"/>
                <a:gridCol w="3566160"/>
                <a:gridCol w="128016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Candidate</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Idea</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Out-of-sample result</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21A25"/>
                    </a:solidFill>
                  </a:tcPr>
                </a:tc>
              </a:tr>
              <a:tr h="566928">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Panic-rebound re-entry</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Buy back after VIX/VIX3M inverts past 1.10 and normalises</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Test Sharpe 0.75 → 0.85; better in 92% of resamples</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Adopted</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BAF7A"/>
                    </a:solidFill>
                  </a:tcPr>
                </a:tc>
              </a:tr>
              <a:tr h="566928">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Higher exposure (Growth)</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80/20 in Neutral, 125% equity in Risk-On</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Return and drawdown rise together; Sharpe unchanged</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B0B0B"/>
                          </a:solidFill>
                          <a:latin typeface="Calibri" pitchFamily="34" charset="0"/>
                          <a:ea typeface="Calibri" pitchFamily="34" charset="-122"/>
                          <a:cs typeface="Calibri" pitchFamily="34" charset="-120"/>
                        </a:rPr>
                        <a:t>Risk dial</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B9B8B2"/>
                    </a:solidFill>
                  </a:tcPr>
                </a:tc>
              </a:tr>
              <a:tr h="566928">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FRED credit and stress indices</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Baa−10y, NFCI, STLFSI as components</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Gains came from 2008 only; worse in 70–96% after 2016</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D03B3B"/>
                    </a:solidFill>
                  </a:tcPr>
                </a:tc>
              </a:tr>
              <a:tr h="566928">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Re-rank the composite</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Spread the score evenly across regimes</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Turnover doubles to 13×; worse in 94%</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D03B3B"/>
                    </a:solidFill>
                  </a:tcPr>
                </a:tc>
              </a:tr>
              <a:tr h="566928">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One-sided VRP</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Count the premium only on the stress side</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Helped 2007–16, cost 0.31 Sharpe in 2017–26</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D03B3B"/>
                    </a:solidFill>
                  </a:tcPr>
                </a:tc>
              </a:tr>
              <a:tr h="566928">
                <a:tc>
                  <a:txBody>
                    <a:bodyPr/>
                    <a:lstStyle/>
                    <a:p>
                      <a:pPr indent="0" marL="0">
                        <a:buNone/>
                      </a:pPr>
                      <a:r>
                        <a:rPr lang="en-US" sz="1400" b="1" dirty="0">
                          <a:solidFill>
                            <a:srgbClr val="0B0B0B"/>
                          </a:solidFill>
                          <a:latin typeface="Calibri" pitchFamily="34" charset="0"/>
                          <a:ea typeface="Calibri" pitchFamily="34" charset="-122"/>
                          <a:cs typeface="Calibri" pitchFamily="34" charset="-120"/>
                        </a:rPr>
                        <a:t>Broad recovery re-entry</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Re-enter whenever volatility eases</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400" dirty="0">
                          <a:solidFill>
                            <a:srgbClr val="52514E"/>
                          </a:solidFill>
                          <a:latin typeface="Calibri" pitchFamily="34" charset="0"/>
                          <a:ea typeface="Calibri" pitchFamily="34" charset="-122"/>
                          <a:cs typeface="Calibri" pitchFamily="34" charset="-120"/>
                        </a:rPr>
                        <a:t>Fired 70 times, often in 2008 bear rallies; better in 46%</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D03B3B"/>
                    </a:solidFill>
                  </a:tcPr>
                </a:tc>
              </a:tr>
            </a:tbl>
          </a:graphicData>
        </a:graphic>
      </p:graphicFrame>
      <p:sp>
        <p:nvSpPr>
          <p:cNvPr id="4" name="walk-forward note"/>
          <p:cNvSpPr/>
          <p:nvPr/>
        </p:nvSpPr>
        <p:spPr>
          <a:xfrm>
            <a:off x="548640" y="5486400"/>
            <a:ext cx="11064240" cy="685800"/>
          </a:xfrm>
          <a:prstGeom prst="roundRect">
            <a:avLst>
              <a:gd name="adj" fmla="val 13333"/>
            </a:avLst>
          </a:prstGeom>
          <a:solidFill>
            <a:srgbClr val="F0EFEC"/>
          </a:solidFill>
          <a:ln w="12700">
            <a:solidFill>
              <a:srgbClr val="F0EFEC"/>
            </a:solidFill>
            <a:prstDash val="solid"/>
          </a:ln>
        </p:spPr>
      </p:sp>
      <p:sp>
        <p:nvSpPr>
          <p:cNvPr id="5" name="Text 2"/>
          <p:cNvSpPr txBox="1"/>
          <p:nvPr/>
        </p:nvSpPr>
        <p:spPr>
          <a:xfrm>
            <a:off x="822960" y="5486400"/>
            <a:ext cx="10515600" cy="685800"/>
          </a:xfrm>
          <a:prstGeom prst="rect">
            <a:avLst/>
          </a:prstGeom>
          <a:noFill/>
          <a:ln/>
        </p:spPr>
        <p:txBody>
          <a:bodyPr wrap="square" lIns="0" tIns="0" rIns="0" bIns="0" rtlCol="0" anchor="ctr"/>
          <a:lstStyle/>
          <a:p>
            <a:pPr indent="0" marL="0">
              <a:buNone/>
            </a:pPr>
            <a:r>
              <a:rPr lang="en-US" sz="1400" b="1" dirty="0">
                <a:solidFill>
                  <a:srgbClr val="0B0B0B"/>
                </a:solidFill>
              </a:rPr>
              <a:t>Built-in checks: </a:t>
            </a:r>
            <a:pPr indent="0" marL="0">
              <a:buNone/>
            </a:pPr>
            <a:r>
              <a:rPr lang="en-US" sz="1400" dirty="0">
                <a:solidFill>
                  <a:srgbClr val="52514E"/>
                </a:solidFill>
              </a:rPr>
              <a:t>sensitivity heatmaps, walk-forward selection (tuning scored 0.48 Sharpe vs 0.70 for fixed defaults), bootstrap intervals and a multiple-testing yardstick.</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Seven pages, one engine, every setting in the URL</a:t>
            </a:r>
            <a:endParaRPr lang="en-US" sz="3200" dirty="0"/>
          </a:p>
        </p:txBody>
      </p:sp>
      <p:sp>
        <p:nvSpPr>
          <p:cNvPr id="3" name="page card Dashboard"/>
          <p:cNvSpPr/>
          <p:nvPr/>
        </p:nvSpPr>
        <p:spPr>
          <a:xfrm>
            <a:off x="548640" y="1371600"/>
            <a:ext cx="2606040" cy="2240280"/>
          </a:xfrm>
          <a:prstGeom prst="roundRect">
            <a:avLst>
              <a:gd name="adj" fmla="val 4898"/>
            </a:avLst>
          </a:prstGeom>
          <a:solidFill>
            <a:srgbClr val="FFFFFF"/>
          </a:solidFill>
          <a:ln w="12700">
            <a:solidFill>
              <a:srgbClr val="E1E0D9"/>
            </a:solidFill>
            <a:prstDash val="solid"/>
          </a:ln>
        </p:spPr>
      </p:sp>
      <p:sp>
        <p:nvSpPr>
          <p:cNvPr id="4" name="Dashboard circle"/>
          <p:cNvSpPr/>
          <p:nvPr/>
        </p:nvSpPr>
        <p:spPr>
          <a:xfrm>
            <a:off x="777240" y="1600200"/>
            <a:ext cx="594360" cy="594360"/>
          </a:xfrm>
          <a:prstGeom prst="ellipse">
            <a:avLst/>
          </a:prstGeom>
          <a:solidFill>
            <a:srgbClr val="2A78D6"/>
          </a:solidFill>
          <a:ln w="12700">
            <a:solidFill>
              <a:srgbClr val="2A78D6"/>
            </a:solidFill>
            <a:prstDash val="solid"/>
          </a:ln>
        </p:spPr>
      </p:sp>
      <p:pic>
        <p:nvPicPr>
          <p:cNvPr id="5" name="Dashboard icon" descr="Dashboard">    </p:cNvPr>
          <p:cNvPicPr>
            <a:picLocks noChangeAspect="1"/>
          </p:cNvPicPr>
          <p:nvPr/>
        </p:nvPicPr>
        <p:blipFill>
          <a:blip r:embed="rId1"/>
          <a:stretch>
            <a:fillRect/>
          </a:stretch>
        </p:blipFill>
        <p:spPr>
          <a:xfrm>
            <a:off x="925830" y="1748790"/>
            <a:ext cx="297180" cy="297180"/>
          </a:xfrm>
          <a:prstGeom prst="rect">
            <a:avLst/>
          </a:prstGeom>
        </p:spPr>
      </p:pic>
      <p:sp>
        <p:nvSpPr>
          <p:cNvPr id="6" name="Text 3"/>
          <p:cNvSpPr txBox="1"/>
          <p:nvPr/>
        </p:nvSpPr>
        <p:spPr>
          <a:xfrm>
            <a:off x="777240" y="2286000"/>
            <a:ext cx="214884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Dashboard</a:t>
            </a:r>
            <a:endParaRPr lang="en-US" sz="1800" dirty="0"/>
          </a:p>
        </p:txBody>
      </p:sp>
      <p:sp>
        <p:nvSpPr>
          <p:cNvPr id="7" name="Text 4"/>
          <p:cNvSpPr txBox="1"/>
          <p:nvPr/>
        </p:nvSpPr>
        <p:spPr>
          <a:xfrm>
            <a:off x="777240" y="2670048"/>
            <a:ext cx="2148840" cy="868680"/>
          </a:xfrm>
          <a:prstGeom prst="rect">
            <a:avLst/>
          </a:prstGeom>
          <a:noFill/>
          <a:ln/>
        </p:spPr>
        <p:txBody>
          <a:bodyPr wrap="square" lIns="0" tIns="0" rIns="0" bIns="0" rtlCol="0" anchor="t"/>
          <a:lstStyle/>
          <a:p>
            <a:pPr indent="0" marL="0">
              <a:buNone/>
            </a:pPr>
            <a:r>
              <a:rPr lang="en-US" sz="1400" dirty="0">
                <a:solidFill>
                  <a:srgbClr val="52514E"/>
                </a:solidFill>
              </a:rPr>
              <a:t>Today's score, regime, allocation, components and data status</a:t>
            </a:r>
            <a:endParaRPr lang="en-US" sz="1400" dirty="0"/>
          </a:p>
        </p:txBody>
      </p:sp>
      <p:sp>
        <p:nvSpPr>
          <p:cNvPr id="8" name="page card Signals"/>
          <p:cNvSpPr/>
          <p:nvPr/>
        </p:nvSpPr>
        <p:spPr>
          <a:xfrm>
            <a:off x="3367735" y="1371600"/>
            <a:ext cx="2606040" cy="2240280"/>
          </a:xfrm>
          <a:prstGeom prst="roundRect">
            <a:avLst>
              <a:gd name="adj" fmla="val 4898"/>
            </a:avLst>
          </a:prstGeom>
          <a:solidFill>
            <a:srgbClr val="FFFFFF"/>
          </a:solidFill>
          <a:ln w="12700">
            <a:solidFill>
              <a:srgbClr val="E1E0D9"/>
            </a:solidFill>
            <a:prstDash val="solid"/>
          </a:ln>
        </p:spPr>
      </p:sp>
      <p:sp>
        <p:nvSpPr>
          <p:cNvPr id="9" name="Signals circle"/>
          <p:cNvSpPr/>
          <p:nvPr/>
        </p:nvSpPr>
        <p:spPr>
          <a:xfrm>
            <a:off x="3596335" y="1600200"/>
            <a:ext cx="594360" cy="594360"/>
          </a:xfrm>
          <a:prstGeom prst="ellipse">
            <a:avLst/>
          </a:prstGeom>
          <a:solidFill>
            <a:srgbClr val="2A78D6"/>
          </a:solidFill>
          <a:ln w="12700">
            <a:solidFill>
              <a:srgbClr val="2A78D6"/>
            </a:solidFill>
            <a:prstDash val="solid"/>
          </a:ln>
        </p:spPr>
      </p:sp>
      <p:pic>
        <p:nvPicPr>
          <p:cNvPr id="10" name="Signals icon" descr="Signals">    </p:cNvPr>
          <p:cNvPicPr>
            <a:picLocks noChangeAspect="1"/>
          </p:cNvPicPr>
          <p:nvPr/>
        </p:nvPicPr>
        <p:blipFill>
          <a:blip r:embed="rId2"/>
          <a:stretch>
            <a:fillRect/>
          </a:stretch>
        </p:blipFill>
        <p:spPr>
          <a:xfrm>
            <a:off x="3744925" y="1748790"/>
            <a:ext cx="297180" cy="297180"/>
          </a:xfrm>
          <a:prstGeom prst="rect">
            <a:avLst/>
          </a:prstGeom>
        </p:spPr>
      </p:pic>
      <p:sp>
        <p:nvSpPr>
          <p:cNvPr id="11" name="Text 7"/>
          <p:cNvSpPr txBox="1"/>
          <p:nvPr/>
        </p:nvSpPr>
        <p:spPr>
          <a:xfrm>
            <a:off x="3596335" y="2286000"/>
            <a:ext cx="214884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Signals</a:t>
            </a:r>
            <a:endParaRPr lang="en-US" sz="1800" dirty="0"/>
          </a:p>
        </p:txBody>
      </p:sp>
      <p:sp>
        <p:nvSpPr>
          <p:cNvPr id="12" name="Text 8"/>
          <p:cNvSpPr txBox="1"/>
          <p:nvPr/>
        </p:nvSpPr>
        <p:spPr>
          <a:xfrm>
            <a:off x="3596335" y="2670048"/>
            <a:ext cx="2148840" cy="868680"/>
          </a:xfrm>
          <a:prstGeom prst="rect">
            <a:avLst/>
          </a:prstGeom>
          <a:noFill/>
          <a:ln/>
        </p:spPr>
        <p:txBody>
          <a:bodyPr wrap="square" lIns="0" tIns="0" rIns="0" bIns="0" rtlCol="0" anchor="t"/>
          <a:lstStyle/>
          <a:p>
            <a:pPr indent="0" marL="0">
              <a:buNone/>
            </a:pPr>
            <a:r>
              <a:rPr lang="en-US" sz="1400" dirty="0">
                <a:solidFill>
                  <a:srgbClr val="52514E"/>
                </a:solidFill>
              </a:rPr>
              <a:t>24 components over the S&amp;P 500 with regime shading; VIX futures curve</a:t>
            </a:r>
            <a:endParaRPr lang="en-US" sz="1400" dirty="0"/>
          </a:p>
        </p:txBody>
      </p:sp>
      <p:sp>
        <p:nvSpPr>
          <p:cNvPr id="13" name="page card Backtest"/>
          <p:cNvSpPr/>
          <p:nvPr/>
        </p:nvSpPr>
        <p:spPr>
          <a:xfrm>
            <a:off x="6186830" y="1371600"/>
            <a:ext cx="2606040" cy="2240280"/>
          </a:xfrm>
          <a:prstGeom prst="roundRect">
            <a:avLst>
              <a:gd name="adj" fmla="val 4898"/>
            </a:avLst>
          </a:prstGeom>
          <a:solidFill>
            <a:srgbClr val="FFFFFF"/>
          </a:solidFill>
          <a:ln w="12700">
            <a:solidFill>
              <a:srgbClr val="E1E0D9"/>
            </a:solidFill>
            <a:prstDash val="solid"/>
          </a:ln>
        </p:spPr>
      </p:sp>
      <p:sp>
        <p:nvSpPr>
          <p:cNvPr id="14" name="Backtest circle"/>
          <p:cNvSpPr/>
          <p:nvPr/>
        </p:nvSpPr>
        <p:spPr>
          <a:xfrm>
            <a:off x="6415430" y="1600200"/>
            <a:ext cx="594360" cy="594360"/>
          </a:xfrm>
          <a:prstGeom prst="ellipse">
            <a:avLst/>
          </a:prstGeom>
          <a:solidFill>
            <a:srgbClr val="2A78D6"/>
          </a:solidFill>
          <a:ln w="12700">
            <a:solidFill>
              <a:srgbClr val="2A78D6"/>
            </a:solidFill>
            <a:prstDash val="solid"/>
          </a:ln>
        </p:spPr>
      </p:sp>
      <p:pic>
        <p:nvPicPr>
          <p:cNvPr id="15" name="Backtest icon" descr="Backtest">    </p:cNvPr>
          <p:cNvPicPr>
            <a:picLocks noChangeAspect="1"/>
          </p:cNvPicPr>
          <p:nvPr/>
        </p:nvPicPr>
        <p:blipFill>
          <a:blip r:embed="rId3"/>
          <a:stretch>
            <a:fillRect/>
          </a:stretch>
        </p:blipFill>
        <p:spPr>
          <a:xfrm>
            <a:off x="6564020" y="1748790"/>
            <a:ext cx="297180" cy="297180"/>
          </a:xfrm>
          <a:prstGeom prst="rect">
            <a:avLst/>
          </a:prstGeom>
        </p:spPr>
      </p:pic>
      <p:sp>
        <p:nvSpPr>
          <p:cNvPr id="16" name="Text 11"/>
          <p:cNvSpPr txBox="1"/>
          <p:nvPr/>
        </p:nvSpPr>
        <p:spPr>
          <a:xfrm>
            <a:off x="6415430" y="2286000"/>
            <a:ext cx="214884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Backtest</a:t>
            </a:r>
            <a:endParaRPr lang="en-US" sz="1800" dirty="0"/>
          </a:p>
        </p:txBody>
      </p:sp>
      <p:sp>
        <p:nvSpPr>
          <p:cNvPr id="17" name="Text 12"/>
          <p:cNvSpPr txBox="1"/>
          <p:nvPr/>
        </p:nvSpPr>
        <p:spPr>
          <a:xfrm>
            <a:off x="6415430" y="2670048"/>
            <a:ext cx="2148840" cy="868680"/>
          </a:xfrm>
          <a:prstGeom prst="rect">
            <a:avLst/>
          </a:prstGeom>
          <a:noFill/>
          <a:ln/>
        </p:spPr>
        <p:txBody>
          <a:bodyPr wrap="square" lIns="0" tIns="0" rIns="0" bIns="0" rtlCol="0" anchor="t"/>
          <a:lstStyle/>
          <a:p>
            <a:pPr indent="0" marL="0">
              <a:buNone/>
            </a:pPr>
            <a:r>
              <a:rPr lang="en-US" sz="1400" dirty="0">
                <a:solidFill>
                  <a:srgbClr val="52514E"/>
                </a:solidFill>
              </a:rPr>
              <a:t>Edit any parameter; stats vs six benchmarks, bootstrap and equal-risk checks</a:t>
            </a:r>
            <a:endParaRPr lang="en-US" sz="1400" dirty="0"/>
          </a:p>
        </p:txBody>
      </p:sp>
      <p:sp>
        <p:nvSpPr>
          <p:cNvPr id="18" name="page card Diagnostics"/>
          <p:cNvSpPr/>
          <p:nvPr/>
        </p:nvSpPr>
        <p:spPr>
          <a:xfrm>
            <a:off x="9005926" y="1371600"/>
            <a:ext cx="2606040" cy="2240280"/>
          </a:xfrm>
          <a:prstGeom prst="roundRect">
            <a:avLst>
              <a:gd name="adj" fmla="val 4898"/>
            </a:avLst>
          </a:prstGeom>
          <a:solidFill>
            <a:srgbClr val="FFFFFF"/>
          </a:solidFill>
          <a:ln w="12700">
            <a:solidFill>
              <a:srgbClr val="E1E0D9"/>
            </a:solidFill>
            <a:prstDash val="solid"/>
          </a:ln>
        </p:spPr>
      </p:sp>
      <p:sp>
        <p:nvSpPr>
          <p:cNvPr id="19" name="Diagnostics circle"/>
          <p:cNvSpPr/>
          <p:nvPr/>
        </p:nvSpPr>
        <p:spPr>
          <a:xfrm>
            <a:off x="9234526" y="1600200"/>
            <a:ext cx="594360" cy="594360"/>
          </a:xfrm>
          <a:prstGeom prst="ellipse">
            <a:avLst/>
          </a:prstGeom>
          <a:solidFill>
            <a:srgbClr val="2A78D6"/>
          </a:solidFill>
          <a:ln w="12700">
            <a:solidFill>
              <a:srgbClr val="2A78D6"/>
            </a:solidFill>
            <a:prstDash val="solid"/>
          </a:ln>
        </p:spPr>
      </p:sp>
      <p:pic>
        <p:nvPicPr>
          <p:cNvPr id="20" name="Diagnostics icon" descr="Diagnostics">    </p:cNvPr>
          <p:cNvPicPr>
            <a:picLocks noChangeAspect="1"/>
          </p:cNvPicPr>
          <p:nvPr/>
        </p:nvPicPr>
        <p:blipFill>
          <a:blip r:embed="rId4"/>
          <a:stretch>
            <a:fillRect/>
          </a:stretch>
        </p:blipFill>
        <p:spPr>
          <a:xfrm>
            <a:off x="9383116" y="1748790"/>
            <a:ext cx="297180" cy="297180"/>
          </a:xfrm>
          <a:prstGeom prst="rect">
            <a:avLst/>
          </a:prstGeom>
        </p:spPr>
      </p:pic>
      <p:sp>
        <p:nvSpPr>
          <p:cNvPr id="21" name="Text 15"/>
          <p:cNvSpPr txBox="1"/>
          <p:nvPr/>
        </p:nvSpPr>
        <p:spPr>
          <a:xfrm>
            <a:off x="9234526" y="2286000"/>
            <a:ext cx="214884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Diagnostics</a:t>
            </a:r>
            <a:endParaRPr lang="en-US" sz="1800" dirty="0"/>
          </a:p>
        </p:txBody>
      </p:sp>
      <p:sp>
        <p:nvSpPr>
          <p:cNvPr id="22" name="Text 16"/>
          <p:cNvSpPr txBox="1"/>
          <p:nvPr/>
        </p:nvSpPr>
        <p:spPr>
          <a:xfrm>
            <a:off x="9234526" y="2670048"/>
            <a:ext cx="2148840" cy="868680"/>
          </a:xfrm>
          <a:prstGeom prst="rect">
            <a:avLst/>
          </a:prstGeom>
          <a:noFill/>
          <a:ln/>
        </p:spPr>
        <p:txBody>
          <a:bodyPr wrap="square" lIns="0" tIns="0" rIns="0" bIns="0" rtlCol="0" anchor="t"/>
          <a:lstStyle/>
          <a:p>
            <a:pPr indent="0" marL="0">
              <a:buNone/>
            </a:pPr>
            <a:r>
              <a:rPr lang="en-US" sz="1400" dirty="0">
                <a:solidFill>
                  <a:srgbClr val="52514E"/>
                </a:solidFill>
              </a:rPr>
              <a:t>Returns after each regime, information coefficient, leave-one-out</a:t>
            </a:r>
            <a:endParaRPr lang="en-US" sz="1400" dirty="0"/>
          </a:p>
        </p:txBody>
      </p:sp>
      <p:sp>
        <p:nvSpPr>
          <p:cNvPr id="23" name="page card Optimise"/>
          <p:cNvSpPr/>
          <p:nvPr/>
        </p:nvSpPr>
        <p:spPr>
          <a:xfrm>
            <a:off x="548640" y="3886200"/>
            <a:ext cx="2606040" cy="2240280"/>
          </a:xfrm>
          <a:prstGeom prst="roundRect">
            <a:avLst>
              <a:gd name="adj" fmla="val 4898"/>
            </a:avLst>
          </a:prstGeom>
          <a:solidFill>
            <a:srgbClr val="FFFFFF"/>
          </a:solidFill>
          <a:ln w="12700">
            <a:solidFill>
              <a:srgbClr val="E1E0D9"/>
            </a:solidFill>
            <a:prstDash val="solid"/>
          </a:ln>
        </p:spPr>
      </p:sp>
      <p:sp>
        <p:nvSpPr>
          <p:cNvPr id="24" name="Optimise circle"/>
          <p:cNvSpPr/>
          <p:nvPr/>
        </p:nvSpPr>
        <p:spPr>
          <a:xfrm>
            <a:off x="777240" y="4114800"/>
            <a:ext cx="594360" cy="594360"/>
          </a:xfrm>
          <a:prstGeom prst="ellipse">
            <a:avLst/>
          </a:prstGeom>
          <a:solidFill>
            <a:srgbClr val="2A78D6"/>
          </a:solidFill>
          <a:ln w="12700">
            <a:solidFill>
              <a:srgbClr val="2A78D6"/>
            </a:solidFill>
            <a:prstDash val="solid"/>
          </a:ln>
        </p:spPr>
      </p:sp>
      <p:pic>
        <p:nvPicPr>
          <p:cNvPr id="25" name="Optimise icon" descr="Optimise">    </p:cNvPr>
          <p:cNvPicPr>
            <a:picLocks noChangeAspect="1"/>
          </p:cNvPicPr>
          <p:nvPr/>
        </p:nvPicPr>
        <p:blipFill>
          <a:blip r:embed="rId5"/>
          <a:stretch>
            <a:fillRect/>
          </a:stretch>
        </p:blipFill>
        <p:spPr>
          <a:xfrm>
            <a:off x="925830" y="4263390"/>
            <a:ext cx="297180" cy="297180"/>
          </a:xfrm>
          <a:prstGeom prst="rect">
            <a:avLst/>
          </a:prstGeom>
        </p:spPr>
      </p:pic>
      <p:sp>
        <p:nvSpPr>
          <p:cNvPr id="26" name="Text 19"/>
          <p:cNvSpPr txBox="1"/>
          <p:nvPr/>
        </p:nvSpPr>
        <p:spPr>
          <a:xfrm>
            <a:off x="777240" y="4800600"/>
            <a:ext cx="214884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Optimise</a:t>
            </a:r>
            <a:endParaRPr lang="en-US" sz="1800" dirty="0"/>
          </a:p>
        </p:txBody>
      </p:sp>
      <p:sp>
        <p:nvSpPr>
          <p:cNvPr id="27" name="Text 20"/>
          <p:cNvSpPr txBox="1"/>
          <p:nvPr/>
        </p:nvSpPr>
        <p:spPr>
          <a:xfrm>
            <a:off x="777240" y="5184648"/>
            <a:ext cx="2148840" cy="868680"/>
          </a:xfrm>
          <a:prstGeom prst="rect">
            <a:avLst/>
          </a:prstGeom>
          <a:noFill/>
          <a:ln/>
        </p:spPr>
        <p:txBody>
          <a:bodyPr wrap="square" lIns="0" tIns="0" rIns="0" bIns="0" rtlCol="0" anchor="t"/>
          <a:lstStyle/>
          <a:p>
            <a:pPr indent="0" marL="0">
              <a:buNone/>
            </a:pPr>
            <a:r>
              <a:rPr lang="en-US" sz="1400" dirty="0">
                <a:solidFill>
                  <a:srgbClr val="52514E"/>
                </a:solidFill>
              </a:rPr>
              <a:t>Regime portfolios and signal weights, tested walk-forward</a:t>
            </a:r>
            <a:endParaRPr lang="en-US" sz="1400" dirty="0"/>
          </a:p>
        </p:txBody>
      </p:sp>
      <p:sp>
        <p:nvSpPr>
          <p:cNvPr id="28" name="page card Compare"/>
          <p:cNvSpPr/>
          <p:nvPr/>
        </p:nvSpPr>
        <p:spPr>
          <a:xfrm>
            <a:off x="3367735" y="3886200"/>
            <a:ext cx="2606040" cy="2240280"/>
          </a:xfrm>
          <a:prstGeom prst="roundRect">
            <a:avLst>
              <a:gd name="adj" fmla="val 4898"/>
            </a:avLst>
          </a:prstGeom>
          <a:solidFill>
            <a:srgbClr val="FFFFFF"/>
          </a:solidFill>
          <a:ln w="12700">
            <a:solidFill>
              <a:srgbClr val="E1E0D9"/>
            </a:solidFill>
            <a:prstDash val="solid"/>
          </a:ln>
        </p:spPr>
      </p:sp>
      <p:sp>
        <p:nvSpPr>
          <p:cNvPr id="29" name="Compare circle"/>
          <p:cNvSpPr/>
          <p:nvPr/>
        </p:nvSpPr>
        <p:spPr>
          <a:xfrm>
            <a:off x="3596335" y="4114800"/>
            <a:ext cx="594360" cy="594360"/>
          </a:xfrm>
          <a:prstGeom prst="ellipse">
            <a:avLst/>
          </a:prstGeom>
          <a:solidFill>
            <a:srgbClr val="2A78D6"/>
          </a:solidFill>
          <a:ln w="12700">
            <a:solidFill>
              <a:srgbClr val="2A78D6"/>
            </a:solidFill>
            <a:prstDash val="solid"/>
          </a:ln>
        </p:spPr>
      </p:sp>
      <p:pic>
        <p:nvPicPr>
          <p:cNvPr id="30" name="Compare icon" descr="Compare">    </p:cNvPr>
          <p:cNvPicPr>
            <a:picLocks noChangeAspect="1"/>
          </p:cNvPicPr>
          <p:nvPr/>
        </p:nvPicPr>
        <p:blipFill>
          <a:blip r:embed="rId6"/>
          <a:stretch>
            <a:fillRect/>
          </a:stretch>
        </p:blipFill>
        <p:spPr>
          <a:xfrm>
            <a:off x="3744925" y="4263390"/>
            <a:ext cx="297180" cy="297180"/>
          </a:xfrm>
          <a:prstGeom prst="rect">
            <a:avLst/>
          </a:prstGeom>
        </p:spPr>
      </p:pic>
      <p:sp>
        <p:nvSpPr>
          <p:cNvPr id="31" name="Text 23"/>
          <p:cNvSpPr txBox="1"/>
          <p:nvPr/>
        </p:nvSpPr>
        <p:spPr>
          <a:xfrm>
            <a:off x="3596335" y="4800600"/>
            <a:ext cx="214884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Compare</a:t>
            </a:r>
            <a:endParaRPr lang="en-US" sz="1800" dirty="0"/>
          </a:p>
        </p:txBody>
      </p:sp>
      <p:sp>
        <p:nvSpPr>
          <p:cNvPr id="32" name="Text 24"/>
          <p:cNvSpPr txBox="1"/>
          <p:nvPr/>
        </p:nvSpPr>
        <p:spPr>
          <a:xfrm>
            <a:off x="3596335" y="5184648"/>
            <a:ext cx="2148840" cy="868680"/>
          </a:xfrm>
          <a:prstGeom prst="rect">
            <a:avLst/>
          </a:prstGeom>
          <a:noFill/>
          <a:ln/>
        </p:spPr>
        <p:txBody>
          <a:bodyPr wrap="square" lIns="0" tIns="0" rIns="0" bIns="0" rtlCol="0" anchor="t"/>
          <a:lstStyle/>
          <a:p>
            <a:pPr indent="0" marL="0">
              <a:buNone/>
            </a:pPr>
            <a:r>
              <a:rPr lang="en-US" sz="1400" dirty="0">
                <a:solidFill>
                  <a:srgbClr val="52514E"/>
                </a:solidFill>
              </a:rPr>
              <a:t>Saved parameter profiles side by side</a:t>
            </a:r>
            <a:endParaRPr lang="en-US" sz="1400" dirty="0"/>
          </a:p>
        </p:txBody>
      </p:sp>
      <p:sp>
        <p:nvSpPr>
          <p:cNvPr id="33" name="page card Methodology"/>
          <p:cNvSpPr/>
          <p:nvPr/>
        </p:nvSpPr>
        <p:spPr>
          <a:xfrm>
            <a:off x="6186830" y="3886200"/>
            <a:ext cx="2606040" cy="2240280"/>
          </a:xfrm>
          <a:prstGeom prst="roundRect">
            <a:avLst>
              <a:gd name="adj" fmla="val 4898"/>
            </a:avLst>
          </a:prstGeom>
          <a:solidFill>
            <a:srgbClr val="FFFFFF"/>
          </a:solidFill>
          <a:ln w="12700">
            <a:solidFill>
              <a:srgbClr val="E1E0D9"/>
            </a:solidFill>
            <a:prstDash val="solid"/>
          </a:ln>
        </p:spPr>
      </p:sp>
      <p:sp>
        <p:nvSpPr>
          <p:cNvPr id="34" name="Methodology circle"/>
          <p:cNvSpPr/>
          <p:nvPr/>
        </p:nvSpPr>
        <p:spPr>
          <a:xfrm>
            <a:off x="6415430" y="4114800"/>
            <a:ext cx="594360" cy="594360"/>
          </a:xfrm>
          <a:prstGeom prst="ellipse">
            <a:avLst/>
          </a:prstGeom>
          <a:solidFill>
            <a:srgbClr val="2A78D6"/>
          </a:solidFill>
          <a:ln w="12700">
            <a:solidFill>
              <a:srgbClr val="2A78D6"/>
            </a:solidFill>
            <a:prstDash val="solid"/>
          </a:ln>
        </p:spPr>
      </p:sp>
      <p:pic>
        <p:nvPicPr>
          <p:cNvPr id="35" name="Methodology icon" descr="Methodology">    </p:cNvPr>
          <p:cNvPicPr>
            <a:picLocks noChangeAspect="1"/>
          </p:cNvPicPr>
          <p:nvPr/>
        </p:nvPicPr>
        <p:blipFill>
          <a:blip r:embed="rId7"/>
          <a:stretch>
            <a:fillRect/>
          </a:stretch>
        </p:blipFill>
        <p:spPr>
          <a:xfrm>
            <a:off x="6564020" y="4263390"/>
            <a:ext cx="297180" cy="297180"/>
          </a:xfrm>
          <a:prstGeom prst="rect">
            <a:avLst/>
          </a:prstGeom>
        </p:spPr>
      </p:pic>
      <p:sp>
        <p:nvSpPr>
          <p:cNvPr id="36" name="Text 27"/>
          <p:cNvSpPr txBox="1"/>
          <p:nvPr/>
        </p:nvSpPr>
        <p:spPr>
          <a:xfrm>
            <a:off x="6415430" y="4800600"/>
            <a:ext cx="214884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Methodology</a:t>
            </a:r>
            <a:endParaRPr lang="en-US" sz="1800" dirty="0"/>
          </a:p>
        </p:txBody>
      </p:sp>
      <p:sp>
        <p:nvSpPr>
          <p:cNvPr id="37" name="Text 28"/>
          <p:cNvSpPr txBox="1"/>
          <p:nvPr/>
        </p:nvSpPr>
        <p:spPr>
          <a:xfrm>
            <a:off x="6415430" y="5184648"/>
            <a:ext cx="2148840" cy="868680"/>
          </a:xfrm>
          <a:prstGeom prst="rect">
            <a:avLst/>
          </a:prstGeom>
          <a:noFill/>
          <a:ln/>
        </p:spPr>
        <p:txBody>
          <a:bodyPr wrap="square" lIns="0" tIns="0" rIns="0" bIns="0" rtlCol="0" anchor="t"/>
          <a:lstStyle/>
          <a:p>
            <a:pPr indent="0" marL="0">
              <a:buNone/>
            </a:pPr>
            <a:r>
              <a:rPr lang="en-US" sz="1400" dirty="0">
                <a:solidFill>
                  <a:srgbClr val="52514E"/>
                </a:solidFill>
              </a:rPr>
              <a:t>Plain-English documentation with live stress-episode tables</a:t>
            </a:r>
            <a:endParaRPr lang="en-US" sz="1400" dirty="0"/>
          </a:p>
        </p:txBody>
      </p:sp>
      <p:sp>
        <p:nvSpPr>
          <p:cNvPr id="38" name="page card Alerts"/>
          <p:cNvSpPr/>
          <p:nvPr/>
        </p:nvSpPr>
        <p:spPr>
          <a:xfrm>
            <a:off x="9005926" y="3886200"/>
            <a:ext cx="2606040" cy="2240280"/>
          </a:xfrm>
          <a:prstGeom prst="roundRect">
            <a:avLst>
              <a:gd name="adj" fmla="val 4898"/>
            </a:avLst>
          </a:prstGeom>
          <a:solidFill>
            <a:srgbClr val="FFFFFF"/>
          </a:solidFill>
          <a:ln w="12700">
            <a:solidFill>
              <a:srgbClr val="E1E0D9"/>
            </a:solidFill>
            <a:prstDash val="solid"/>
          </a:ln>
        </p:spPr>
      </p:sp>
      <p:sp>
        <p:nvSpPr>
          <p:cNvPr id="39" name="Alerts circle"/>
          <p:cNvSpPr/>
          <p:nvPr/>
        </p:nvSpPr>
        <p:spPr>
          <a:xfrm>
            <a:off x="9234526" y="4114800"/>
            <a:ext cx="594360" cy="594360"/>
          </a:xfrm>
          <a:prstGeom prst="ellipse">
            <a:avLst/>
          </a:prstGeom>
          <a:solidFill>
            <a:srgbClr val="EB6834"/>
          </a:solidFill>
          <a:ln w="12700">
            <a:solidFill>
              <a:srgbClr val="EB6834"/>
            </a:solidFill>
            <a:prstDash val="solid"/>
          </a:ln>
        </p:spPr>
      </p:sp>
      <p:pic>
        <p:nvPicPr>
          <p:cNvPr id="40" name="Alerts icon" descr="Alerts">    </p:cNvPr>
          <p:cNvPicPr>
            <a:picLocks noChangeAspect="1"/>
          </p:cNvPicPr>
          <p:nvPr/>
        </p:nvPicPr>
        <p:blipFill>
          <a:blip r:embed="rId8"/>
          <a:stretch>
            <a:fillRect/>
          </a:stretch>
        </p:blipFill>
        <p:spPr>
          <a:xfrm>
            <a:off x="9383116" y="4263390"/>
            <a:ext cx="297180" cy="297180"/>
          </a:xfrm>
          <a:prstGeom prst="rect">
            <a:avLst/>
          </a:prstGeom>
        </p:spPr>
      </p:pic>
      <p:sp>
        <p:nvSpPr>
          <p:cNvPr id="41" name="Text 31"/>
          <p:cNvSpPr txBox="1"/>
          <p:nvPr/>
        </p:nvSpPr>
        <p:spPr>
          <a:xfrm>
            <a:off x="9234526" y="4800600"/>
            <a:ext cx="214884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Alerts</a:t>
            </a:r>
            <a:endParaRPr lang="en-US" sz="1800" dirty="0"/>
          </a:p>
        </p:txBody>
      </p:sp>
      <p:sp>
        <p:nvSpPr>
          <p:cNvPr id="42" name="Text 32"/>
          <p:cNvSpPr txBox="1"/>
          <p:nvPr/>
        </p:nvSpPr>
        <p:spPr>
          <a:xfrm>
            <a:off x="9234526" y="5184648"/>
            <a:ext cx="2148840" cy="868680"/>
          </a:xfrm>
          <a:prstGeom prst="rect">
            <a:avLst/>
          </a:prstGeom>
          <a:noFill/>
          <a:ln/>
        </p:spPr>
        <p:txBody>
          <a:bodyPr wrap="square" lIns="0" tIns="0" rIns="0" bIns="0" rtlCol="0" anchor="t"/>
          <a:lstStyle/>
          <a:p>
            <a:pPr indent="0" marL="0">
              <a:buNone/>
            </a:pPr>
            <a:r>
              <a:rPr lang="en-US" sz="1400" dirty="0">
                <a:solidFill>
                  <a:srgbClr val="52514E"/>
                </a:solidFill>
              </a:rPr>
              <a:t>RSS feed and a GitHub issue whenever the regime changes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rgbClr val="0B0B0B"/>
                </a:solidFill>
                <a:latin typeface="Arial" pitchFamily="34" charset="0"/>
                <a:ea typeface="Arial" pitchFamily="34" charset="-122"/>
                <a:cs typeface="Arial" pitchFamily="34" charset="-120"/>
              </a:rPr>
              <a:t>Runs itself every trading day, with an honest live record</a:t>
            </a:r>
            <a:endParaRPr lang="en-US" sz="3200" dirty="0"/>
          </a:p>
        </p:txBody>
      </p:sp>
      <p:sp>
        <p:nvSpPr>
          <p:cNvPr id="3" name="Hourly trigger circle"/>
          <p:cNvSpPr/>
          <p:nvPr/>
        </p:nvSpPr>
        <p:spPr>
          <a:xfrm>
            <a:off x="548640" y="1371600"/>
            <a:ext cx="640080" cy="640080"/>
          </a:xfrm>
          <a:prstGeom prst="ellipse">
            <a:avLst/>
          </a:prstGeom>
          <a:solidFill>
            <a:srgbClr val="2A78D6"/>
          </a:solidFill>
          <a:ln w="12700">
            <a:solidFill>
              <a:srgbClr val="2A78D6"/>
            </a:solidFill>
            <a:prstDash val="solid"/>
          </a:ln>
        </p:spPr>
      </p:sp>
      <p:pic>
        <p:nvPicPr>
          <p:cNvPr id="4" name="Hourly trigger icon" descr="Hourly trigger">    </p:cNvPr>
          <p:cNvPicPr>
            <a:picLocks noChangeAspect="1"/>
          </p:cNvPicPr>
          <p:nvPr/>
        </p:nvPicPr>
        <p:blipFill>
          <a:blip r:embed="rId1"/>
          <a:stretch>
            <a:fillRect/>
          </a:stretch>
        </p:blipFill>
        <p:spPr>
          <a:xfrm>
            <a:off x="708660" y="1531620"/>
            <a:ext cx="320040" cy="320040"/>
          </a:xfrm>
          <a:prstGeom prst="rect">
            <a:avLst/>
          </a:prstGeom>
        </p:spPr>
      </p:pic>
      <p:sp>
        <p:nvSpPr>
          <p:cNvPr id="5" name="Text 2"/>
          <p:cNvSpPr txBox="1"/>
          <p:nvPr/>
        </p:nvSpPr>
        <p:spPr>
          <a:xfrm>
            <a:off x="1417320" y="1353312"/>
            <a:ext cx="502920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Hourly trigger</a:t>
            </a:r>
            <a:endParaRPr lang="en-US" sz="1800" dirty="0"/>
          </a:p>
        </p:txBody>
      </p:sp>
      <p:sp>
        <p:nvSpPr>
          <p:cNvPr id="6" name="Text 3"/>
          <p:cNvSpPr txBox="1"/>
          <p:nvPr/>
        </p:nvSpPr>
        <p:spPr>
          <a:xfrm>
            <a:off x="1417320" y="1737360"/>
            <a:ext cx="5120640" cy="685800"/>
          </a:xfrm>
          <a:prstGeom prst="rect">
            <a:avLst/>
          </a:prstGeom>
          <a:noFill/>
          <a:ln/>
        </p:spPr>
        <p:txBody>
          <a:bodyPr wrap="square" lIns="0" tIns="0" rIns="0" bIns="0" rtlCol="0" anchor="t"/>
          <a:lstStyle/>
          <a:p>
            <a:pPr indent="0" marL="0">
              <a:buNone/>
            </a:pPr>
            <a:r>
              <a:rPr lang="en-US" sz="1400" dirty="0">
                <a:solidFill>
                  <a:srgbClr val="52514E"/>
                </a:solidFill>
              </a:rPr>
              <a:t>A Cloudflare Worker dispatches the data job every hour at :20; it commits only when data changed</a:t>
            </a:r>
            <a:endParaRPr lang="en-US" sz="1400" dirty="0"/>
          </a:p>
        </p:txBody>
      </p:sp>
      <p:sp>
        <p:nvSpPr>
          <p:cNvPr id="7" name="Completeness gate circle"/>
          <p:cNvSpPr/>
          <p:nvPr/>
        </p:nvSpPr>
        <p:spPr>
          <a:xfrm>
            <a:off x="548640" y="2560320"/>
            <a:ext cx="640080" cy="640080"/>
          </a:xfrm>
          <a:prstGeom prst="ellipse">
            <a:avLst/>
          </a:prstGeom>
          <a:solidFill>
            <a:srgbClr val="2A78D6"/>
          </a:solidFill>
          <a:ln w="12700">
            <a:solidFill>
              <a:srgbClr val="2A78D6"/>
            </a:solidFill>
            <a:prstDash val="solid"/>
          </a:ln>
        </p:spPr>
      </p:sp>
      <p:pic>
        <p:nvPicPr>
          <p:cNvPr id="8" name="Completeness gate icon" descr="Completeness gate">    </p:cNvPr>
          <p:cNvPicPr>
            <a:picLocks noChangeAspect="1"/>
          </p:cNvPicPr>
          <p:nvPr/>
        </p:nvPicPr>
        <p:blipFill>
          <a:blip r:embed="rId2"/>
          <a:stretch>
            <a:fillRect/>
          </a:stretch>
        </p:blipFill>
        <p:spPr>
          <a:xfrm>
            <a:off x="708660" y="2720340"/>
            <a:ext cx="320040" cy="320040"/>
          </a:xfrm>
          <a:prstGeom prst="rect">
            <a:avLst/>
          </a:prstGeom>
        </p:spPr>
      </p:pic>
      <p:sp>
        <p:nvSpPr>
          <p:cNvPr id="9" name="Text 5"/>
          <p:cNvSpPr txBox="1"/>
          <p:nvPr/>
        </p:nvSpPr>
        <p:spPr>
          <a:xfrm>
            <a:off x="1417320" y="2542032"/>
            <a:ext cx="502920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Completeness gate</a:t>
            </a:r>
            <a:endParaRPr lang="en-US" sz="1800" dirty="0"/>
          </a:p>
        </p:txBody>
      </p:sp>
      <p:sp>
        <p:nvSpPr>
          <p:cNvPr id="10" name="Text 6"/>
          <p:cNvSpPr txBox="1"/>
          <p:nvPr/>
        </p:nvSpPr>
        <p:spPr>
          <a:xfrm>
            <a:off x="1417320" y="2926080"/>
            <a:ext cx="5120640" cy="685800"/>
          </a:xfrm>
          <a:prstGeom prst="rect">
            <a:avLst/>
          </a:prstGeom>
          <a:noFill/>
          <a:ln/>
        </p:spPr>
        <p:txBody>
          <a:bodyPr wrap="square" lIns="0" tIns="0" rIns="0" bIns="0" rtlCol="0" anchor="t"/>
          <a:lstStyle/>
          <a:p>
            <a:pPr indent="0" marL="0">
              <a:buNone/>
            </a:pPr>
            <a:r>
              <a:rPr lang="en-US" sz="1400" dirty="0">
                <a:solidFill>
                  <a:srgbClr val="52514E"/>
                </a:solidFill>
              </a:rPr>
              <a:t>A date is published only once every input has posted, so the score never uses a partial day</a:t>
            </a:r>
            <a:endParaRPr lang="en-US" sz="1400" dirty="0"/>
          </a:p>
        </p:txBody>
      </p:sp>
      <p:sp>
        <p:nvSpPr>
          <p:cNvPr id="11" name="Data guards circle"/>
          <p:cNvSpPr/>
          <p:nvPr/>
        </p:nvSpPr>
        <p:spPr>
          <a:xfrm>
            <a:off x="548640" y="3749040"/>
            <a:ext cx="640080" cy="640080"/>
          </a:xfrm>
          <a:prstGeom prst="ellipse">
            <a:avLst/>
          </a:prstGeom>
          <a:solidFill>
            <a:srgbClr val="2A78D6"/>
          </a:solidFill>
          <a:ln w="12700">
            <a:solidFill>
              <a:srgbClr val="2A78D6"/>
            </a:solidFill>
            <a:prstDash val="solid"/>
          </a:ln>
        </p:spPr>
      </p:sp>
      <p:pic>
        <p:nvPicPr>
          <p:cNvPr id="12" name="Data guards icon" descr="Data guards">    </p:cNvPr>
          <p:cNvPicPr>
            <a:picLocks noChangeAspect="1"/>
          </p:cNvPicPr>
          <p:nvPr/>
        </p:nvPicPr>
        <p:blipFill>
          <a:blip r:embed="rId3"/>
          <a:stretch>
            <a:fillRect/>
          </a:stretch>
        </p:blipFill>
        <p:spPr>
          <a:xfrm>
            <a:off x="708660" y="3909060"/>
            <a:ext cx="320040" cy="320040"/>
          </a:xfrm>
          <a:prstGeom prst="rect">
            <a:avLst/>
          </a:prstGeom>
        </p:spPr>
      </p:pic>
      <p:sp>
        <p:nvSpPr>
          <p:cNvPr id="13" name="Text 8"/>
          <p:cNvSpPr txBox="1"/>
          <p:nvPr/>
        </p:nvSpPr>
        <p:spPr>
          <a:xfrm>
            <a:off x="1417320" y="3730752"/>
            <a:ext cx="502920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Data guards</a:t>
            </a:r>
            <a:endParaRPr lang="en-US" sz="1800" dirty="0"/>
          </a:p>
        </p:txBody>
      </p:sp>
      <p:sp>
        <p:nvSpPr>
          <p:cNvPr id="14" name="Text 9"/>
          <p:cNvSpPr txBox="1"/>
          <p:nvPr/>
        </p:nvSpPr>
        <p:spPr>
          <a:xfrm>
            <a:off x="1417320" y="4114800"/>
            <a:ext cx="5120640" cy="685800"/>
          </a:xfrm>
          <a:prstGeom prst="rect">
            <a:avLst/>
          </a:prstGeom>
          <a:noFill/>
          <a:ln/>
        </p:spPr>
        <p:txBody>
          <a:bodyPr wrap="square" lIns="0" tIns="0" rIns="0" bIns="0" rtlCol="0" anchor="t"/>
          <a:lstStyle/>
          <a:p>
            <a:pPr indent="0" marL="0">
              <a:buNone/>
            </a:pPr>
            <a:r>
              <a:rPr lang="en-US" sz="1400" dirty="0">
                <a:solidFill>
                  <a:srgbClr val="52514E"/>
                </a:solidFill>
              </a:rPr>
              <a:t>Range checks, cross-source reconciliation of the past week; a blank never overwrites a value</a:t>
            </a:r>
            <a:endParaRPr lang="en-US" sz="1400" dirty="0"/>
          </a:p>
        </p:txBody>
      </p:sp>
      <p:sp>
        <p:nvSpPr>
          <p:cNvPr id="15" name="Frozen track records circle"/>
          <p:cNvSpPr/>
          <p:nvPr/>
        </p:nvSpPr>
        <p:spPr>
          <a:xfrm>
            <a:off x="548640" y="4937760"/>
            <a:ext cx="640080" cy="640080"/>
          </a:xfrm>
          <a:prstGeom prst="ellipse">
            <a:avLst/>
          </a:prstGeom>
          <a:solidFill>
            <a:srgbClr val="2A78D6"/>
          </a:solidFill>
          <a:ln w="12700">
            <a:solidFill>
              <a:srgbClr val="2A78D6"/>
            </a:solidFill>
            <a:prstDash val="solid"/>
          </a:ln>
        </p:spPr>
      </p:sp>
      <p:pic>
        <p:nvPicPr>
          <p:cNvPr id="16" name="Frozen track records icon" descr="Frozen track records">    </p:cNvPr>
          <p:cNvPicPr>
            <a:picLocks noChangeAspect="1"/>
          </p:cNvPicPr>
          <p:nvPr/>
        </p:nvPicPr>
        <p:blipFill>
          <a:blip r:embed="rId4"/>
          <a:stretch>
            <a:fillRect/>
          </a:stretch>
        </p:blipFill>
        <p:spPr>
          <a:xfrm>
            <a:off x="708660" y="5097780"/>
            <a:ext cx="320040" cy="320040"/>
          </a:xfrm>
          <a:prstGeom prst="rect">
            <a:avLst/>
          </a:prstGeom>
        </p:spPr>
      </p:pic>
      <p:sp>
        <p:nvSpPr>
          <p:cNvPr id="17" name="Text 11"/>
          <p:cNvSpPr txBox="1"/>
          <p:nvPr/>
        </p:nvSpPr>
        <p:spPr>
          <a:xfrm>
            <a:off x="1417320" y="4919472"/>
            <a:ext cx="5029200" cy="365760"/>
          </a:xfrm>
          <a:prstGeom prst="rect">
            <a:avLst/>
          </a:prstGeom>
          <a:noFill/>
          <a:ln/>
        </p:spPr>
        <p:txBody>
          <a:bodyPr wrap="square" lIns="0" tIns="0" rIns="0" bIns="0" rtlCol="0" anchor="ctr"/>
          <a:lstStyle/>
          <a:p>
            <a:pPr indent="0" marL="0">
              <a:buNone/>
            </a:pPr>
            <a:r>
              <a:rPr lang="en-US" sz="1800" b="1" dirty="0">
                <a:solidFill>
                  <a:srgbClr val="0B0B0B"/>
                </a:solidFill>
                <a:latin typeface="Arial" pitchFamily="34" charset="0"/>
                <a:ea typeface="Arial" pitchFamily="34" charset="-122"/>
                <a:cs typeface="Arial" pitchFamily="34" charset="-120"/>
              </a:rPr>
              <a:t>Frozen track records</a:t>
            </a:r>
            <a:endParaRPr lang="en-US" sz="1800" dirty="0"/>
          </a:p>
        </p:txBody>
      </p:sp>
      <p:sp>
        <p:nvSpPr>
          <p:cNvPr id="18" name="Text 12"/>
          <p:cNvSpPr txBox="1"/>
          <p:nvPr/>
        </p:nvSpPr>
        <p:spPr>
          <a:xfrm>
            <a:off x="1417320" y="5303520"/>
            <a:ext cx="5120640" cy="685800"/>
          </a:xfrm>
          <a:prstGeom prst="rect">
            <a:avLst/>
          </a:prstGeom>
          <a:noFill/>
          <a:ln/>
        </p:spPr>
        <p:txBody>
          <a:bodyPr wrap="square" lIns="0" tIns="0" rIns="0" bIns="0" rtlCol="0" anchor="t"/>
          <a:lstStyle/>
          <a:p>
            <a:pPr indent="0" marL="0">
              <a:buNone/>
            </a:pPr>
            <a:r>
              <a:rPr lang="en-US" sz="1400" dirty="0">
                <a:solidFill>
                  <a:srgbClr val="52514E"/>
                </a:solidFill>
              </a:rPr>
              <a:t>Parameters frozen, decisions appended before the trade, never edited or backfilled</a:t>
            </a:r>
            <a:endParaRPr lang="en-US" sz="1400" dirty="0"/>
          </a:p>
        </p:txBody>
      </p:sp>
      <p:sp>
        <p:nvSpPr>
          <p:cNvPr id="19" name="track record panel"/>
          <p:cNvSpPr/>
          <p:nvPr/>
        </p:nvSpPr>
        <p:spPr>
          <a:xfrm>
            <a:off x="6949440" y="1371600"/>
            <a:ext cx="4663440" cy="4754880"/>
          </a:xfrm>
          <a:prstGeom prst="roundRect">
            <a:avLst>
              <a:gd name="adj" fmla="val 2941"/>
            </a:avLst>
          </a:prstGeom>
          <a:solidFill>
            <a:srgbClr val="121A25"/>
          </a:solidFill>
          <a:ln w="12700">
            <a:solidFill>
              <a:srgbClr val="121A25"/>
            </a:solidFill>
            <a:prstDash val="solid"/>
          </a:ln>
        </p:spPr>
      </p:sp>
      <p:sp>
        <p:nvSpPr>
          <p:cNvPr id="20" name="Text 14"/>
          <p:cNvSpPr txBox="1"/>
          <p:nvPr/>
        </p:nvSpPr>
        <p:spPr>
          <a:xfrm>
            <a:off x="7269480" y="1645920"/>
            <a:ext cx="402336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Live, out-of-sample track records</a:t>
            </a:r>
            <a:endParaRPr lang="en-US" sz="1800" dirty="0"/>
          </a:p>
        </p:txBody>
      </p:sp>
      <p:sp>
        <p:nvSpPr>
          <p:cNvPr id="21" name="track v1 · Balanced"/>
          <p:cNvSpPr/>
          <p:nvPr/>
        </p:nvSpPr>
        <p:spPr>
          <a:xfrm>
            <a:off x="7269480" y="2286000"/>
            <a:ext cx="4023360" cy="1554480"/>
          </a:xfrm>
          <a:prstGeom prst="roundRect">
            <a:avLst>
              <a:gd name="adj" fmla="val 5882"/>
            </a:avLst>
          </a:prstGeom>
          <a:solidFill>
            <a:srgbClr val="1D2938"/>
          </a:solidFill>
          <a:ln w="12700">
            <a:solidFill>
              <a:srgbClr val="1D2938"/>
            </a:solidFill>
            <a:prstDash val="solid"/>
          </a:ln>
        </p:spPr>
      </p:sp>
      <p:sp>
        <p:nvSpPr>
          <p:cNvPr id="22" name="Text 16"/>
          <p:cNvSpPr txBox="1"/>
          <p:nvPr/>
        </p:nvSpPr>
        <p:spPr>
          <a:xfrm>
            <a:off x="7498080" y="2423160"/>
            <a:ext cx="3657600" cy="365760"/>
          </a:xfrm>
          <a:prstGeom prst="rect">
            <a:avLst/>
          </a:prstGeom>
          <a:noFill/>
          <a:ln/>
        </p:spPr>
        <p:txBody>
          <a:bodyPr wrap="square" lIns="0" tIns="0" rIns="0" bIns="0" rtlCol="0" anchor="ctr"/>
          <a:lstStyle/>
          <a:p>
            <a:pPr indent="0" marL="0">
              <a:buNone/>
            </a:pPr>
            <a:r>
              <a:rPr lang="en-US" sz="1800" b="1" dirty="0">
                <a:solidFill>
                  <a:srgbClr val="FFFFFF"/>
                </a:solidFill>
              </a:rPr>
              <a:t>v1 · Balanced</a:t>
            </a:r>
            <a:endParaRPr lang="en-US" sz="1800" dirty="0"/>
          </a:p>
        </p:txBody>
      </p:sp>
      <p:sp>
        <p:nvSpPr>
          <p:cNvPr id="23" name="Text 17"/>
          <p:cNvSpPr txBox="1"/>
          <p:nvPr/>
        </p:nvSpPr>
        <p:spPr>
          <a:xfrm>
            <a:off x="7498080" y="2816352"/>
            <a:ext cx="3657600" cy="914400"/>
          </a:xfrm>
          <a:prstGeom prst="rect">
            <a:avLst/>
          </a:prstGeom>
          <a:noFill/>
          <a:ln/>
        </p:spPr>
        <p:txBody>
          <a:bodyPr wrap="square" lIns="0" tIns="0" rIns="0" bIns="0" rtlCol="0" anchor="t"/>
          <a:lstStyle/>
          <a:p>
            <a:pPr indent="0" marL="0">
              <a:buNone/>
            </a:pPr>
            <a:r>
              <a:rPr lang="en-US" sz="1400" dirty="0">
                <a:solidFill>
                  <a:srgbClr val="C3C2B7"/>
                </a:solidFill>
              </a:rPr>
              <a:t>Frozen 22 Oct 2026</a:t>
            </a:r>
            <a:endParaRPr lang="en-US" sz="1400" dirty="0"/>
          </a:p>
          <a:p>
            <a:pPr indent="0" marL="0">
              <a:buNone/>
            </a:pPr>
            <a:r>
              <a:rPr lang="en-US" sz="1400" dirty="0">
                <a:solidFill>
                  <a:srgbClr val="C3C2B7"/>
                </a:solidFill>
              </a:rPr>
              <a:t>First decision: 21 Oct 2026 close</a:t>
            </a:r>
            <a:endParaRPr lang="en-US" sz="1400" dirty="0"/>
          </a:p>
          <a:p>
            <a:pPr indent="0" marL="0">
              <a:buNone/>
            </a:pPr>
            <a:r>
              <a:rPr lang="en-US" sz="1400" dirty="0">
                <a:solidFill>
                  <a:srgbClr val="C3C2B7"/>
                </a:solidFill>
              </a:rPr>
              <a:t>Neutral · 60% S&amp;P 500 / 40% IEF</a:t>
            </a:r>
            <a:endParaRPr lang="en-US" sz="1400" dirty="0"/>
          </a:p>
        </p:txBody>
      </p:sp>
      <p:sp>
        <p:nvSpPr>
          <p:cNvPr id="24" name="track v2 · Growth"/>
          <p:cNvSpPr/>
          <p:nvPr/>
        </p:nvSpPr>
        <p:spPr>
          <a:xfrm>
            <a:off x="7269480" y="4069080"/>
            <a:ext cx="4023360" cy="1554480"/>
          </a:xfrm>
          <a:prstGeom prst="roundRect">
            <a:avLst>
              <a:gd name="adj" fmla="val 5882"/>
            </a:avLst>
          </a:prstGeom>
          <a:solidFill>
            <a:srgbClr val="1D2938"/>
          </a:solidFill>
          <a:ln w="12700">
            <a:solidFill>
              <a:srgbClr val="1D2938"/>
            </a:solidFill>
            <a:prstDash val="solid"/>
          </a:ln>
        </p:spPr>
      </p:sp>
      <p:sp>
        <p:nvSpPr>
          <p:cNvPr id="25" name="Text 19"/>
          <p:cNvSpPr txBox="1"/>
          <p:nvPr/>
        </p:nvSpPr>
        <p:spPr>
          <a:xfrm>
            <a:off x="7498080" y="4206240"/>
            <a:ext cx="3657600" cy="365760"/>
          </a:xfrm>
          <a:prstGeom prst="rect">
            <a:avLst/>
          </a:prstGeom>
          <a:noFill/>
          <a:ln/>
        </p:spPr>
        <p:txBody>
          <a:bodyPr wrap="square" lIns="0" tIns="0" rIns="0" bIns="0" rtlCol="0" anchor="ctr"/>
          <a:lstStyle/>
          <a:p>
            <a:pPr indent="0" marL="0">
              <a:buNone/>
            </a:pPr>
            <a:r>
              <a:rPr lang="en-US" sz="1800" b="1" dirty="0">
                <a:solidFill>
                  <a:srgbClr val="86B6EF"/>
                </a:solidFill>
              </a:rPr>
              <a:t>v2 · Growth</a:t>
            </a:r>
            <a:endParaRPr lang="en-US" sz="1800" dirty="0"/>
          </a:p>
        </p:txBody>
      </p:sp>
      <p:sp>
        <p:nvSpPr>
          <p:cNvPr id="26" name="Text 20"/>
          <p:cNvSpPr txBox="1"/>
          <p:nvPr/>
        </p:nvSpPr>
        <p:spPr>
          <a:xfrm>
            <a:off x="7498080" y="4599432"/>
            <a:ext cx="3657600" cy="914400"/>
          </a:xfrm>
          <a:prstGeom prst="rect">
            <a:avLst/>
          </a:prstGeom>
          <a:noFill/>
          <a:ln/>
        </p:spPr>
        <p:txBody>
          <a:bodyPr wrap="square" lIns="0" tIns="0" rIns="0" bIns="0" rtlCol="0" anchor="t"/>
          <a:lstStyle/>
          <a:p>
            <a:pPr indent="0" marL="0">
              <a:buNone/>
            </a:pPr>
            <a:r>
              <a:rPr lang="en-US" sz="1400" dirty="0">
                <a:solidFill>
                  <a:srgbClr val="C3C2B7"/>
                </a:solidFill>
              </a:rPr>
              <a:t>Frozen 23 Oct 2026</a:t>
            </a:r>
            <a:endParaRPr lang="en-US" sz="1400" dirty="0"/>
          </a:p>
          <a:p>
            <a:pPr indent="0" marL="0">
              <a:buNone/>
            </a:pPr>
            <a:r>
              <a:rPr lang="en-US" sz="1400" dirty="0">
                <a:solidFill>
                  <a:srgbClr val="C3C2B7"/>
                </a:solidFill>
              </a:rPr>
              <a:t>First decision: 22 Oct 2026 close</a:t>
            </a:r>
            <a:endParaRPr lang="en-US" sz="1400" dirty="0"/>
          </a:p>
          <a:p>
            <a:pPr indent="0" marL="0">
              <a:buNone/>
            </a:pPr>
            <a:r>
              <a:rPr lang="en-US" sz="1400" dirty="0">
                <a:solidFill>
                  <a:srgbClr val="C3C2B7"/>
                </a:solidFill>
              </a:rPr>
              <a:t>Neutral · 80% S&amp;P 500 / 20% IEF</a:t>
            </a:r>
            <a:endParaRPr lang="en-US" sz="1400" dirty="0"/>
          </a:p>
        </p:txBody>
      </p:sp>
      <p:sp>
        <p:nvSpPr>
          <p:cNvPr id="27" name="Text 21"/>
          <p:cNvSpPr txBox="1"/>
          <p:nvPr/>
        </p:nvSpPr>
        <p:spPr>
          <a:xfrm>
            <a:off x="7269480" y="5623560"/>
            <a:ext cx="4023360" cy="365760"/>
          </a:xfrm>
          <a:prstGeom prst="rect">
            <a:avLst/>
          </a:prstGeom>
          <a:noFill/>
          <a:ln/>
        </p:spPr>
        <p:txBody>
          <a:bodyPr wrap="square" lIns="0" tIns="0" rIns="0" bIns="0" rtlCol="0" anchor="ctr"/>
          <a:lstStyle/>
          <a:p>
            <a:pPr indent="0" marL="0">
              <a:buNone/>
            </a:pPr>
            <a:r>
              <a:rPr lang="en-US" sz="1400" dirty="0">
                <a:solidFill>
                  <a:srgbClr val="C3C2B7"/>
                </a:solidFill>
              </a:rPr>
              <a:t>The two profiles now run side by side out of sample.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9878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10515600" cy="914400"/>
          </a:xfrm>
          <a:prstGeom prst="rect">
            <a:avLst/>
          </a:prstGeom>
          <a:noFill/>
          <a:ln/>
        </p:spPr>
        <p:txBody>
          <a:bodyPr wrap="square" lIns="0" tIns="0" rIns="0" bIns="0" rtlCol="0" anchor="ctr"/>
          <a:lstStyle/>
          <a:p>
            <a:pPr algn="l" indent="0" marL="0">
              <a:buNone/>
            </a:pPr>
            <a:r>
              <a:rPr lang="en-US" sz="4400" b="1" dirty="0">
                <a:solidFill>
                  <a:srgbClr val="FFFFFF"/>
                </a:solidFill>
                <a:latin typeface="Arial" pitchFamily="34" charset="0"/>
                <a:ea typeface="Arial" pitchFamily="34" charset="-122"/>
                <a:cs typeface="Arial" pitchFamily="34" charset="-120"/>
              </a:rPr>
              <a:t>Takeaways</a:t>
            </a:r>
            <a:endParaRPr lang="en-US" sz="4400" dirty="0"/>
          </a:p>
        </p:txBody>
      </p:sp>
      <p:sp>
        <p:nvSpPr>
          <p:cNvPr id="3" name="Text 0"/>
          <p:cNvSpPr/>
          <p:nvPr>
            <p:ph idx="101" type="body" hasCustomPrompt="1"/>
          </p:nvPr>
        </p:nvSpPr>
        <p:spPr>
          <a:xfrm>
            <a:off x="548640" y="2468880"/>
            <a:ext cx="10515600" cy="3017520"/>
          </a:xfrm>
          <a:prstGeom prst="rect">
            <a:avLst/>
          </a:prstGeom>
          <a:noFill/>
          <a:ln/>
        </p:spPr>
        <p:txBody>
          <a:bodyPr wrap="square" lIns="0" tIns="0" rIns="0" bIns="0" rtlCol="0" anchor="t"/>
          <a:lstStyle/>
          <a:p>
            <a:pPr algn="l" marL="342900" indent="-342900">
              <a:spcAft>
                <a:spcPts val="1400"/>
              </a:spcAft>
              <a:buSzPct val="100000"/>
              <a:buChar char="•"/>
            </a:pPr>
            <a:r>
              <a:rPr lang="en-US" sz="2200" dirty="0">
                <a:solidFill>
                  <a:srgbClr val="E1E0D9"/>
                </a:solidFill>
              </a:rPr>
              <a:t>A transparent, browser-based lab for volatility-regime allocation</a:t>
            </a:r>
            <a:endParaRPr lang="en-US" sz="2200" dirty="0"/>
          </a:p>
          <a:p>
            <a:pPr algn="l" marL="342900" indent="-342900">
              <a:spcAft>
                <a:spcPts val="1400"/>
              </a:spcAft>
              <a:buSzPct val="100000"/>
              <a:buChar char="•"/>
            </a:pPr>
            <a:r>
              <a:rPr lang="en-US" sz="2200" dirty="0">
                <a:solidFill>
                  <a:srgbClr val="E1E0D9"/>
                </a:solidFill>
              </a:rPr>
              <a:t>Drawdowns cut by more than half (−23.8% vs −55.2%), Sharpe 0.66 vs 0.54</a:t>
            </a:r>
            <a:endParaRPr lang="en-US" sz="2200" dirty="0"/>
          </a:p>
          <a:p>
            <a:pPr algn="l" marL="342900" indent="-342900">
              <a:spcAft>
                <a:spcPts val="1400"/>
              </a:spcAft>
              <a:buSzPct val="100000"/>
              <a:buChar char="•"/>
            </a:pPr>
            <a:r>
              <a:rPr lang="en-US" sz="2200" dirty="0">
                <a:solidFill>
                  <a:srgbClr val="E1E0D9"/>
                </a:solidFill>
              </a:rPr>
              <a:t>The edge is risk control, not return forecasting; it trails the index's CAGR</a:t>
            </a:r>
            <a:endParaRPr lang="en-US" sz="2200" dirty="0"/>
          </a:p>
          <a:p>
            <a:pPr algn="l" marL="342900" indent="-342900">
              <a:spcAft>
                <a:spcPts val="1400"/>
              </a:spcAft>
              <a:buSzPct val="100000"/>
              <a:buChar char="•"/>
            </a:pPr>
            <a:r>
              <a:rPr lang="en-US" sz="2200" dirty="0">
                <a:solidFill>
                  <a:srgbClr val="E1E0D9"/>
                </a:solidFill>
              </a:rPr>
              <a:t>Live track records will be the real test</a:t>
            </a:r>
            <a:endParaRPr lang="en-US" sz="2200" dirty="0"/>
          </a:p>
        </p:txBody>
      </p:sp>
      <p:sp>
        <p:nvSpPr>
          <p:cNvPr id="4" name="regime dot Crisis"/>
          <p:cNvSpPr/>
          <p:nvPr/>
        </p:nvSpPr>
        <p:spPr>
          <a:xfrm>
            <a:off x="548640" y="685800"/>
            <a:ext cx="347472" cy="347472"/>
          </a:xfrm>
          <a:prstGeom prst="ellipse">
            <a:avLst/>
          </a:prstGeom>
          <a:solidFill>
            <a:srgbClr val="D03B3B"/>
          </a:solidFill>
          <a:ln w="12700">
            <a:solidFill>
              <a:srgbClr val="D03B3B"/>
            </a:solidFill>
            <a:prstDash val="solid"/>
          </a:ln>
        </p:spPr>
      </p:sp>
      <p:sp>
        <p:nvSpPr>
          <p:cNvPr id="5" name="regime dot Risk-Off"/>
          <p:cNvSpPr/>
          <p:nvPr/>
        </p:nvSpPr>
        <p:spPr>
          <a:xfrm>
            <a:off x="1051560" y="685800"/>
            <a:ext cx="347472" cy="347472"/>
          </a:xfrm>
          <a:prstGeom prst="ellipse">
            <a:avLst/>
          </a:prstGeom>
          <a:solidFill>
            <a:srgbClr val="EC9A8F"/>
          </a:solidFill>
          <a:ln w="12700">
            <a:solidFill>
              <a:srgbClr val="EC9A8F"/>
            </a:solidFill>
            <a:prstDash val="solid"/>
          </a:ln>
        </p:spPr>
      </p:sp>
      <p:sp>
        <p:nvSpPr>
          <p:cNvPr id="6" name="regime dot Neutral"/>
          <p:cNvSpPr/>
          <p:nvPr/>
        </p:nvSpPr>
        <p:spPr>
          <a:xfrm>
            <a:off x="1554480" y="685800"/>
            <a:ext cx="347472" cy="347472"/>
          </a:xfrm>
          <a:prstGeom prst="ellipse">
            <a:avLst/>
          </a:prstGeom>
          <a:solidFill>
            <a:srgbClr val="B9B8B2"/>
          </a:solidFill>
          <a:ln w="12700">
            <a:solidFill>
              <a:srgbClr val="B9B8B2"/>
            </a:solidFill>
            <a:prstDash val="solid"/>
          </a:ln>
        </p:spPr>
      </p:sp>
      <p:sp>
        <p:nvSpPr>
          <p:cNvPr id="7" name="regime dot Risk-On"/>
          <p:cNvSpPr/>
          <p:nvPr/>
        </p:nvSpPr>
        <p:spPr>
          <a:xfrm>
            <a:off x="2057400" y="685800"/>
            <a:ext cx="347472" cy="347472"/>
          </a:xfrm>
          <a:prstGeom prst="ellipse">
            <a:avLst/>
          </a:prstGeom>
          <a:solidFill>
            <a:srgbClr val="86B6EF"/>
          </a:solidFill>
          <a:ln w="12700">
            <a:solidFill>
              <a:srgbClr val="86B6EF"/>
            </a:solidFill>
            <a:prstDash val="solid"/>
          </a:ln>
        </p:spPr>
      </p:sp>
      <p:sp>
        <p:nvSpPr>
          <p:cNvPr id="8" name="regime dot Strong Risk-On"/>
          <p:cNvSpPr/>
          <p:nvPr/>
        </p:nvSpPr>
        <p:spPr>
          <a:xfrm>
            <a:off x="2560320" y="685800"/>
            <a:ext cx="347472" cy="347472"/>
          </a:xfrm>
          <a:prstGeom prst="ellipse">
            <a:avLst/>
          </a:prstGeom>
          <a:solidFill>
            <a:srgbClr val="256ABF"/>
          </a:solidFill>
          <a:ln w="12700">
            <a:solidFill>
              <a:srgbClr val="256ABF"/>
            </a:solidFill>
            <a:prstDash val="solid"/>
          </a:ln>
        </p:spPr>
      </p:sp>
      <p:sp>
        <p:nvSpPr>
          <p:cNvPr id="9" name="Text 7"/>
          <p:cNvSpPr txBox="1"/>
          <p:nvPr/>
        </p:nvSpPr>
        <p:spPr>
          <a:xfrm>
            <a:off x="548640" y="5852160"/>
            <a:ext cx="7315200" cy="365760"/>
          </a:xfrm>
          <a:prstGeom prst="rect">
            <a:avLst/>
          </a:prstGeom>
          <a:noFill/>
          <a:ln/>
        </p:spPr>
        <p:txBody>
          <a:bodyPr wrap="square" lIns="0" tIns="0" rIns="0" bIns="0" rtlCol="0" anchor="ctr"/>
          <a:lstStyle/>
          <a:p>
            <a:pPr indent="0" marL="0">
              <a:buNone/>
            </a:pPr>
            <a:r>
              <a:rPr lang="en-US" sz="1800" b="1" dirty="0">
                <a:solidFill>
                  <a:srgbClr val="86B6EF"/>
                </a:solidFill>
              </a:rPr>
              <a:t>app.kevinlhc.com/volstrat</a:t>
            </a:r>
            <a:endParaRPr lang="en-US" sz="1800" dirty="0"/>
          </a:p>
        </p:txBody>
      </p:sp>
    </p:spTree>
  </p:cSld>
  <p:clrMapOvr>
    <a:masterClrMapping/>
  </p:clrMapOvr>
</p:sld>
</file>

<file path=ppt/theme/theme1.xml><?xml version="1.0" encoding="utf-8"?>
<a:theme xmlns:a="http://schemas.openxmlformats.org/drawingml/2006/main" name="VolStrat">
  <a:themeElements>
    <a:clrScheme name="VolStrat">
      <a:dk1>
        <a:srgbClr val="0B0B0B"/>
      </a:dk1>
      <a:lt1>
        <a:srgbClr val="FFFFFF"/>
      </a:lt1>
      <a:dk2>
        <a:srgbClr val="121A25"/>
      </a:dk2>
      <a:lt2>
        <a:srgbClr val="FCFCFB"/>
      </a:lt2>
      <a:accent1>
        <a:srgbClr val="2A78D6"/>
      </a:accent1>
      <a:accent2>
        <a:srgbClr val="EB6834"/>
      </a:accent2>
      <a:accent3>
        <a:srgbClr val="1BAF7A"/>
      </a:accent3>
      <a:accent4>
        <a:srgbClr val="EDA100"/>
      </a:accent4>
      <a:accent5>
        <a:srgbClr val="D03B3B"/>
      </a:accent5>
      <a:accent6>
        <a:srgbClr val="898781"/>
      </a:accent6>
      <a:hlink>
        <a:srgbClr val="2A78D6"/>
      </a:hlink>
      <a:folHlink>
        <a:srgbClr val="6250D6"/>
      </a:folHlink>
    </a:clrScheme>
    <a:fontScheme name="VolStra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VolStrat: volatility-regime allocator</dc:title>
  <dc:subject>PptxGenJS Presentation</dc:subject>
  <dc:creator>Kevin</dc:creator>
  <cp:lastModifiedBy>Kevin</cp:lastModifiedBy>
  <cp:revision>1</cp:revision>
  <dcterms:created xsi:type="dcterms:W3CDTF">2026-10-23T08:05:44Z</dcterms:created>
  <dcterms:modified xsi:type="dcterms:W3CDTF">2026-10-23T08:05:44Z</dcterms:modified>
</cp:coreProperties>
</file>